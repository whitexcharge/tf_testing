
<file path=[Content_Types].xml><?xml version="1.0" encoding="utf-8"?>
<Types xmlns="http://schemas.openxmlformats.org/package/2006/content-types">
  <Default Extension="wmf" ContentType="image/x-wmf"/>
  <Default Extension="png" ContentType="image/pn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notesSlides/notesSlide16.xml" ContentType="application/vnd.openxmlformats-officedocument.presentationml.notesSlide+xml"/>
  <Override PartName="/ppt/slides/slide9.xml" ContentType="application/vnd.openxmlformats-officedocument.presentationml.slide+xml"/>
  <Override PartName="/ppt/slides/slide13.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docProps/app.xml" ContentType="application/vnd.openxmlformats-officedocument.extended-properties+xml"/>
  <Override PartName="/ppt/slides/slide8.xml" ContentType="application/vnd.openxmlformats-officedocument.presentationml.slide+xml"/>
  <Override PartName="/docProps/core.xml" ContentType="application/vnd.openxmlformats-package.core-properties+xml"/>
  <Override PartName="/ppt/slides/slide4.xml" ContentType="application/vnd.openxmlformats-officedocument.presentationml.slide+xml"/>
  <Override PartName="/ppt/viewProps.xml" ContentType="application/vnd.openxmlformats-officedocument.presentationml.viewProps+xml"/>
  <Override PartName="/ppt/notesSlides/notesSlide8.xml" ContentType="application/vnd.openxmlformats-officedocument.presentationml.notesSlide+xml"/>
  <Override PartName="/ppt/presProps.xml" ContentType="application/vnd.openxmlformats-officedocument.presentationml.presProps+xml"/>
  <Override PartName="/ppt/slides/slide7.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slides/slide5.xml" ContentType="application/vnd.openxmlformats-officedocument.presentationml.slide+xml"/>
  <Override PartName="/ppt/tableStyles.xml" ContentType="application/vnd.openxmlformats-officedocument.presentationml.tableStyles+xml"/>
  <Override PartName="/ppt/presentation.xml" ContentType="application/vnd.openxmlformats-officedocument.presentationml.presentation.main+xml"/>
  <Override PartName="/ppt/theme/theme1.xml" ContentType="application/vnd.openxmlformats-officedocument.theme+xml"/>
  <Override PartName="/docProps/custom.xml" ContentType="application/vnd.openxmlformats-officedocument.custom-properties+xml"/>
  <Override PartName="/customXml/itemProps3.xml" ContentType="application/vnd.openxmlformats-officedocument.customXmlProperties+xml"/>
  <Override PartName="/ppt/notesMasters/notesMaster1.xml" ContentType="application/vnd.openxmlformats-officedocument.presentationml.notesMaster+xml"/>
  <Override PartName="/ppt/theme/theme2.xml" ContentType="application/vnd.openxmlformats-officedocument.theme+xml"/>
  <Override PartName="/customXml/itemProps2.xml" ContentType="application/vnd.openxmlformats-officedocument.customXmlProperties+xml"/>
  <Override PartName="/ppt/notesSlides/notesSlide15.xml" ContentType="application/vnd.openxmlformats-officedocument.presentationml.notesSlide+xml"/>
  <Override PartName="/ppt/notesSlides/notesSlide7.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customXml/itemProps1.xml" ContentType="application/vnd.openxmlformats-officedocument.customXml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7099300" cy="10234613"/>
  <p:defaultTextStyle>
    <a:defPPr>
      <a:defRPr lang="ja-JP"/>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a:tblStyle styleId="{073A0DAA-6AF3-43AB-8588-CEC1D06C72B9}" styleName="スタイル (中間) 2">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fill>
          <a:solidFill>
            <a:schemeClr val="dk1">
              <a:tint val="40000"/>
            </a:schemeClr>
          </a:solidFill>
        </a:fill>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a:solidFill>
                <a:schemeClr val="lt1"/>
              </a:solidFill>
            </a:ln>
          </a:top>
        </a:tcBdr>
        <a:fill>
          <a:solidFill>
            <a:schemeClr val="dk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dk1"/>
          </a:solidFill>
        </a:fill>
      </a:tcStyle>
    </a:firstRow>
    <a:neCell>
      <a:tcStyle>
        <a:tcBdr/>
      </a:tcStyle>
    </a:neCell>
    <a:nwCell>
      <a:tcStyle>
        <a:tcBdr/>
      </a:tcStyle>
    </a:nwCell>
  </a:tblStyle>
  <a:tblStyle styleId="{2D5ABB26-0587-4C30-8999-92F81FD0307C}" styleName="スタイルなし、表のグリッド線なし">
    <a:wholeTbl>
      <a:tcTxStyle>
        <a:fontRef idx="minor">
          <a:srgbClr val="000000"/>
        </a:fontRef>
        <a:schemeClr val="tx1"/>
      </a:tcTxStyle>
      <a:tcStyle>
        <a:tcBdr>
          <a:left>
            <a:ln w="12700">
              <a:noFill/>
            </a:ln>
          </a:left>
          <a:right>
            <a:ln w="12700">
              <a:noFill/>
            </a:ln>
          </a:right>
          <a:top>
            <a:ln w="12700">
              <a:noFill/>
            </a:ln>
          </a:top>
          <a:bottom>
            <a:ln w="12700">
              <a:noFill/>
            </a:ln>
          </a:bottom>
          <a:insideH>
            <a:ln w="12700">
              <a:noFill/>
            </a:ln>
          </a:insideH>
          <a:insideV>
            <a:ln w="12700">
              <a:noFill/>
            </a:ln>
          </a:insideV>
        </a:tcBdr>
        <a:fill>
          <a:no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5C22544A-7EE6-4342-B048-85BDC9FD1C3A}" styleName="中間スタイル 2 - アクセント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50" d="100"/>
          <a:sy n="150" d="100"/>
        </p:scale>
        <p:origin x="108" y="6"/>
      </p:cViewPr>
      <p:guideLst>
        <p:guide pos="5133"/>
        <p:guide pos="4838"/>
        <p:guide pos="325"/>
        <p:guide pos="4269" orient="horz"/>
        <p:guide pos="2228" orient="horz"/>
        <p:guide pos="4135"/>
        <p:guide pos="3976"/>
        <p:guide pos="3522"/>
        <p:guide pos="7333"/>
        <p:guide pos="2569" orient="horz"/>
        <p:guide pos="529"/>
        <p:guide pos="4020" orient="horz"/>
        <p:guide pos="1480" orient="horz"/>
        <p:guide pos="960"/>
        <p:guide pos="2176"/>
        <p:guide pos="2999" orient="horz"/>
        <p:guide pos="672"/>
        <p:guide pos="3600" orient="horz"/>
        <p:guide pos="436"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42685121" name="ヘッダー プレースホルダー 1"/>
          <p:cNvSpPr>
            <a:spLocks noGrp="1"/>
          </p:cNvSpPr>
          <p:nvPr>
            <p:ph type="hdr" sz="quarter"/>
          </p:nvPr>
        </p:nvSpPr>
        <p:spPr bwMode="auto">
          <a:xfrm>
            <a:off x="0" y="2"/>
            <a:ext cx="3076364" cy="513508"/>
          </a:xfrm>
          <a:prstGeom prst="rect">
            <a:avLst/>
          </a:prstGeom>
        </p:spPr>
        <p:txBody>
          <a:bodyPr vert="horz" lIns="94632" tIns="47316" rIns="94632" bIns="47316" rtlCol="0"/>
          <a:lstStyle>
            <a:lvl1pPr algn="l">
              <a:defRPr sz="1200"/>
            </a:lvl1pPr>
          </a:lstStyle>
          <a:p>
            <a:pPr>
              <a:defRPr/>
            </a:pPr>
            <a:endParaRPr lang="ja-JP"/>
          </a:p>
        </p:txBody>
      </p:sp>
      <p:sp>
        <p:nvSpPr>
          <p:cNvPr id="637511159" name="日付プレースホルダー 2"/>
          <p:cNvSpPr>
            <a:spLocks noGrp="1"/>
          </p:cNvSpPr>
          <p:nvPr>
            <p:ph type="dt" idx="1"/>
          </p:nvPr>
        </p:nvSpPr>
        <p:spPr bwMode="auto">
          <a:xfrm>
            <a:off x="4021294" y="2"/>
            <a:ext cx="3076364" cy="513508"/>
          </a:xfrm>
          <a:prstGeom prst="rect">
            <a:avLst/>
          </a:prstGeom>
        </p:spPr>
        <p:txBody>
          <a:bodyPr vert="horz" lIns="94632" tIns="47316" rIns="94632" bIns="47316" rtlCol="0"/>
          <a:lstStyle>
            <a:lvl1pPr algn="r">
              <a:defRPr sz="1200"/>
            </a:lvl1pPr>
          </a:lstStyle>
          <a:p>
            <a:pPr>
              <a:defRPr/>
            </a:pPr>
            <a:fld id="{784DA09B-D9C8-4FC9-896F-602D39AB0AF8}" type="datetimeFigureOut">
              <a:rPr lang="ja-JP"/>
              <a:t>2026/3/26</a:t>
            </a:fld>
            <a:endParaRPr lang="ja-JP"/>
          </a:p>
        </p:txBody>
      </p:sp>
      <p:sp>
        <p:nvSpPr>
          <p:cNvPr id="1734271591" name="スライド イメージ プレースホルダー 3"/>
          <p:cNvSpPr>
            <a:spLocks noChangeAspect="1" noGrp="1" noRot="1"/>
          </p:cNvSpPr>
          <p:nvPr>
            <p:ph type="sldImg" idx="2"/>
          </p:nvPr>
        </p:nvSpPr>
        <p:spPr bwMode="auto">
          <a:xfrm>
            <a:off x="479425" y="1279525"/>
            <a:ext cx="6140450" cy="3454399"/>
          </a:xfrm>
          <a:prstGeom prst="rect">
            <a:avLst/>
          </a:prstGeom>
          <a:noFill/>
          <a:ln w="12700">
            <a:solidFill>
              <a:prstClr val="black"/>
            </a:solidFill>
          </a:ln>
        </p:spPr>
        <p:txBody>
          <a:bodyPr vert="horz" lIns="94632" tIns="47316" rIns="94632" bIns="47316" rtlCol="0" anchor="ctr"/>
          <a:lstStyle/>
          <a:p>
            <a:pPr>
              <a:defRPr/>
            </a:pPr>
            <a:endParaRPr lang="ja-JP"/>
          </a:p>
        </p:txBody>
      </p:sp>
      <p:sp>
        <p:nvSpPr>
          <p:cNvPr id="1671926705" name="ノート プレースホルダー 4"/>
          <p:cNvSpPr>
            <a:spLocks noGrp="1"/>
          </p:cNvSpPr>
          <p:nvPr>
            <p:ph type="body" sz="quarter" idx="3"/>
          </p:nvPr>
        </p:nvSpPr>
        <p:spPr bwMode="auto">
          <a:xfrm>
            <a:off x="709930" y="4925409"/>
            <a:ext cx="5679440" cy="4029879"/>
          </a:xfrm>
          <a:prstGeom prst="rect">
            <a:avLst/>
          </a:prstGeom>
        </p:spPr>
        <p:txBody>
          <a:bodyPr vert="horz" lIns="94632" tIns="47316" rIns="94632" bIns="47316" rtlCol="0"/>
          <a:lstStyle/>
          <a:p>
            <a:pPr lvl="0">
              <a:defRPr/>
            </a:pPr>
            <a:r>
              <a:rPr lang="ja-JP"/>
              <a:t>マスター テキストの書式設定</a:t>
            </a:r>
            <a:endParaRPr/>
          </a:p>
          <a:p>
            <a:pPr lvl="1">
              <a:defRPr/>
            </a:pPr>
            <a:r>
              <a:rPr lang="ja-JP"/>
              <a:t>第 </a:t>
            </a:r>
            <a:r>
              <a:rPr lang="en-US"/>
              <a:t>2 </a:t>
            </a:r>
            <a:r>
              <a:rPr lang="ja-JP"/>
              <a:t>レベル</a:t>
            </a:r>
            <a:endParaRPr/>
          </a:p>
          <a:p>
            <a:pPr lvl="2">
              <a:defRPr/>
            </a:pPr>
            <a:r>
              <a:rPr lang="ja-JP"/>
              <a:t>第 </a:t>
            </a:r>
            <a:r>
              <a:rPr lang="en-US"/>
              <a:t>3 </a:t>
            </a:r>
            <a:r>
              <a:rPr lang="ja-JP"/>
              <a:t>レベル</a:t>
            </a:r>
            <a:endParaRPr/>
          </a:p>
          <a:p>
            <a:pPr lvl="3">
              <a:defRPr/>
            </a:pPr>
            <a:r>
              <a:rPr lang="ja-JP"/>
              <a:t>第 </a:t>
            </a:r>
            <a:r>
              <a:rPr lang="en-US"/>
              <a:t>4 </a:t>
            </a:r>
            <a:r>
              <a:rPr lang="ja-JP"/>
              <a:t>レベル</a:t>
            </a:r>
            <a:endParaRPr/>
          </a:p>
          <a:p>
            <a:pPr lvl="4">
              <a:defRPr/>
            </a:pPr>
            <a:r>
              <a:rPr lang="ja-JP"/>
              <a:t>第 </a:t>
            </a:r>
            <a:r>
              <a:rPr lang="en-US"/>
              <a:t>5 </a:t>
            </a:r>
            <a:r>
              <a:rPr lang="ja-JP"/>
              <a:t>レベル</a:t>
            </a:r>
            <a:endParaRPr/>
          </a:p>
        </p:txBody>
      </p:sp>
      <p:sp>
        <p:nvSpPr>
          <p:cNvPr id="1202200476" name="フッター プレースホルダー 5"/>
          <p:cNvSpPr>
            <a:spLocks noGrp="1"/>
          </p:cNvSpPr>
          <p:nvPr>
            <p:ph type="ftr" sz="quarter" idx="4"/>
          </p:nvPr>
        </p:nvSpPr>
        <p:spPr bwMode="auto">
          <a:xfrm>
            <a:off x="0" y="9721107"/>
            <a:ext cx="3076364" cy="513507"/>
          </a:xfrm>
          <a:prstGeom prst="rect">
            <a:avLst/>
          </a:prstGeom>
        </p:spPr>
        <p:txBody>
          <a:bodyPr vert="horz" lIns="94632" tIns="47316" rIns="94632" bIns="47316" rtlCol="0" anchor="b"/>
          <a:lstStyle>
            <a:lvl1pPr algn="l">
              <a:defRPr sz="1200"/>
            </a:lvl1pPr>
          </a:lstStyle>
          <a:p>
            <a:pPr>
              <a:defRPr/>
            </a:pPr>
            <a:endParaRPr lang="ja-JP"/>
          </a:p>
        </p:txBody>
      </p:sp>
      <p:sp>
        <p:nvSpPr>
          <p:cNvPr id="333109411" name="スライド番号プレースホルダー 6"/>
          <p:cNvSpPr>
            <a:spLocks noGrp="1"/>
          </p:cNvSpPr>
          <p:nvPr>
            <p:ph type="sldNum" sz="quarter" idx="5"/>
          </p:nvPr>
        </p:nvSpPr>
        <p:spPr bwMode="auto">
          <a:xfrm>
            <a:off x="4021294" y="9721107"/>
            <a:ext cx="3076364" cy="513507"/>
          </a:xfrm>
          <a:prstGeom prst="rect">
            <a:avLst/>
          </a:prstGeom>
        </p:spPr>
        <p:txBody>
          <a:bodyPr vert="horz" lIns="94632" tIns="47316" rIns="94632" bIns="47316" rtlCol="0" anchor="b"/>
          <a:lstStyle>
            <a:lvl1pPr algn="r">
              <a:defRPr sz="1200"/>
            </a:lvl1pPr>
          </a:lstStyle>
          <a:p>
            <a:pPr>
              <a:defRPr/>
            </a:pPr>
            <a:fld id="{C6D30A44-6A0C-436C-8B5C-9527BD7375D2}" type="slidenum">
              <a:rPr lang="ja-JP"/>
              <a:t>‹#›</a:t>
            </a:fld>
            <a:endParaRPr lang="ja-JP"/>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BA11FF8-72A5-3923-4FA8-051434F90169}" type="slidenum">
              <a:rPr/>
              <a:t/>
            </a:fld>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26E2FF2-6130-0C1B-54C9-BCCE7F196A37}"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DD53892-19D1-81FF-762E-CFB0B5CE848A}"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A3AC1D1-7258-23B3-6234-10BF3AA954CF}"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8BD75B6-B491-589B-997C-84ADB8D98B73}"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36A1786-CBE2-1CFC-970C-CD083D27CA35}"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C636D55-B8B5-7C71-00D1-7E7FB4E5808C}"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B53535F-0973-C863-0F53-E8505C61F6B3}"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492B600-CE93-E131-A0EE-8AD2A19A1507}"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4031B2E-F3D6-97B8-BEE3-340DF5CADB5C}"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BD84F9E-0C0A-8D2F-E220-4D1D71BEE2A6}"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2439354" name="Slide Image Placeholder 1"/>
          <p:cNvSpPr>
            <a:spLocks noChangeAspect="1" noGrp="1" noRot="1"/>
          </p:cNvSpPr>
          <p:nvPr>
            <p:ph type="sldImg"/>
          </p:nvPr>
        </p:nvSpPr>
        <p:spPr bwMode="auto"/>
      </p:sp>
      <p:sp>
        <p:nvSpPr>
          <p:cNvPr id="921463984" name="Notes Placeholder 2"/>
          <p:cNvSpPr>
            <a:spLocks noGrp="1"/>
          </p:cNvSpPr>
          <p:nvPr>
            <p:ph type="body" idx="1"/>
          </p:nvPr>
        </p:nvSpPr>
        <p:spPr bwMode="auto"/>
        <p:txBody>
          <a:bodyPr/>
          <a:lstStyle/>
          <a:p>
            <a:pPr>
              <a:defRPr/>
            </a:pPr>
            <a:endParaRPr/>
          </a:p>
        </p:txBody>
      </p:sp>
      <p:sp>
        <p:nvSpPr>
          <p:cNvPr id="2087868567" name="Slide Number Placeholder 3"/>
          <p:cNvSpPr>
            <a:spLocks noGrp="1"/>
          </p:cNvSpPr>
          <p:nvPr>
            <p:ph type="sldNum" sz="quarter" idx="10"/>
          </p:nvPr>
        </p:nvSpPr>
        <p:spPr bwMode="auto"/>
        <p:txBody>
          <a:bodyPr/>
          <a:lstStyle/>
          <a:p>
            <a:pPr>
              <a:defRPr/>
            </a:pPr>
            <a:fld id="{892F378C-28CF-AFAD-123B-B62F359E4DAC}"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221484" name="Slide Image Placeholder 1"/>
          <p:cNvSpPr>
            <a:spLocks noChangeAspect="1" noGrp="1" noRot="1"/>
          </p:cNvSpPr>
          <p:nvPr>
            <p:ph type="sldImg"/>
          </p:nvPr>
        </p:nvSpPr>
        <p:spPr bwMode="auto"/>
      </p:sp>
      <p:sp>
        <p:nvSpPr>
          <p:cNvPr id="110027453" name="Notes Placeholder 2"/>
          <p:cNvSpPr>
            <a:spLocks noGrp="1"/>
          </p:cNvSpPr>
          <p:nvPr>
            <p:ph type="body" idx="1"/>
          </p:nvPr>
        </p:nvSpPr>
        <p:spPr bwMode="auto"/>
        <p:txBody>
          <a:bodyPr/>
          <a:lstStyle/>
          <a:p>
            <a:pPr>
              <a:defRPr/>
            </a:pPr>
            <a:endParaRPr/>
          </a:p>
        </p:txBody>
      </p:sp>
      <p:sp>
        <p:nvSpPr>
          <p:cNvPr id="244561940" name="Slide Number Placeholder 3"/>
          <p:cNvSpPr>
            <a:spLocks noGrp="1"/>
          </p:cNvSpPr>
          <p:nvPr>
            <p:ph type="sldNum" sz="quarter" idx="10"/>
          </p:nvPr>
        </p:nvSpPr>
        <p:spPr bwMode="auto"/>
        <p:txBody>
          <a:bodyPr/>
          <a:lstStyle/>
          <a:p>
            <a:pPr>
              <a:defRPr/>
            </a:pPr>
            <a:fld id="{0EB7CEFE-10B9-6004-543A-41A71F93AE25}"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5943666" name="Slide Image Placeholder 1"/>
          <p:cNvSpPr>
            <a:spLocks noChangeAspect="1" noGrp="1" noRot="1"/>
          </p:cNvSpPr>
          <p:nvPr>
            <p:ph type="sldImg"/>
          </p:nvPr>
        </p:nvSpPr>
        <p:spPr bwMode="auto"/>
      </p:sp>
      <p:sp>
        <p:nvSpPr>
          <p:cNvPr id="360737030" name="Notes Placeholder 2"/>
          <p:cNvSpPr>
            <a:spLocks noGrp="1"/>
          </p:cNvSpPr>
          <p:nvPr>
            <p:ph type="body" idx="1"/>
          </p:nvPr>
        </p:nvSpPr>
        <p:spPr bwMode="auto"/>
        <p:txBody>
          <a:bodyPr/>
          <a:lstStyle/>
          <a:p>
            <a:pPr>
              <a:defRPr/>
            </a:pPr>
            <a:endParaRPr/>
          </a:p>
        </p:txBody>
      </p:sp>
      <p:sp>
        <p:nvSpPr>
          <p:cNvPr id="354550110" name="Slide Number Placeholder 3"/>
          <p:cNvSpPr>
            <a:spLocks noGrp="1"/>
          </p:cNvSpPr>
          <p:nvPr>
            <p:ph type="sldNum" sz="quarter" idx="10"/>
          </p:nvPr>
        </p:nvSpPr>
        <p:spPr bwMode="auto"/>
        <p:txBody>
          <a:bodyPr/>
          <a:lstStyle/>
          <a:p>
            <a:pPr>
              <a:defRPr/>
            </a:pPr>
            <a:fld id="{9BEA9F9F-306E-CEA5-E768-D1ECFAB3D288}"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0801780" name="Slide Image Placeholder 1"/>
          <p:cNvSpPr>
            <a:spLocks noChangeAspect="1" noGrp="1" noRot="1"/>
          </p:cNvSpPr>
          <p:nvPr>
            <p:ph type="sldImg"/>
          </p:nvPr>
        </p:nvSpPr>
        <p:spPr bwMode="auto"/>
      </p:sp>
      <p:sp>
        <p:nvSpPr>
          <p:cNvPr id="1381732067" name="Notes Placeholder 2"/>
          <p:cNvSpPr>
            <a:spLocks noGrp="1"/>
          </p:cNvSpPr>
          <p:nvPr>
            <p:ph type="body" idx="1"/>
          </p:nvPr>
        </p:nvSpPr>
        <p:spPr bwMode="auto"/>
        <p:txBody>
          <a:bodyPr/>
          <a:lstStyle/>
          <a:p>
            <a:pPr>
              <a:defRPr/>
            </a:pPr>
            <a:endParaRPr/>
          </a:p>
        </p:txBody>
      </p:sp>
      <p:sp>
        <p:nvSpPr>
          <p:cNvPr id="1056835247" name="Slide Number Placeholder 3"/>
          <p:cNvSpPr>
            <a:spLocks noGrp="1"/>
          </p:cNvSpPr>
          <p:nvPr>
            <p:ph type="sldNum" sz="quarter" idx="10"/>
          </p:nvPr>
        </p:nvSpPr>
        <p:spPr bwMode="auto"/>
        <p:txBody>
          <a:bodyPr/>
          <a:lstStyle/>
          <a:p>
            <a:pPr>
              <a:defRPr/>
            </a:pPr>
            <a:fld id="{5D85BF6F-59C8-B6CA-3BFA-BA3704AE29D7}"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160351" name="Slide Image Placeholder 1"/>
          <p:cNvSpPr>
            <a:spLocks noChangeAspect="1" noGrp="1" noRot="1"/>
          </p:cNvSpPr>
          <p:nvPr>
            <p:ph type="sldImg"/>
          </p:nvPr>
        </p:nvSpPr>
        <p:spPr bwMode="auto"/>
      </p:sp>
      <p:sp>
        <p:nvSpPr>
          <p:cNvPr id="1403608138" name="Notes Placeholder 2"/>
          <p:cNvSpPr>
            <a:spLocks noGrp="1"/>
          </p:cNvSpPr>
          <p:nvPr>
            <p:ph type="body" idx="1"/>
          </p:nvPr>
        </p:nvSpPr>
        <p:spPr bwMode="auto"/>
        <p:txBody>
          <a:bodyPr/>
          <a:lstStyle/>
          <a:p>
            <a:pPr>
              <a:defRPr/>
            </a:pPr>
            <a:endParaRPr/>
          </a:p>
        </p:txBody>
      </p:sp>
      <p:sp>
        <p:nvSpPr>
          <p:cNvPr id="1410779216" name="Slide Number Placeholder 3"/>
          <p:cNvSpPr>
            <a:spLocks noGrp="1"/>
          </p:cNvSpPr>
          <p:nvPr>
            <p:ph type="sldNum" sz="quarter" idx="10"/>
          </p:nvPr>
        </p:nvSpPr>
        <p:spPr bwMode="auto"/>
        <p:txBody>
          <a:bodyPr/>
          <a:lstStyle/>
          <a:p>
            <a:pPr>
              <a:defRPr/>
            </a:pPr>
            <a:fld id="{57AD6585-19C1-D5BA-1CF5-D47F517594A7}"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wmf"/></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ver_White ver">
    <p:spTree>
      <p:nvGrpSpPr>
        <p:cNvPr id="1" name=""/>
        <p:cNvGrpSpPr/>
        <p:nvPr/>
      </p:nvGrpSpPr>
      <p:grpSpPr bwMode="auto">
        <a:xfrm>
          <a:off x="0" y="0"/>
          <a:ext cx="0" cy="0"/>
          <a:chOff x="0" y="0"/>
          <a:chExt cx="0" cy="0"/>
        </a:xfrm>
      </p:grpSpPr>
      <p:sp>
        <p:nvSpPr>
          <p:cNvPr id="715112763" name="正方形/長方形 5"/>
          <p:cNvSpPr/>
          <p:nvPr userDrawn="1"/>
        </p:nvSpPr>
        <p:spPr bwMode="auto">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ja-JP"/>
          </a:p>
        </p:txBody>
      </p:sp>
      <p:pic>
        <p:nvPicPr>
          <p:cNvPr id="935130088" name="図 4"/>
          <p:cNvPicPr>
            <a:picLocks noChangeAspect="1"/>
          </p:cNvPicPr>
          <p:nvPr userDrawn="1"/>
        </p:nvPicPr>
        <p:blipFill>
          <a:blip r:embed="rId2"/>
          <a:stretch/>
        </p:blipFill>
        <p:spPr bwMode="auto">
          <a:xfrm>
            <a:off x="838200" y="2467674"/>
            <a:ext cx="11397253" cy="1698858"/>
          </a:xfrm>
          <a:prstGeom prst="rect">
            <a:avLst/>
          </a:prstGeom>
        </p:spPr>
      </p:pic>
      <p:sp>
        <p:nvSpPr>
          <p:cNvPr id="539510330" name="字幕 2"/>
          <p:cNvSpPr>
            <a:spLocks noGrp="1"/>
          </p:cNvSpPr>
          <p:nvPr>
            <p:ph type="subTitle" idx="1"/>
          </p:nvPr>
        </p:nvSpPr>
        <p:spPr bwMode="auto">
          <a:xfrm>
            <a:off x="765974" y="3100429"/>
            <a:ext cx="7200000" cy="433349"/>
          </a:xfrm>
        </p:spPr>
        <p:txBody>
          <a:bodyPr vert="horz" lIns="91440" tIns="45720" rIns="91440" bIns="45720" rtlCol="0">
            <a:noAutofit/>
          </a:bodyPr>
          <a:lstStyle>
            <a:lvl1pPr>
              <a:defRPr lang="ja-JP" sz="2400">
                <a:solidFill>
                  <a:schemeClr val="bg2">
                    <a:lumMod val="25000"/>
                  </a:schemeClr>
                </a:solidFill>
                <a:latin typeface="Avenir Next LT Pro Demi"/>
                <a:ea typeface="ヒラギノ角ゴ ProN W6"/>
              </a:defRPr>
            </a:lvl1pPr>
          </a:lstStyle>
          <a:p>
            <a:pPr marL="0" lvl="0" indent="0">
              <a:spcAft>
                <a:spcPts val="0"/>
              </a:spcAft>
              <a:buNone/>
              <a:defRPr/>
            </a:pPr>
            <a:r>
              <a:rPr lang="ja-JP"/>
              <a:t>マスター サブタイトルの書式設定</a:t>
            </a:r>
            <a:endParaRPr/>
          </a:p>
        </p:txBody>
      </p:sp>
      <p:sp>
        <p:nvSpPr>
          <p:cNvPr id="512368428" name="タイトル 1"/>
          <p:cNvSpPr>
            <a:spLocks noGrp="1"/>
          </p:cNvSpPr>
          <p:nvPr>
            <p:ph type="ctrTitle"/>
          </p:nvPr>
        </p:nvSpPr>
        <p:spPr bwMode="auto">
          <a:xfrm>
            <a:off x="765974" y="1928542"/>
            <a:ext cx="7200000" cy="1055957"/>
          </a:xfrm>
          <a:prstGeom prst="rect">
            <a:avLst/>
          </a:prstGeom>
          <a:noFill/>
        </p:spPr>
        <p:txBody>
          <a:bodyPr vert="horz" wrap="square" lIns="91440" tIns="45720" rIns="91440" bIns="45720" rtlCol="0" anchor="t">
            <a:noAutofit/>
          </a:bodyPr>
          <a:lstStyle>
            <a:lvl1pPr>
              <a:defRPr lang="ja-JP" sz="3200" b="1">
                <a:solidFill>
                  <a:schemeClr val="bg2">
                    <a:lumMod val="25000"/>
                  </a:schemeClr>
                </a:solidFill>
                <a:latin typeface="Avenir Next LT Pro Demi"/>
                <a:ea typeface="ヒラギノ角ゴ ProN W6"/>
                <a:cs typeface="+mn-cs"/>
              </a:defRPr>
            </a:lvl1pPr>
          </a:lstStyle>
          <a:p>
            <a:pPr lvl="0">
              <a:spcBef>
                <a:spcPts val="0"/>
              </a:spcBef>
              <a:spcAft>
                <a:spcPts val="500"/>
              </a:spcAft>
              <a:defRPr/>
            </a:pPr>
            <a:r>
              <a:rPr lang="ja-JP"/>
              <a:t>マスター タイトルの書式設定</a:t>
            </a:r>
            <a:endParaRPr/>
          </a:p>
        </p:txBody>
      </p:sp>
      <p:pic>
        <p:nvPicPr>
          <p:cNvPr id="1664481188" name="図 9"/>
          <p:cNvPicPr>
            <a:picLocks noChangeAspect="1"/>
          </p:cNvPicPr>
          <p:nvPr userDrawn="1"/>
        </p:nvPicPr>
        <p:blipFill>
          <a:blip r:embed="rId3"/>
          <a:stretch/>
        </p:blipFill>
        <p:spPr bwMode="auto">
          <a:xfrm>
            <a:off x="560089" y="327060"/>
            <a:ext cx="3080291" cy="877626"/>
          </a:xfrm>
          <a:prstGeom prst="rect">
            <a:avLst/>
          </a:prstGeom>
        </p:spPr>
      </p:pic>
      <p:sp>
        <p:nvSpPr>
          <p:cNvPr id="93394853" name="テキスト ボックス 3"/>
          <p:cNvSpPr txBox="1"/>
          <p:nvPr userDrawn="1"/>
        </p:nvSpPr>
        <p:spPr bwMode="auto">
          <a:xfrm>
            <a:off x="7386067" y="3264476"/>
            <a:ext cx="4373017" cy="369332"/>
          </a:xfrm>
          <a:prstGeom prst="rect">
            <a:avLst/>
          </a:prstGeom>
          <a:noFill/>
          <a:ln>
            <a:noFill/>
          </a:ln>
        </p:spPr>
        <p:txBody>
          <a:bodyPr wrap="square" rtlCol="0">
            <a:spAutoFit/>
          </a:bodyPr>
          <a:lstStyle/>
          <a:p>
            <a:pPr marL="0" marR="0" lvl="0" indent="0" algn="r" defTabSz="914400">
              <a:lnSpc>
                <a:spcPct val="100000"/>
              </a:lnSpc>
              <a:spcBef>
                <a:spcPts val="0"/>
              </a:spcBef>
              <a:spcAft>
                <a:spcPts val="0"/>
              </a:spcAft>
              <a:buClrTx/>
              <a:buSzTx/>
              <a:buFontTx/>
              <a:buNone/>
              <a:defRPr/>
            </a:pPr>
            <a:r>
              <a:rPr lang="en-US" b="0" i="0" u="none" strike="noStrike" cap="none" spc="20">
                <a:ln>
                  <a:noFill/>
                </a:ln>
                <a:solidFill>
                  <a:srgbClr val="666666"/>
                </a:solidFill>
                <a:latin typeface="Avenir Next LT Pro"/>
                <a:ea typeface="ヒラギノUD角ゴF StdN W3"/>
              </a:rPr>
              <a:t>Innovation for a Sustainable World</a:t>
            </a:r>
            <a:endParaRPr lang="ja-JP" b="0" i="0" u="none" strike="noStrike" cap="none" spc="20">
              <a:ln>
                <a:noFill/>
              </a:ln>
              <a:solidFill>
                <a:srgbClr val="666666"/>
              </a:solidFill>
              <a:latin typeface="Avenir Next LT Pro"/>
              <a:ea typeface="ヒラギノUD角ゴF StdN W3"/>
            </a:endParaRPr>
          </a:p>
        </p:txBody>
      </p:sp>
      <p:sp>
        <p:nvSpPr>
          <p:cNvPr id="1060626737" name="テキスト プレースホルダー 4"/>
          <p:cNvSpPr txBox="1"/>
          <p:nvPr userDrawn="1"/>
        </p:nvSpPr>
        <p:spPr bwMode="auto">
          <a:xfrm>
            <a:off x="8622112" y="338027"/>
            <a:ext cx="3405488" cy="258532"/>
          </a:xfrm>
          <a:prstGeom prst="rect">
            <a:avLst/>
          </a:prstGeom>
        </p:spPr>
        <p:txBody>
          <a:bodyPr/>
          <a:lstStyle>
            <a:lvl1pPr marL="228600" indent="-228600" algn="l" defTabSz="914400">
              <a:lnSpc>
                <a:spcPct val="90000"/>
              </a:lnSpc>
              <a:spcBef>
                <a:spcPts val="1000"/>
              </a:spcBef>
              <a:buFont typeface="Arial"/>
              <a:buChar char="•"/>
              <a:defRPr sz="2800">
                <a:solidFill>
                  <a:schemeClr val="tx1">
                    <a:lumMod val="75000"/>
                    <a:lumOff val="25000"/>
                  </a:schemeClr>
                </a:solidFill>
                <a:latin typeface="Avenir Next LT Pro"/>
                <a:ea typeface="ヒラギノ角ゴ ProN W3"/>
                <a:cs typeface="+mn-cs"/>
              </a:defRPr>
            </a:lvl1pPr>
            <a:lvl2pPr marL="685800" indent="-228600" algn="l" defTabSz="914400">
              <a:lnSpc>
                <a:spcPct val="90000"/>
              </a:lnSpc>
              <a:spcBef>
                <a:spcPts val="500"/>
              </a:spcBef>
              <a:buFont typeface="Arial"/>
              <a:buChar char="•"/>
              <a:defRPr sz="2400">
                <a:solidFill>
                  <a:schemeClr val="tx1">
                    <a:lumMod val="75000"/>
                    <a:lumOff val="25000"/>
                  </a:schemeClr>
                </a:solidFill>
                <a:latin typeface="Avenir Next LT Pro"/>
                <a:ea typeface="ヒラギノ角ゴ ProN W3"/>
                <a:cs typeface="+mn-cs"/>
              </a:defRPr>
            </a:lvl2pPr>
            <a:lvl3pPr marL="1143000" indent="-228600" algn="l" defTabSz="914400">
              <a:lnSpc>
                <a:spcPct val="90000"/>
              </a:lnSpc>
              <a:spcBef>
                <a:spcPts val="500"/>
              </a:spcBef>
              <a:buFont typeface="Arial"/>
              <a:buChar char="•"/>
              <a:defRPr sz="2000">
                <a:solidFill>
                  <a:schemeClr val="tx1">
                    <a:lumMod val="75000"/>
                    <a:lumOff val="25000"/>
                  </a:schemeClr>
                </a:solidFill>
                <a:latin typeface="Avenir Next LT Pro"/>
                <a:ea typeface="ヒラギノ角ゴ ProN W3"/>
                <a:cs typeface="+mn-cs"/>
              </a:defRPr>
            </a:lvl3pPr>
            <a:lvl4pPr marL="1600200" indent="-228600" algn="l" defTabSz="914400">
              <a:lnSpc>
                <a:spcPct val="90000"/>
              </a:lnSpc>
              <a:spcBef>
                <a:spcPts val="500"/>
              </a:spcBef>
              <a:buFont typeface="Arial"/>
              <a:buChar char="•"/>
              <a:defRPr sz="1800">
                <a:solidFill>
                  <a:schemeClr val="tx1">
                    <a:lumMod val="75000"/>
                    <a:lumOff val="25000"/>
                  </a:schemeClr>
                </a:solidFill>
                <a:latin typeface="Avenir Next LT Pro"/>
                <a:ea typeface="ヒラギノ角ゴ ProN W3"/>
                <a:cs typeface="+mn-cs"/>
              </a:defRPr>
            </a:lvl4pPr>
            <a:lvl5pPr marL="2057400" indent="-228600" algn="l" defTabSz="914400">
              <a:lnSpc>
                <a:spcPct val="90000"/>
              </a:lnSpc>
              <a:spcBef>
                <a:spcPts val="500"/>
              </a:spcBef>
              <a:buFont typeface="Arial"/>
              <a:buChar char="•"/>
              <a:defRPr sz="1800">
                <a:solidFill>
                  <a:schemeClr val="tx1">
                    <a:lumMod val="75000"/>
                    <a:lumOff val="25000"/>
                  </a:schemeClr>
                </a:solidFill>
                <a:latin typeface="Avenir Next LT Pro"/>
                <a:ea typeface="ヒラギノ角ゴ ProN W3"/>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marL="0" indent="0" algn="r">
              <a:buFont typeface="Arial"/>
              <a:buNone/>
              <a:defRPr/>
            </a:pPr>
            <a:r>
              <a:rPr lang="en-US" sz="1200">
                <a:solidFill>
                  <a:srgbClr val="C00000"/>
                </a:solidFill>
              </a:rPr>
              <a:t>CONFIDENTIAL: </a:t>
            </a:r>
            <a:r>
              <a:rPr lang="ja-JP" sz="1200">
                <a:solidFill>
                  <a:srgbClr val="C00000"/>
                </a:solidFill>
                <a:latin typeface="ヒラギノ角ゴ ProN W3"/>
              </a:rPr>
              <a:t>社外秘</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Agenda">
    <p:spTree>
      <p:nvGrpSpPr>
        <p:cNvPr id="1" name=""/>
        <p:cNvGrpSpPr/>
        <p:nvPr/>
      </p:nvGrpSpPr>
      <p:grpSpPr bwMode="auto">
        <a:xfrm>
          <a:off x="0" y="0"/>
          <a:ext cx="0" cy="0"/>
          <a:chOff x="0" y="0"/>
          <a:chExt cx="0" cy="0"/>
        </a:xfrm>
      </p:grpSpPr>
      <p:sp>
        <p:nvSpPr>
          <p:cNvPr id="1474904771" name="コンテンツ プレースホルダー 2"/>
          <p:cNvSpPr>
            <a:spLocks noGrp="1"/>
          </p:cNvSpPr>
          <p:nvPr>
            <p:ph idx="13"/>
          </p:nvPr>
        </p:nvSpPr>
        <p:spPr bwMode="auto">
          <a:xfrm>
            <a:off x="3581400" y="2120900"/>
            <a:ext cx="7773988" cy="3390900"/>
          </a:xfrm>
        </p:spPr>
        <p:txBody>
          <a:bodyPr anchor="t" anchorCtr="0">
            <a:noAutofit/>
          </a:bodyPr>
          <a:lstStyle>
            <a:lvl1pPr>
              <a:defRPr>
                <a:latin typeface="Avenir Next LT Pro"/>
              </a:defRPr>
            </a:lvl1pPr>
          </a:lstStyle>
          <a:p>
            <a:pPr marL="0" indent="0" defTabSz="540000">
              <a:lnSpc>
                <a:spcPct val="100000"/>
              </a:lnSpc>
              <a:spcAft>
                <a:spcPts val="600"/>
              </a:spcAft>
              <a:buNone/>
              <a:defRPr/>
            </a:pPr>
            <a:endParaRPr lang="ja-JP" sz="1600">
              <a:latin typeface="ヒラギノ角ゴ ProN W6"/>
              <a:ea typeface="ヒラギノ角ゴ ProN W6"/>
            </a:endParaRPr>
          </a:p>
        </p:txBody>
      </p:sp>
      <p:sp>
        <p:nvSpPr>
          <p:cNvPr id="1588939469" name="タイトル 1"/>
          <p:cNvSpPr>
            <a:spLocks noGrp="1"/>
          </p:cNvSpPr>
          <p:nvPr>
            <p:ph type="title" hasCustomPrompt="1"/>
          </p:nvPr>
        </p:nvSpPr>
        <p:spPr bwMode="auto">
          <a:xfrm>
            <a:off x="839789" y="457200"/>
            <a:ext cx="2340734" cy="1600200"/>
          </a:xfrm>
        </p:spPr>
        <p:txBody>
          <a:bodyPr anchor="b">
            <a:normAutofit/>
          </a:bodyPr>
          <a:lstStyle>
            <a:lvl1pPr>
              <a:defRPr sz="2400">
                <a:solidFill>
                  <a:schemeClr val="tx1">
                    <a:lumMod val="75000"/>
                    <a:lumOff val="25000"/>
                  </a:schemeClr>
                </a:solidFill>
                <a:latin typeface="Avenir Next LT Pro Demi"/>
              </a:defRPr>
            </a:lvl1pPr>
          </a:lstStyle>
          <a:p>
            <a:pPr>
              <a:defRPr/>
            </a:pPr>
            <a:r>
              <a:rPr lang="en-US"/>
              <a:t>Agenda</a:t>
            </a:r>
            <a:endParaRPr lang="ja-JP"/>
          </a:p>
        </p:txBody>
      </p:sp>
      <p:cxnSp>
        <p:nvCxnSpPr>
          <p:cNvPr id="1079118589" name="直線コネクタ 10"/>
          <p:cNvCxnSpPr/>
          <p:nvPr userDrawn="1"/>
        </p:nvCxnSpPr>
        <p:spPr bwMode="auto">
          <a:xfrm>
            <a:off x="919328" y="2120900"/>
            <a:ext cx="720000" cy="0"/>
          </a:xfrm>
          <a:prstGeom prst="line">
            <a:avLst/>
          </a:prstGeom>
          <a:ln w="22225"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1060008" name="直線コネクタ 11"/>
          <p:cNvCxnSpPr/>
          <p:nvPr userDrawn="1"/>
        </p:nvCxnSpPr>
        <p:spPr bwMode="auto">
          <a:xfrm>
            <a:off x="11676063" y="6564754"/>
            <a:ext cx="0" cy="28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903287003" name="フッター プレースホルダー 3"/>
          <p:cNvSpPr>
            <a:spLocks noGrp="1"/>
          </p:cNvSpPr>
          <p:nvPr>
            <p:ph type="ftr" sz="quarter" idx="11"/>
          </p:nvPr>
        </p:nvSpPr>
        <p:spPr bwMode="auto">
          <a:xfrm>
            <a:off x="7488810" y="6570482"/>
            <a:ext cx="4114800" cy="272818"/>
          </a:xfrm>
          <a:prstGeom prst="rect">
            <a:avLst/>
          </a:prstGeom>
        </p:spPr>
        <p:txBody>
          <a:bodyPr vert="horz" lIns="91440" tIns="45720" rIns="91440" bIns="45720" rtlCol="0" anchor="ctr"/>
          <a:lstStyle>
            <a:lvl1pPr algn="r">
              <a:defRPr lang="ja-JP" sz="800">
                <a:solidFill>
                  <a:schemeClr val="bg2">
                    <a:lumMod val="50000"/>
                  </a:schemeClr>
                </a:solidFill>
                <a:latin typeface="ヒラギノ角ゴ ProN W3"/>
                <a:ea typeface="ヒラギノ角ゴ ProN W3"/>
              </a:defRPr>
            </a:lvl1pPr>
          </a:lstStyle>
          <a:p>
            <a:pPr>
              <a:defRPr/>
            </a:pPr>
            <a:endParaRPr lang="ja-JP"/>
          </a:p>
        </p:txBody>
      </p:sp>
      <p:sp>
        <p:nvSpPr>
          <p:cNvPr id="471504362" name="スライド番号プレースホルダー 4"/>
          <p:cNvSpPr>
            <a:spLocks noGrp="1"/>
          </p:cNvSpPr>
          <p:nvPr>
            <p:ph type="sldNum" sz="quarter" idx="12"/>
          </p:nvPr>
        </p:nvSpPr>
        <p:spPr bwMode="auto">
          <a:xfrm>
            <a:off x="11676061" y="6570482"/>
            <a:ext cx="515937" cy="272818"/>
          </a:xfrm>
        </p:spPr>
        <p:txBody>
          <a:bodyPr/>
          <a:lstStyle>
            <a:lvl1pPr algn="ctr">
              <a:defRPr/>
            </a:lvl1pPr>
          </a:lstStyle>
          <a:p>
            <a:pPr>
              <a:defRPr/>
            </a:pPr>
            <a:fld id="{9EE375CF-DE78-44C2-B104-2824F80826E0}" type="slidenum">
              <a:rPr lang="ja-JP"/>
              <a:t>‹#›</a:t>
            </a:fld>
            <a:endParaRPr lang="ja-JP"/>
          </a:p>
        </p:txBody>
      </p:sp>
      <p:sp>
        <p:nvSpPr>
          <p:cNvPr id="849547921" name="テキスト ボックス 2"/>
          <p:cNvSpPr txBox="1"/>
          <p:nvPr userDrawn="1"/>
        </p:nvSpPr>
        <p:spPr bwMode="auto">
          <a:xfrm>
            <a:off x="3292665" y="6556128"/>
            <a:ext cx="2501661" cy="230832"/>
          </a:xfrm>
          <a:prstGeom prst="rect">
            <a:avLst/>
          </a:prstGeom>
          <a:noFill/>
        </p:spPr>
        <p:txBody>
          <a:bodyPr wrap="square" rtlCol="0">
            <a:spAutoFit/>
          </a:bodyPr>
          <a:lstStyle/>
          <a:p>
            <a:pPr>
              <a:defRPr/>
            </a:pPr>
            <a:r>
              <a:rPr lang="en-US" sz="900">
                <a:solidFill>
                  <a:srgbClr val="C00000"/>
                </a:solidFill>
                <a:latin typeface="+mn-ea"/>
                <a:ea typeface="+mn-ea"/>
              </a:rPr>
              <a:t>Confidential</a:t>
            </a:r>
            <a:endParaRPr lang="ja-JP" sz="900">
              <a:solidFill>
                <a:srgbClr val="C00000"/>
              </a:solidFill>
              <a:latin typeface="+mn-ea"/>
              <a:ea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Main w/ summary_HD－sub">
    <p:spTree>
      <p:nvGrpSpPr>
        <p:cNvPr id="1" name=""/>
        <p:cNvGrpSpPr/>
        <p:nvPr/>
      </p:nvGrpSpPr>
      <p:grpSpPr bwMode="auto">
        <a:xfrm>
          <a:off x="0" y="0"/>
          <a:ext cx="0" cy="0"/>
          <a:chOff x="0" y="0"/>
          <a:chExt cx="0" cy="0"/>
        </a:xfrm>
      </p:grpSpPr>
      <p:sp>
        <p:nvSpPr>
          <p:cNvPr id="1315649557" name="タイトル 1"/>
          <p:cNvSpPr>
            <a:spLocks noGrp="1"/>
          </p:cNvSpPr>
          <p:nvPr>
            <p:ph type="title"/>
          </p:nvPr>
        </p:nvSpPr>
        <p:spPr bwMode="auto">
          <a:xfrm>
            <a:off x="513531" y="242463"/>
            <a:ext cx="10515600" cy="570337"/>
          </a:xfrm>
        </p:spPr>
        <p:txBody>
          <a:bodyPr>
            <a:normAutofit/>
          </a:bodyPr>
          <a:lstStyle>
            <a:lvl1pPr>
              <a:defRPr sz="2400">
                <a:latin typeface="Avenir Next LT Pro Demi"/>
              </a:defRPr>
            </a:lvl1pPr>
          </a:lstStyle>
          <a:p>
            <a:pPr>
              <a:defRPr/>
            </a:pPr>
            <a:r>
              <a:rPr lang="ja-JP"/>
              <a:t>マスター タイトルの書式設定</a:t>
            </a:r>
            <a:endParaRPr/>
          </a:p>
        </p:txBody>
      </p:sp>
      <p:sp>
        <p:nvSpPr>
          <p:cNvPr id="725735253" name="フッター プレースホルダー 3"/>
          <p:cNvSpPr>
            <a:spLocks noGrp="1"/>
          </p:cNvSpPr>
          <p:nvPr>
            <p:ph type="ftr" sz="quarter" idx="11"/>
          </p:nvPr>
        </p:nvSpPr>
        <p:spPr bwMode="auto">
          <a:xfrm>
            <a:off x="7488810" y="6570482"/>
            <a:ext cx="4114800" cy="272818"/>
          </a:xfrm>
          <a:prstGeom prst="rect">
            <a:avLst/>
          </a:prstGeom>
        </p:spPr>
        <p:txBody>
          <a:bodyPr vert="horz" lIns="91440" tIns="45720" rIns="91440" bIns="45720" rtlCol="0" anchor="ctr"/>
          <a:lstStyle>
            <a:lvl1pPr algn="r">
              <a:defRPr lang="ja-JP" sz="800">
                <a:solidFill>
                  <a:schemeClr val="bg2">
                    <a:lumMod val="50000"/>
                  </a:schemeClr>
                </a:solidFill>
                <a:latin typeface="ヒラギノ角ゴ ProN W3"/>
                <a:ea typeface="ヒラギノ角ゴ ProN W3"/>
              </a:defRPr>
            </a:lvl1pPr>
          </a:lstStyle>
          <a:p>
            <a:pPr>
              <a:defRPr/>
            </a:pPr>
            <a:endParaRPr lang="ja-JP"/>
          </a:p>
        </p:txBody>
      </p:sp>
      <p:sp>
        <p:nvSpPr>
          <p:cNvPr id="1022188235" name="スライド番号プレースホルダー 4"/>
          <p:cNvSpPr>
            <a:spLocks noGrp="1"/>
          </p:cNvSpPr>
          <p:nvPr>
            <p:ph type="sldNum" sz="quarter" idx="12"/>
          </p:nvPr>
        </p:nvSpPr>
        <p:spPr bwMode="auto">
          <a:xfrm>
            <a:off x="11676061" y="6570482"/>
            <a:ext cx="515937" cy="272818"/>
          </a:xfrm>
        </p:spPr>
        <p:txBody>
          <a:bodyPr/>
          <a:lstStyle>
            <a:lvl1pPr algn="ctr">
              <a:defRPr/>
            </a:lvl1pPr>
          </a:lstStyle>
          <a:p>
            <a:pPr>
              <a:defRPr/>
            </a:pPr>
            <a:fld id="{9EE375CF-DE78-44C2-B104-2824F80826E0}" type="slidenum">
              <a:rPr lang="ja-JP"/>
              <a:t>‹#›</a:t>
            </a:fld>
            <a:endParaRPr lang="ja-JP"/>
          </a:p>
        </p:txBody>
      </p:sp>
      <p:cxnSp>
        <p:nvCxnSpPr>
          <p:cNvPr id="571865749" name="直線コネクタ 6"/>
          <p:cNvCxnSpPr/>
          <p:nvPr userDrawn="1"/>
        </p:nvCxnSpPr>
        <p:spPr bwMode="auto">
          <a:xfrm>
            <a:off x="600075" y="812800"/>
            <a:ext cx="720000" cy="0"/>
          </a:xfrm>
          <a:prstGeom prst="line">
            <a:avLst/>
          </a:prstGeom>
          <a:ln w="22225"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87714362" name="直線コネクタ 8"/>
          <p:cNvCxnSpPr/>
          <p:nvPr userDrawn="1"/>
        </p:nvCxnSpPr>
        <p:spPr bwMode="auto">
          <a:xfrm>
            <a:off x="11676063" y="6564754"/>
            <a:ext cx="0" cy="28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67127668" name="フッター プレースホルダー 3"/>
          <p:cNvSpPr txBox="1"/>
          <p:nvPr userDrawn="1"/>
        </p:nvSpPr>
        <p:spPr bwMode="auto">
          <a:xfrm>
            <a:off x="4035186" y="6483323"/>
            <a:ext cx="4114800" cy="252000"/>
          </a:xfrm>
          <a:prstGeom prst="rect">
            <a:avLst/>
          </a:prstGeom>
        </p:spPr>
        <p:txBody>
          <a:bodyPr vert="horz" lIns="91440" tIns="45720" rIns="91440" bIns="45720" rtlCol="0" anchor="ctr"/>
          <a:lstStyle>
            <a:defPPr>
              <a:defRPr lang="ja-JP"/>
            </a:defPPr>
            <a:lvl1pPr marL="0" algn="ctr" defTabSz="914400">
              <a:defRPr sz="1200">
                <a:solidFill>
                  <a:schemeClr val="tx1">
                    <a:tint val="82000"/>
                  </a:schemeClr>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endParaRPr lang="ja-JP"/>
          </a:p>
        </p:txBody>
      </p:sp>
      <p:sp>
        <p:nvSpPr>
          <p:cNvPr id="2064574142" name="テキスト プレースホルダー 13"/>
          <p:cNvSpPr>
            <a:spLocks noGrp="1"/>
          </p:cNvSpPr>
          <p:nvPr>
            <p:ph type="body" sz="quarter" idx="16"/>
          </p:nvPr>
        </p:nvSpPr>
        <p:spPr bwMode="auto">
          <a:xfrm>
            <a:off x="513531" y="908364"/>
            <a:ext cx="11158111" cy="5510751"/>
          </a:xfrm>
        </p:spPr>
        <p:txBody>
          <a:bodyPr>
            <a:normAutofit/>
          </a:bodyPr>
          <a:lstStyle>
            <a:lvl1pPr marL="228600" indent="-228600">
              <a:lnSpc>
                <a:spcPct val="100000"/>
              </a:lnSpc>
              <a:spcBef>
                <a:spcPts val="0"/>
              </a:spcBef>
              <a:spcAft>
                <a:spcPts val="600"/>
              </a:spcAft>
              <a:buFont typeface="Wingdings"/>
              <a:buChar char="l"/>
              <a:defRPr sz="2000">
                <a:solidFill>
                  <a:schemeClr val="bg2">
                    <a:lumMod val="25000"/>
                  </a:schemeClr>
                </a:solidFill>
                <a:latin typeface="+mj-ea"/>
                <a:ea typeface="+mj-ea"/>
              </a:defRPr>
            </a:lvl1pPr>
            <a:lvl2pPr marL="540000" indent="-288000">
              <a:lnSpc>
                <a:spcPct val="100000"/>
              </a:lnSpc>
              <a:spcBef>
                <a:spcPts val="0"/>
              </a:spcBef>
              <a:spcAft>
                <a:spcPts val="600"/>
              </a:spcAft>
              <a:buClrTx/>
              <a:buFont typeface="ヒラギノ角ゴ ProN W3"/>
              <a:buChar char="―"/>
              <a:defRPr sz="1800">
                <a:solidFill>
                  <a:schemeClr val="bg2">
                    <a:lumMod val="25000"/>
                  </a:schemeClr>
                </a:solidFill>
                <a:latin typeface="ヒラギノ角ゴ ProN W3"/>
                <a:ea typeface="ヒラギノ角ゴ ProN W3"/>
              </a:defRPr>
            </a:lvl2pPr>
            <a:lvl3pPr marL="792000" indent="-1800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defRPr>
            </a:lvl3pPr>
            <a:lvl4pPr marL="1044000" indent="-1800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defRPr>
            </a:lvl4pPr>
            <a:lvl5pPr marL="1332000" indent="-180000">
              <a:lnSpc>
                <a:spcPct val="100000"/>
              </a:lnSpc>
              <a:spcBef>
                <a:spcPts val="0"/>
              </a:spcBef>
              <a:spcAft>
                <a:spcPts val="600"/>
              </a:spcAft>
              <a:buFont typeface="Arial"/>
              <a:buChar char="•"/>
              <a:defRPr sz="1800">
                <a:solidFill>
                  <a:schemeClr val="bg2">
                    <a:lumMod val="50000"/>
                  </a:schemeClr>
                </a:solidFill>
              </a:defRPr>
            </a:lvl5pPr>
          </a:lstStyle>
          <a:p>
            <a:pPr lvl="0">
              <a:defRPr/>
            </a:pPr>
            <a:r>
              <a:rPr lang="ja-JP"/>
              <a:t>マスター テキストの書式設定</a:t>
            </a:r>
            <a:endParaRPr/>
          </a:p>
          <a:p>
            <a:pPr lvl="1">
              <a:defRPr/>
            </a:pPr>
            <a:r>
              <a:rPr lang="ja-JP"/>
              <a:t>第 </a:t>
            </a:r>
            <a:r>
              <a:rPr lang="en-US"/>
              <a:t>2 </a:t>
            </a:r>
            <a:r>
              <a:rPr lang="ja-JP"/>
              <a:t>レベル</a:t>
            </a:r>
            <a:endParaRPr/>
          </a:p>
          <a:p>
            <a:pPr lvl="2">
              <a:defRPr/>
            </a:pPr>
            <a:r>
              <a:rPr lang="ja-JP"/>
              <a:t>第 </a:t>
            </a:r>
            <a:r>
              <a:rPr lang="en-US"/>
              <a:t>3 </a:t>
            </a:r>
            <a:r>
              <a:rPr lang="ja-JP"/>
              <a:t>レベル</a:t>
            </a:r>
            <a:endParaRPr/>
          </a:p>
          <a:p>
            <a:pPr lvl="3">
              <a:defRPr/>
            </a:pPr>
            <a:r>
              <a:rPr lang="ja-JP"/>
              <a:t>第 </a:t>
            </a:r>
            <a:r>
              <a:rPr lang="en-US"/>
              <a:t>4 </a:t>
            </a:r>
            <a:r>
              <a:rPr lang="ja-JP"/>
              <a:t>レベル</a:t>
            </a:r>
            <a:endParaRPr/>
          </a:p>
          <a:p>
            <a:pPr lvl="4">
              <a:defRPr/>
            </a:pPr>
            <a:r>
              <a:rPr lang="ja-JP"/>
              <a:t>第 </a:t>
            </a:r>
            <a:r>
              <a:rPr lang="en-US"/>
              <a:t>5 </a:t>
            </a:r>
            <a:r>
              <a:rPr lang="ja-JP"/>
              <a:t>レベル</a:t>
            </a:r>
            <a:endParaRPr/>
          </a:p>
        </p:txBody>
      </p:sp>
      <p:sp>
        <p:nvSpPr>
          <p:cNvPr id="981866854" name="テキスト ボックス 9"/>
          <p:cNvSpPr txBox="1"/>
          <p:nvPr userDrawn="1"/>
        </p:nvSpPr>
        <p:spPr bwMode="auto">
          <a:xfrm>
            <a:off x="3292665" y="6556128"/>
            <a:ext cx="2501661" cy="230832"/>
          </a:xfrm>
          <a:prstGeom prst="rect">
            <a:avLst/>
          </a:prstGeom>
          <a:noFill/>
        </p:spPr>
        <p:txBody>
          <a:bodyPr wrap="square" rtlCol="0">
            <a:spAutoFit/>
          </a:bodyPr>
          <a:lstStyle/>
          <a:p>
            <a:pPr>
              <a:defRPr/>
            </a:pPr>
            <a:r>
              <a:rPr lang="en-US" sz="900">
                <a:solidFill>
                  <a:srgbClr val="C00000"/>
                </a:solidFill>
                <a:latin typeface="+mn-ea"/>
                <a:ea typeface="+mn-ea"/>
              </a:rPr>
              <a:t>Confidential</a:t>
            </a:r>
            <a:endParaRPr lang="ja-JP" sz="900">
              <a:solidFill>
                <a:srgbClr val="C00000"/>
              </a:solidFill>
              <a:latin typeface="+mn-ea"/>
              <a:ea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nd_Logo (option)">
    <p:spTree>
      <p:nvGrpSpPr>
        <p:cNvPr id="1" name=""/>
        <p:cNvGrpSpPr/>
        <p:nvPr/>
      </p:nvGrpSpPr>
      <p:grpSpPr bwMode="auto">
        <a:xfrm>
          <a:off x="0" y="0"/>
          <a:ext cx="0" cy="0"/>
          <a:chOff x="0" y="0"/>
          <a:chExt cx="0" cy="0"/>
        </a:xfrm>
      </p:grpSpPr>
      <p:sp>
        <p:nvSpPr>
          <p:cNvPr id="1823413649" name="正方形/長方形 1"/>
          <p:cNvSpPr/>
          <p:nvPr userDrawn="1"/>
        </p:nvSpPr>
        <p:spPr bwMode="auto">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p>
        </p:txBody>
      </p:sp>
      <p:pic>
        <p:nvPicPr>
          <p:cNvPr id="1823660019" name="図 3" descr="アイコン&#10;&#10;中程度の精度で自動的に生成された説明"/>
          <p:cNvPicPr>
            <a:picLocks noChangeAspect="1"/>
          </p:cNvPicPr>
          <p:nvPr userDrawn="1"/>
        </p:nvPicPr>
        <p:blipFill>
          <a:blip r:embed="rId2"/>
          <a:stretch/>
        </p:blipFill>
        <p:spPr bwMode="auto">
          <a:xfrm>
            <a:off x="3208014" y="3044951"/>
            <a:ext cx="5775972" cy="76809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nd_GD (option)">
    <p:spTree>
      <p:nvGrpSpPr>
        <p:cNvPr id="1" name=""/>
        <p:cNvGrpSpPr/>
        <p:nvPr/>
      </p:nvGrpSpPr>
      <p:grpSpPr bwMode="auto">
        <a:xfrm>
          <a:off x="0" y="0"/>
          <a:ext cx="0" cy="0"/>
          <a:chOff x="0" y="0"/>
          <a:chExt cx="0" cy="0"/>
        </a:xfrm>
      </p:grpSpPr>
      <p:pic>
        <p:nvPicPr>
          <p:cNvPr id="2090847765" name="図 1" descr="人, 持つ, 手, 食品 が含まれている画像&#10;&#10;自動的に生成された説明"/>
          <p:cNvPicPr>
            <a:picLocks noChangeAspect="1"/>
          </p:cNvPicPr>
          <p:nvPr userDrawn="1"/>
        </p:nvPicPr>
        <p:blipFill>
          <a:blip r:embed="rId2"/>
          <a:stretch/>
        </p:blipFill>
        <p:spPr bwMode="auto">
          <a:xfrm>
            <a:off x="0" y="0"/>
            <a:ext cx="12192000" cy="6858000"/>
          </a:xfrm>
          <a:prstGeom prst="rect">
            <a:avLst/>
          </a:prstGeom>
        </p:spPr>
      </p:pic>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513217781" name="タイトル プレースホルダー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ja-JP"/>
              <a:t>マスター タイトルの書式設定</a:t>
            </a:r>
            <a:endParaRPr/>
          </a:p>
        </p:txBody>
      </p:sp>
      <p:sp>
        <p:nvSpPr>
          <p:cNvPr id="2106155699" name="テキスト プレースホルダー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ja-JP"/>
              <a:t>マスター テキストの書式設定</a:t>
            </a:r>
            <a:endParaRPr/>
          </a:p>
          <a:p>
            <a:pPr lvl="1">
              <a:defRPr/>
            </a:pPr>
            <a:r>
              <a:rPr lang="ja-JP"/>
              <a:t>第 </a:t>
            </a:r>
            <a:r>
              <a:rPr lang="en-US"/>
              <a:t>2 </a:t>
            </a:r>
            <a:r>
              <a:rPr lang="ja-JP"/>
              <a:t>レベル</a:t>
            </a:r>
            <a:endParaRPr/>
          </a:p>
          <a:p>
            <a:pPr lvl="2">
              <a:defRPr/>
            </a:pPr>
            <a:r>
              <a:rPr lang="ja-JP"/>
              <a:t>第 </a:t>
            </a:r>
            <a:r>
              <a:rPr lang="en-US"/>
              <a:t>3 </a:t>
            </a:r>
            <a:r>
              <a:rPr lang="ja-JP"/>
              <a:t>レベル</a:t>
            </a:r>
            <a:endParaRPr/>
          </a:p>
          <a:p>
            <a:pPr lvl="3">
              <a:defRPr/>
            </a:pPr>
            <a:r>
              <a:rPr lang="ja-JP"/>
              <a:t>第 </a:t>
            </a:r>
            <a:r>
              <a:rPr lang="en-US"/>
              <a:t>4 </a:t>
            </a:r>
            <a:r>
              <a:rPr lang="ja-JP"/>
              <a:t>レベル</a:t>
            </a:r>
            <a:endParaRPr/>
          </a:p>
          <a:p>
            <a:pPr lvl="4">
              <a:defRPr/>
            </a:pPr>
            <a:r>
              <a:rPr lang="ja-JP"/>
              <a:t>第 </a:t>
            </a:r>
            <a:r>
              <a:rPr lang="en-US"/>
              <a:t>5 </a:t>
            </a:r>
            <a:r>
              <a:rPr lang="ja-JP"/>
              <a:t>レベル</a:t>
            </a:r>
            <a:endParaRPr/>
          </a:p>
        </p:txBody>
      </p:sp>
      <p:sp>
        <p:nvSpPr>
          <p:cNvPr id="400175216" name="スライド番号プレースホルダー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9EE375CF-DE78-44C2-B104-2824F80826E0}" type="slidenum">
              <a:rPr lang="ja-JP"/>
              <a:t>‹#›</a:t>
            </a:fld>
            <a:endParaRPr lang="ja-JP"/>
          </a:p>
        </p:txBody>
      </p:sp>
      <p:pic>
        <p:nvPicPr>
          <p:cNvPr id="403509010" name="Picture 2" descr="SCREEN"/>
          <p:cNvPicPr>
            <a:picLocks noChangeAspect="1" noChangeArrowheads="1"/>
          </p:cNvPicPr>
          <p:nvPr userDrawn="1"/>
        </p:nvPicPr>
        <p:blipFill>
          <a:blip r:embed="rId7"/>
          <a:srcRect l="25096" t="41581" r="24614" b="41752"/>
          <a:stretch/>
        </p:blipFill>
        <p:spPr bwMode="auto">
          <a:xfrm>
            <a:off x="191919" y="6477000"/>
            <a:ext cx="1292562" cy="321290"/>
          </a:xfrm>
          <a:prstGeom prst="rect">
            <a:avLst/>
          </a:prstGeom>
          <a:noFill/>
        </p:spPr>
      </p:pic>
      <p:sp>
        <p:nvSpPr>
          <p:cNvPr id="712593963" name="フッター プレースホルダー 2"/>
          <p:cNvSpPr txBox="1"/>
          <p:nvPr userDrawn="1"/>
        </p:nvSpPr>
        <p:spPr bwMode="auto">
          <a:xfrm>
            <a:off x="1620625" y="6539536"/>
            <a:ext cx="4114800" cy="252000"/>
          </a:xfrm>
          <a:prstGeom prst="rect">
            <a:avLst/>
          </a:prstGeom>
        </p:spPr>
        <p:txBody>
          <a:bodyPr vert="horz" lIns="91440" tIns="45720" rIns="91440" bIns="45720" rtlCol="0" anchor="ctr"/>
          <a:lstStyle>
            <a:defPPr>
              <a:defRPr lang="ja-JP"/>
            </a:defPPr>
            <a:lvl1pPr algn="ctr">
              <a:spcBef>
                <a:spcPts val="0"/>
              </a:spcBef>
              <a:spcAft>
                <a:spcPts val="0"/>
              </a:spcAft>
              <a:defRPr lang="en-US" sz="800">
                <a:solidFill>
                  <a:srgbClr val="666666"/>
                </a:solidFill>
                <a:latin typeface="ヒラギノUD角ゴF StdN W3"/>
                <a:ea typeface="ヒラギノUD角ゴF StdN W3"/>
                <a:cs typeface="+mn-cs"/>
              </a:defRPr>
            </a:lvl1pPr>
            <a:lvl2pPr marL="457200" algn="l">
              <a:spcBef>
                <a:spcPts val="0"/>
              </a:spcBef>
              <a:spcAft>
                <a:spcPts val="0"/>
              </a:spcAft>
              <a:defRPr>
                <a:solidFill>
                  <a:schemeClr val="tx1"/>
                </a:solidFill>
                <a:latin typeface="Arial"/>
                <a:ea typeface="ＭＳ Ｐゴシック"/>
                <a:cs typeface="+mn-cs"/>
              </a:defRPr>
            </a:lvl2pPr>
            <a:lvl3pPr marL="914400" algn="l">
              <a:spcBef>
                <a:spcPts val="0"/>
              </a:spcBef>
              <a:spcAft>
                <a:spcPts val="0"/>
              </a:spcAft>
              <a:defRPr>
                <a:solidFill>
                  <a:schemeClr val="tx1"/>
                </a:solidFill>
                <a:latin typeface="Arial"/>
                <a:ea typeface="ＭＳ Ｐゴシック"/>
                <a:cs typeface="+mn-cs"/>
              </a:defRPr>
            </a:lvl3pPr>
            <a:lvl4pPr marL="1371600" algn="l">
              <a:spcBef>
                <a:spcPts val="0"/>
              </a:spcBef>
              <a:spcAft>
                <a:spcPts val="0"/>
              </a:spcAft>
              <a:defRPr>
                <a:solidFill>
                  <a:schemeClr val="tx1"/>
                </a:solidFill>
                <a:latin typeface="Arial"/>
                <a:ea typeface="ＭＳ Ｐゴシック"/>
                <a:cs typeface="+mn-cs"/>
              </a:defRPr>
            </a:lvl4pPr>
            <a:lvl5pPr marL="1828800" algn="l">
              <a:spcBef>
                <a:spcPts val="0"/>
              </a:spcBef>
              <a:spcAft>
                <a:spcPts val="0"/>
              </a:spcAft>
              <a:defRPr>
                <a:solidFill>
                  <a:schemeClr val="tx1"/>
                </a:solidFill>
                <a:latin typeface="Arial"/>
                <a:ea typeface="ＭＳ Ｐゴシック"/>
                <a:cs typeface="+mn-cs"/>
              </a:defRPr>
            </a:lvl5pPr>
            <a:lvl6pPr marL="2286000" algn="l" defTabSz="914400">
              <a:defRPr>
                <a:solidFill>
                  <a:schemeClr val="tx1"/>
                </a:solidFill>
                <a:latin typeface="Arial"/>
                <a:ea typeface="ＭＳ Ｐゴシック"/>
                <a:cs typeface="+mn-cs"/>
              </a:defRPr>
            </a:lvl6pPr>
            <a:lvl7pPr marL="2743200" algn="l" defTabSz="914400">
              <a:defRPr>
                <a:solidFill>
                  <a:schemeClr val="tx1"/>
                </a:solidFill>
                <a:latin typeface="Arial"/>
                <a:ea typeface="ＭＳ Ｐゴシック"/>
                <a:cs typeface="+mn-cs"/>
              </a:defRPr>
            </a:lvl7pPr>
            <a:lvl8pPr marL="3200400" algn="l" defTabSz="914400">
              <a:defRPr>
                <a:solidFill>
                  <a:schemeClr val="tx1"/>
                </a:solidFill>
                <a:latin typeface="Arial"/>
                <a:ea typeface="ＭＳ Ｐゴシック"/>
                <a:cs typeface="+mn-cs"/>
              </a:defRPr>
            </a:lvl8pPr>
            <a:lvl9pPr marL="3657600" algn="l" defTabSz="914400">
              <a:defRPr>
                <a:solidFill>
                  <a:schemeClr val="tx1"/>
                </a:solidFill>
                <a:latin typeface="Arial"/>
                <a:ea typeface="ＭＳ Ｐゴシック"/>
                <a:cs typeface="+mn-cs"/>
              </a:defRPr>
            </a:lvl9pPr>
          </a:lstStyle>
          <a:p>
            <a:pPr algn="l">
              <a:defRPr/>
            </a:pPr>
            <a:r>
              <a:rPr lang="en-US"/>
              <a:t>SCREEN </a:t>
            </a:r>
            <a:r>
              <a:rPr lang="en-US"/>
              <a:t>Holdings</a:t>
            </a:r>
            <a:r>
              <a:rPr lang="en-US"/>
              <a:t> Co., Ltd. </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dt="0" ftr="1" hdr="0" sldNum="1"/>
  <p:txStyles>
    <p:titleStyle>
      <a:lvl1pPr algn="l" defTabSz="914400">
        <a:lnSpc>
          <a:spcPct val="90000"/>
        </a:lnSpc>
        <a:spcBef>
          <a:spcPts val="0"/>
        </a:spcBef>
        <a:buNone/>
        <a:defRPr sz="4400">
          <a:solidFill>
            <a:schemeClr val="bg2">
              <a:lumMod val="25000"/>
            </a:schemeClr>
          </a:solidFill>
          <a:latin typeface="Avenir Next LT Pro"/>
          <a:ea typeface="+mj-ea"/>
          <a:cs typeface="+mj-cs"/>
        </a:defRPr>
      </a:lvl1pPr>
    </p:titleStyle>
    <p:bodyStyle>
      <a:lvl1pPr marL="228600" indent="-228600" algn="l" defTabSz="914400">
        <a:lnSpc>
          <a:spcPct val="90000"/>
        </a:lnSpc>
        <a:spcBef>
          <a:spcPts val="1000"/>
        </a:spcBef>
        <a:buFont typeface="Arial"/>
        <a:buChar char="•"/>
        <a:defRPr sz="2800">
          <a:solidFill>
            <a:schemeClr val="tx1">
              <a:lumMod val="75000"/>
              <a:lumOff val="25000"/>
            </a:schemeClr>
          </a:solidFill>
          <a:latin typeface="Avenir Next LT Pro"/>
          <a:ea typeface="ヒラギノ角ゴ ProN W3"/>
          <a:cs typeface="+mn-cs"/>
        </a:defRPr>
      </a:lvl1pPr>
      <a:lvl2pPr marL="685800" indent="-228600" algn="l" defTabSz="914400">
        <a:lnSpc>
          <a:spcPct val="90000"/>
        </a:lnSpc>
        <a:spcBef>
          <a:spcPts val="500"/>
        </a:spcBef>
        <a:buFont typeface="Arial"/>
        <a:buChar char="•"/>
        <a:defRPr sz="2400">
          <a:solidFill>
            <a:schemeClr val="tx1">
              <a:lumMod val="75000"/>
              <a:lumOff val="25000"/>
            </a:schemeClr>
          </a:solidFill>
          <a:latin typeface="Avenir Next LT Pro"/>
          <a:ea typeface="ヒラギノ角ゴ ProN W3"/>
          <a:cs typeface="+mn-cs"/>
        </a:defRPr>
      </a:lvl2pPr>
      <a:lvl3pPr marL="1143000" indent="-228600" algn="l" defTabSz="914400">
        <a:lnSpc>
          <a:spcPct val="90000"/>
        </a:lnSpc>
        <a:spcBef>
          <a:spcPts val="500"/>
        </a:spcBef>
        <a:buFont typeface="Arial"/>
        <a:buChar char="•"/>
        <a:defRPr sz="2000">
          <a:solidFill>
            <a:schemeClr val="tx1">
              <a:lumMod val="75000"/>
              <a:lumOff val="25000"/>
            </a:schemeClr>
          </a:solidFill>
          <a:latin typeface="Avenir Next LT Pro"/>
          <a:ea typeface="ヒラギノ角ゴ ProN W3"/>
          <a:cs typeface="+mn-cs"/>
        </a:defRPr>
      </a:lvl3pPr>
      <a:lvl4pPr marL="1600200" indent="-228600" algn="l" defTabSz="914400">
        <a:lnSpc>
          <a:spcPct val="90000"/>
        </a:lnSpc>
        <a:spcBef>
          <a:spcPts val="500"/>
        </a:spcBef>
        <a:buFont typeface="Arial"/>
        <a:buChar char="•"/>
        <a:defRPr sz="1800">
          <a:solidFill>
            <a:schemeClr val="tx1">
              <a:lumMod val="75000"/>
              <a:lumOff val="25000"/>
            </a:schemeClr>
          </a:solidFill>
          <a:latin typeface="Avenir Next LT Pro"/>
          <a:ea typeface="ヒラギノ角ゴ ProN W3"/>
          <a:cs typeface="+mn-cs"/>
        </a:defRPr>
      </a:lvl4pPr>
      <a:lvl5pPr marL="2057400" indent="-228600" algn="l" defTabSz="914400">
        <a:lnSpc>
          <a:spcPct val="90000"/>
        </a:lnSpc>
        <a:spcBef>
          <a:spcPts val="500"/>
        </a:spcBef>
        <a:buFont typeface="Arial"/>
        <a:buChar char="•"/>
        <a:defRPr sz="1800">
          <a:solidFill>
            <a:schemeClr val="tx1">
              <a:lumMod val="75000"/>
              <a:lumOff val="25000"/>
            </a:schemeClr>
          </a:solidFill>
          <a:latin typeface="Avenir Next LT Pro"/>
          <a:ea typeface="ヒラギノ角ゴ ProN W3"/>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ja-JP"/>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1742935" name="タイトル 1"/>
          <p:cNvSpPr>
            <a:spLocks noGrp="1"/>
          </p:cNvSpPr>
          <p:nvPr>
            <p:ph type="title"/>
          </p:nvPr>
        </p:nvSpPr>
        <p:spPr bwMode="auto"/>
        <p:txBody>
          <a:bodyPr/>
          <a:lstStyle/>
          <a:p>
            <a:pPr>
              <a:defRPr/>
            </a:pPr>
            <a:r>
              <a:rPr lang="en-US"/>
              <a:t>Timefold</a:t>
            </a:r>
            <a:r>
              <a:rPr lang="ja-JP"/>
              <a:t>の初期検証</a:t>
            </a:r>
            <a:endParaRPr lang="ja-JP"/>
          </a:p>
        </p:txBody>
      </p:sp>
      <p:sp>
        <p:nvSpPr>
          <p:cNvPr id="1183349497" name="フッター プレースホルダー 2"/>
          <p:cNvSpPr>
            <a:spLocks noGrp="1"/>
          </p:cNvSpPr>
          <p:nvPr>
            <p:ph type="ftr" sz="quarter" idx="11"/>
          </p:nvPr>
        </p:nvSpPr>
        <p:spPr bwMode="auto"/>
        <p:txBody>
          <a:bodyPr/>
          <a:lstStyle/>
          <a:p>
            <a:pPr>
              <a:defRPr/>
            </a:pPr>
            <a:endParaRPr lang="ja-JP"/>
          </a:p>
        </p:txBody>
      </p:sp>
      <p:sp>
        <p:nvSpPr>
          <p:cNvPr id="788210552" name="スライド番号プレースホルダー 3"/>
          <p:cNvSpPr>
            <a:spLocks noGrp="1"/>
          </p:cNvSpPr>
          <p:nvPr>
            <p:ph type="sldNum" sz="quarter" idx="12"/>
          </p:nvPr>
        </p:nvSpPr>
        <p:spPr bwMode="auto"/>
        <p:txBody>
          <a:bodyPr/>
          <a:lstStyle/>
          <a:p>
            <a:pPr>
              <a:defRPr/>
            </a:pPr>
            <a:fld id="{9EE375CF-DE78-44C2-B104-2824F80826E0}" type="slidenum">
              <a:rPr lang="ja-JP"/>
              <a:t>1</a:t>
            </a:fld>
            <a:endParaRPr lang="ja-JP"/>
          </a:p>
        </p:txBody>
      </p:sp>
      <p:sp>
        <p:nvSpPr>
          <p:cNvPr id="132681684" name="テキスト プレースホルダー 4"/>
          <p:cNvSpPr>
            <a:spLocks noGrp="1"/>
          </p:cNvSpPr>
          <p:nvPr>
            <p:ph type="body" sz="quarter" idx="16"/>
          </p:nvPr>
        </p:nvSpPr>
        <p:spPr bwMode="auto">
          <a:xfrm>
            <a:off x="513531" y="908366"/>
            <a:ext cx="11158111" cy="5371410"/>
          </a:xfrm>
        </p:spPr>
        <p:txBody>
          <a:bodyPr>
            <a:normAutofit/>
          </a:bodyPr>
          <a:lstStyle/>
          <a:p>
            <a:pPr>
              <a:defRPr/>
            </a:pPr>
            <a:r>
              <a:rPr lang="ja-JP"/>
              <a:t>検証概要</a:t>
            </a:r>
            <a:endParaRPr/>
          </a:p>
        </p:txBody>
      </p:sp>
      <p:graphicFrame>
        <p:nvGraphicFramePr>
          <p:cNvPr id="1512363999" name="表 28"/>
          <p:cNvGraphicFramePr>
            <a:graphicFrameLocks xmlns:a="http://schemas.openxmlformats.org/drawingml/2006/main" noGrp="1"/>
          </p:cNvGraphicFramePr>
          <p:nvPr/>
        </p:nvGraphicFramePr>
        <p:xfrm>
          <a:off x="645085" y="1376571"/>
          <a:ext cx="10731126" cy="4511040"/>
        </p:xfrm>
        <a:graphic>
          <a:graphicData uri="http://schemas.openxmlformats.org/drawingml/2006/table">
            <a:tbl>
              <a:tblPr firstRow="1" firstCol="0" lastRow="0" lastCol="0" bandRow="1" bandCol="0">
                <a:tableStyleId>{2D5ABB26-0587-4C30-8999-92F81FD0307C}</a:tableStyleId>
              </a:tblPr>
              <a:tblGrid>
                <a:gridCol w="840814"/>
                <a:gridCol w="9890311"/>
              </a:tblGrid>
              <a:tr h="370840">
                <a:tc>
                  <a:txBody>
                    <a:bodyPr/>
                    <a:p>
                      <a:pPr>
                        <a:defRPr/>
                      </a:pPr>
                      <a:r>
                        <a:rPr lang="ja-JP" sz="1600"/>
                        <a:t>目的：</a:t>
                      </a:r>
                      <a:endParaRPr/>
                    </a:p>
                  </a:txBody>
                  <a:tcPr/>
                </a:tc>
                <a:tc>
                  <a:txBody>
                    <a:bodyPr/>
                    <a:p>
                      <a:pPr>
                        <a:defRPr/>
                      </a:pPr>
                      <a:r>
                        <a:rPr lang="ja-JP" sz="1600"/>
                        <a:t>装置立ち上げ人員の各種制約を定式化し、初期検証レベルとして</a:t>
                      </a:r>
                      <a:r>
                        <a:rPr lang="en-US" sz="1600"/>
                        <a:t>Timefold</a:t>
                      </a:r>
                      <a:r>
                        <a:rPr lang="ja-JP" sz="1600"/>
                        <a:t>で絶対制約を満たす解が得られるかを確認する</a:t>
                      </a:r>
                      <a:endParaRPr lang="en-US" sz="1600"/>
                    </a:p>
                  </a:txBody>
                  <a:tcPr/>
                </a:tc>
              </a:tr>
              <a:tr h="370840">
                <a:tc>
                  <a:txBody>
                    <a:bodyPr/>
                    <a:p>
                      <a:pPr>
                        <a:defRPr/>
                      </a:pPr>
                      <a:r>
                        <a:rPr lang="ja-JP" sz="1600"/>
                        <a:t>手法：</a:t>
                      </a:r>
                      <a:endParaRPr/>
                    </a:p>
                  </a:txBody>
                  <a:tcPr/>
                </a:tc>
                <a:tc>
                  <a:txBody>
                    <a:bodyPr/>
                    <a:p>
                      <a:pPr>
                        <a:defRPr/>
                      </a:pPr>
                      <a:r>
                        <a:rPr lang="ja-JP" sz="1600"/>
                        <a:t>作業に対して、作業者、日、作業時間を決定変数</a:t>
                      </a:r>
                      <a:endParaRPr lang="en-US" sz="1600"/>
                    </a:p>
                    <a:p>
                      <a:pPr>
                        <a:defRPr/>
                      </a:pPr>
                      <a:r>
                        <a:rPr lang="en-US" sz="1600"/>
                        <a:t>Makespan</a:t>
                      </a:r>
                      <a:r>
                        <a:rPr lang="ja-JP" sz="1600"/>
                        <a:t>最小化、残業時間最小化、作業時間平準化を目的関数とするモデル化</a:t>
                      </a:r>
                      <a:endParaRPr lang="en-US" sz="1600"/>
                    </a:p>
                    <a:p>
                      <a:pPr>
                        <a:defRPr/>
                      </a:pPr>
                      <a:r>
                        <a:rPr lang="en-US" sz="1600"/>
                        <a:t>Python</a:t>
                      </a:r>
                      <a:r>
                        <a:rPr lang="ja-JP" sz="1600"/>
                        <a:t>版</a:t>
                      </a:r>
                      <a:r>
                        <a:rPr lang="en-US" sz="1600"/>
                        <a:t>Timefold</a:t>
                      </a:r>
                      <a:r>
                        <a:rPr lang="ja-JP" sz="1600"/>
                        <a:t>で最適化を行う</a:t>
                      </a:r>
                      <a:endParaRPr/>
                    </a:p>
                  </a:txBody>
                  <a:tcPr/>
                </a:tc>
              </a:tr>
              <a:tr h="370840">
                <a:tc>
                  <a:txBody>
                    <a:bodyPr/>
                    <a:p>
                      <a:pPr>
                        <a:defRPr/>
                      </a:pPr>
                      <a:r>
                        <a:rPr lang="ja-JP" sz="1600"/>
                        <a:t>結果：</a:t>
                      </a:r>
                      <a:endParaRPr/>
                    </a:p>
                  </a:txBody>
                  <a:tcPr/>
                </a:tc>
                <a:tc>
                  <a:txBody>
                    <a:bodyPr/>
                    <a:p>
                      <a:pPr marL="0" marR="0" lvl="0" indent="0" algn="l" defTabSz="914400">
                        <a:lnSpc>
                          <a:spcPct val="100000"/>
                        </a:lnSpc>
                        <a:spcBef>
                          <a:spcPts val="0"/>
                        </a:spcBef>
                        <a:spcAft>
                          <a:spcPts val="0"/>
                        </a:spcAft>
                        <a:buClrTx/>
                        <a:buSzTx/>
                        <a:buFont typeface="Arial"/>
                        <a:buNone/>
                        <a:defRPr/>
                      </a:pPr>
                      <a:r>
                        <a:rPr lang="ja-JP" sz="1600"/>
                        <a:t>絶対制約の多くは満たした結果となった。</a:t>
                      </a:r>
                      <a:endParaRPr lang="en-US" sz="1600"/>
                    </a:p>
                    <a:p>
                      <a:pPr marL="0" marR="0" lvl="0" indent="0" algn="l" defTabSz="914400">
                        <a:lnSpc>
                          <a:spcPct val="100000"/>
                        </a:lnSpc>
                        <a:spcBef>
                          <a:spcPts val="0"/>
                        </a:spcBef>
                        <a:spcAft>
                          <a:spcPts val="0"/>
                        </a:spcAft>
                        <a:buClrTx/>
                        <a:buSzTx/>
                        <a:buFont typeface="Arial"/>
                        <a:buNone/>
                        <a:defRPr/>
                      </a:pPr>
                      <a:r>
                        <a:rPr lang="ja-JP" sz="1600"/>
                        <a:t>最小作業者数</a:t>
                      </a:r>
                      <a:r>
                        <a:rPr lang="en-US" sz="1600"/>
                        <a:t>=2</a:t>
                      </a:r>
                      <a:r>
                        <a:rPr lang="ja-JP" sz="1600"/>
                        <a:t>だが、作業者数</a:t>
                      </a:r>
                      <a:r>
                        <a:rPr lang="en-US" sz="1600"/>
                        <a:t>=1</a:t>
                      </a:r>
                      <a:r>
                        <a:rPr lang="ja-JP" sz="1600"/>
                        <a:t>となる制約違反が多く残っている。</a:t>
                      </a:r>
                      <a:endParaRPr lang="en-US" sz="1600"/>
                    </a:p>
                    <a:p>
                      <a:pPr marL="0" marR="0" lvl="0" indent="0" algn="l" defTabSz="914400">
                        <a:lnSpc>
                          <a:spcPct val="100000"/>
                        </a:lnSpc>
                        <a:spcBef>
                          <a:spcPts val="0"/>
                        </a:spcBef>
                        <a:spcAft>
                          <a:spcPts val="0"/>
                        </a:spcAft>
                        <a:buClrTx/>
                        <a:buSzTx/>
                        <a:buFont typeface="Arial"/>
                        <a:buNone/>
                        <a:defRPr/>
                      </a:pPr>
                      <a:r>
                        <a:rPr lang="ja-JP" sz="1600"/>
                        <a:t>目的関数が十分に最適化できているとは言えず、特に</a:t>
                      </a:r>
                      <a:r>
                        <a:rPr lang="en-US" sz="1600"/>
                        <a:t>Makespan</a:t>
                      </a:r>
                      <a:r>
                        <a:rPr lang="ja-JP" sz="1600"/>
                        <a:t>最小化と残業時間最小化という相反する部分で、残業時間を過剰に大きくする傾向が見られた</a:t>
                      </a:r>
                      <a:endParaRPr lang="en-US" sz="1600"/>
                    </a:p>
                    <a:p>
                      <a:pPr marL="0" marR="0" lvl="0" indent="0" algn="l" defTabSz="914400">
                        <a:lnSpc>
                          <a:spcPct val="100000"/>
                        </a:lnSpc>
                        <a:spcBef>
                          <a:spcPts val="0"/>
                        </a:spcBef>
                        <a:spcAft>
                          <a:spcPts val="0"/>
                        </a:spcAft>
                        <a:buClrTx/>
                        <a:buSzTx/>
                        <a:buFont typeface="Arial"/>
                        <a:buNone/>
                        <a:defRPr/>
                      </a:pPr>
                      <a:r>
                        <a:rPr lang="ja-JP" sz="1600"/>
                        <a:t>また連続作業性などの制約を持たないことで、</a:t>
                      </a:r>
                      <a:r>
                        <a:rPr lang="en-US" sz="1600"/>
                        <a:t>1</a:t>
                      </a:r>
                      <a:r>
                        <a:rPr lang="ja-JP" sz="1600"/>
                        <a:t>つの作業の期間内で日々異なる作業者が割り当てられるなど実務での人員計画にそのまま適用するには課題のある計画結果となった</a:t>
                      </a:r>
                      <a:endParaRPr lang="en-US" sz="1600"/>
                    </a:p>
                  </a:txBody>
                  <a:tcPr/>
                </a:tc>
              </a:tr>
              <a:tr h="370840">
                <a:tc>
                  <a:txBody>
                    <a:bodyPr/>
                    <a:p>
                      <a:pPr>
                        <a:defRPr/>
                      </a:pPr>
                      <a:r>
                        <a:rPr lang="ja-JP" sz="1600"/>
                        <a:t>結語：</a:t>
                      </a:r>
                      <a:endParaRPr/>
                    </a:p>
                  </a:txBody>
                  <a:tcPr/>
                </a:tc>
                <a:tc>
                  <a:txBody>
                    <a:bodyPr/>
                    <a:p>
                      <a:pPr>
                        <a:defRPr/>
                      </a:pPr>
                      <a:r>
                        <a:rPr lang="ja-JP" sz="1600"/>
                        <a:t>絶対制約の定式化と、</a:t>
                      </a:r>
                      <a:r>
                        <a:rPr lang="en-US" sz="1600"/>
                        <a:t>Timefold</a:t>
                      </a:r>
                      <a:r>
                        <a:rPr lang="ja-JP" sz="1600"/>
                        <a:t>を用いて多くの制約を満たす解を得ることができた。</a:t>
                      </a:r>
                      <a:endParaRPr lang="en-US" sz="1600"/>
                    </a:p>
                    <a:p>
                      <a:pPr>
                        <a:defRPr/>
                      </a:pPr>
                      <a:r>
                        <a:rPr lang="ja-JP" sz="1600"/>
                        <a:t>ただ最小作業者数の違反や実用的な計画結果となりづらい点など、現状のモデル設計に課題があることが分かった。</a:t>
                      </a:r>
                      <a:endParaRPr lang="en-US" sz="1600"/>
                    </a:p>
                    <a:p>
                      <a:pPr>
                        <a:defRPr/>
                      </a:pPr>
                      <a:r>
                        <a:rPr lang="ja-JP" sz="1600"/>
                        <a:t>次の取り組みとして作業の連続性を考慮した制約の追加やモデル化の変更など、実用的な計画に求められる条件を満たすよう改善を行う。</a:t>
                      </a:r>
                      <a:endParaRPr lang="en-US" sz="1600"/>
                    </a:p>
                    <a:p>
                      <a:pPr>
                        <a:defRPr/>
                      </a:pPr>
                      <a:endParaRPr lang="en-US" sz="16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1042917" name="タイトル 1"/>
          <p:cNvSpPr>
            <a:spLocks noGrp="1"/>
          </p:cNvSpPr>
          <p:nvPr>
            <p:ph type="title"/>
          </p:nvPr>
        </p:nvSpPr>
        <p:spPr bwMode="auto"/>
        <p:txBody>
          <a:bodyPr/>
          <a:lstStyle/>
          <a:p>
            <a:pPr>
              <a:defRPr/>
            </a:pPr>
            <a:r>
              <a:rPr lang="en-US"/>
              <a:t>Timefold</a:t>
            </a:r>
            <a:r>
              <a:rPr lang="ja-JP"/>
              <a:t>の初期検証</a:t>
            </a:r>
            <a:endParaRPr lang="ja-JP"/>
          </a:p>
        </p:txBody>
      </p:sp>
      <p:sp>
        <p:nvSpPr>
          <p:cNvPr id="1078410242" name="フッター プレースホルダー 2"/>
          <p:cNvSpPr>
            <a:spLocks noGrp="1"/>
          </p:cNvSpPr>
          <p:nvPr>
            <p:ph type="ftr" sz="quarter" idx="11"/>
          </p:nvPr>
        </p:nvSpPr>
        <p:spPr bwMode="auto"/>
        <p:txBody>
          <a:bodyPr/>
          <a:lstStyle/>
          <a:p>
            <a:pPr>
              <a:defRPr/>
            </a:pPr>
            <a:endParaRPr lang="ja-JP"/>
          </a:p>
        </p:txBody>
      </p:sp>
      <p:sp>
        <p:nvSpPr>
          <p:cNvPr id="929222065" name="スライド番号プレースホルダー 3"/>
          <p:cNvSpPr>
            <a:spLocks noGrp="1"/>
          </p:cNvSpPr>
          <p:nvPr>
            <p:ph type="sldNum" sz="quarter" idx="12"/>
          </p:nvPr>
        </p:nvSpPr>
        <p:spPr bwMode="auto"/>
        <p:txBody>
          <a:bodyPr/>
          <a:lstStyle/>
          <a:p>
            <a:pPr>
              <a:defRPr/>
            </a:pPr>
            <a:fld id="{9EE375CF-DE78-44C2-B104-2824F80826E0}" type="slidenum">
              <a:rPr lang="ja-JP"/>
              <a:t>2</a:t>
            </a:fld>
            <a:endParaRPr lang="ja-JP"/>
          </a:p>
        </p:txBody>
      </p:sp>
      <p:sp>
        <p:nvSpPr>
          <p:cNvPr id="947552331" name="テキスト プレースホルダー 4"/>
          <p:cNvSpPr>
            <a:spLocks noGrp="1"/>
          </p:cNvSpPr>
          <p:nvPr>
            <p:ph type="body" sz="quarter" idx="16"/>
          </p:nvPr>
        </p:nvSpPr>
        <p:spPr bwMode="auto">
          <a:xfrm>
            <a:off x="513531" y="908365"/>
            <a:ext cx="11158111" cy="1857506"/>
          </a:xfrm>
        </p:spPr>
        <p:txBody>
          <a:bodyPr>
            <a:normAutofit fontScale="85000" lnSpcReduction="10000"/>
          </a:bodyPr>
          <a:lstStyle/>
          <a:p>
            <a:pPr>
              <a:defRPr/>
            </a:pPr>
            <a:r>
              <a:rPr lang="ja-JP" sz="2100"/>
              <a:t>決定変数のモデル化</a:t>
            </a:r>
            <a:endParaRPr lang="en-US" sz="2100"/>
          </a:p>
          <a:p>
            <a:pPr marL="0" indent="0">
              <a:buNone/>
              <a:defRPr/>
            </a:pPr>
            <a:r>
              <a:rPr lang="ja-JP" sz="1900"/>
              <a:t>各作業ごとに作業量に応じた作業枠</a:t>
            </a:r>
            <a:r>
              <a:rPr lang="en-US" sz="1900"/>
              <a:t>(U)</a:t>
            </a:r>
            <a:r>
              <a:rPr lang="ja-JP" sz="1900"/>
              <a:t>を作成し、各作業枠に作業者</a:t>
            </a:r>
            <a:r>
              <a:rPr lang="en-US" sz="1900"/>
              <a:t>(E)</a:t>
            </a:r>
            <a:r>
              <a:rPr lang="ja-JP" sz="1900"/>
              <a:t>、作業日</a:t>
            </a:r>
            <a:r>
              <a:rPr lang="en-US" sz="1900"/>
              <a:t>(D)</a:t>
            </a:r>
            <a:r>
              <a:rPr lang="ja-JP" sz="1900"/>
              <a:t>、作業時間</a:t>
            </a:r>
            <a:r>
              <a:rPr lang="en-US" sz="1900"/>
              <a:t>(H)</a:t>
            </a:r>
            <a:r>
              <a:rPr lang="ja-JP" sz="1900"/>
              <a:t>を選択する問題としてモデル化する（作業枠は作業量を</a:t>
            </a:r>
            <a:r>
              <a:rPr lang="en-US" sz="1900"/>
              <a:t>1</a:t>
            </a:r>
            <a:r>
              <a:rPr lang="ja-JP" sz="1900"/>
              <a:t>人日単位で分割した割り当て単位）</a:t>
            </a:r>
            <a:endParaRPr lang="en-US" sz="1900"/>
          </a:p>
          <a:p>
            <a:pPr marL="0" indent="0">
              <a:buNone/>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sSub>
                        <m:sSubPr>
                          <m:ctrlPr>
                            <a:rPr lang="en-US" b="0" i="1">
                              <a:latin typeface="Cambria Math"/>
                              <a:ea typeface="Cambria Math"/>
                              <a:cs typeface="Cambria Math"/>
                            </a:rPr>
                          </m:ctrlPr>
                        </m:sSubPr>
                        <m:e>
                          <m:r>
                            <m:rPr/>
                            <a:rPr lang="en-US" b="0" i="1">
                              <a:latin typeface="Cambria Math"/>
                            </a:rPr>
                            <m:t>𝑈</m:t>
                          </m:r>
                        </m:e>
                        <m:sub>
                          <m:r>
                            <m:rPr/>
                            <a:rPr lang="en-US" b="0" i="1">
                              <a:latin typeface="Cambria Math"/>
                            </a:rPr>
                            <m:t>𝑛</m:t>
                          </m:r>
                        </m:sub>
                      </m:sSub>
                      <m:r>
                        <m:rPr/>
                        <a:rPr lang="en-US" b="0" i="1">
                          <a:latin typeface="Cambria Math"/>
                        </a:rPr>
                        <m:t>.</m:t>
                      </m:r>
                      <m:r>
                        <m:rPr/>
                        <a:rPr lang="en-US" b="0" i="1">
                          <a:latin typeface="Cambria Math"/>
                        </a:rPr>
                        <m:t>𝑒𝑚𝑝𝑙𝑜𝑦𝑒𝑒</m:t>
                      </m:r>
                      <m:r>
                        <m:rPr/>
                        <a:rPr lang="en-US" b="0" i="1">
                          <a:latin typeface="Cambria Math"/>
                          <a:ea typeface="Cambria Math"/>
                        </a:rPr>
                        <m:t>∈</m:t>
                      </m:r>
                      <m:r>
                        <m:rPr>
                          <m:sty m:val="p"/>
                        </m:rPr>
                        <a:rPr lang="en-US" b="0" i="0">
                          <a:latin typeface="Cambria Math"/>
                          <a:ea typeface="Cambria Math"/>
                        </a:rPr>
                        <m:t>E</m:t>
                      </m:r>
                    </m:oMath>
                  </m:oMathPara>
                </a14:m>
              </mc:Choice>
              <mc:Fallback/>
            </mc:AlternateContent>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sSub>
                        <m:sSubPr>
                          <m:ctrlPr>
                            <a:rPr lang="en-US" b="0" i="1">
                              <a:latin typeface="Cambria Math"/>
                              <a:ea typeface="Cambria Math"/>
                              <a:cs typeface="Cambria Math"/>
                            </a:rPr>
                          </m:ctrlPr>
                        </m:sSubPr>
                        <m:e>
                          <m:r>
                            <m:rPr/>
                            <a:rPr lang="en-US" b="0" i="1">
                              <a:latin typeface="Cambria Math"/>
                              <a:ea typeface="Cambria Math"/>
                            </a:rPr>
                            <m:t>𝑈</m:t>
                          </m:r>
                        </m:e>
                        <m:sub>
                          <m:r>
                            <m:rPr/>
                            <a:rPr lang="en-US" b="0" i="1">
                              <a:latin typeface="Cambria Math"/>
                              <a:ea typeface="Cambria Math"/>
                            </a:rPr>
                            <m:t>𝑛</m:t>
                          </m:r>
                        </m:sub>
                      </m:sSub>
                      <m:r>
                        <m:rPr/>
                        <a:rPr lang="en-US" b="0" i="1">
                          <a:latin typeface="Cambria Math"/>
                          <a:ea typeface="Cambria Math"/>
                        </a:rPr>
                        <m:t>.</m:t>
                      </m:r>
                      <m:r>
                        <m:rPr/>
                        <a:rPr lang="en-US" b="0" i="1">
                          <a:latin typeface="Cambria Math"/>
                          <a:ea typeface="Cambria Math"/>
                        </a:rPr>
                        <m:t>𝑑𝑎𝑦</m:t>
                      </m:r>
                      <m:r>
                        <m:rPr/>
                        <a:rPr lang="en-US" b="0" i="1">
                          <a:latin typeface="Cambria Math"/>
                          <a:ea typeface="Cambria Math"/>
                        </a:rPr>
                        <m:t> ∈</m:t>
                      </m:r>
                      <m:r>
                        <m:rPr/>
                        <a:rPr lang="en-US" b="0" i="1">
                          <a:latin typeface="Cambria Math"/>
                          <a:ea typeface="Cambria Math"/>
                        </a:rPr>
                        <m:t>𝐷</m:t>
                      </m:r>
                    </m:oMath>
                  </m:oMathPara>
                </a14:m>
              </mc:Choice>
              <mc:Fallback/>
            </mc:AlternateContent>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sSub>
                        <m:sSubPr>
                          <m:ctrlPr>
                            <a:rPr lang="en-US" b="0" i="1">
                              <a:latin typeface="Cambria Math"/>
                              <a:ea typeface="Cambria Math"/>
                              <a:cs typeface="Cambria Math"/>
                            </a:rPr>
                          </m:ctrlPr>
                        </m:sSubPr>
                        <m:e>
                          <m:r>
                            <m:rPr/>
                            <a:rPr lang="en-US" b="0" i="1">
                              <a:latin typeface="Cambria Math"/>
                              <a:ea typeface="Cambria Math"/>
                            </a:rPr>
                            <m:t>𝑈</m:t>
                          </m:r>
                        </m:e>
                        <m:sub>
                          <m:r>
                            <m:rPr/>
                            <a:rPr lang="en-US" b="0" i="1">
                              <a:latin typeface="Cambria Math"/>
                              <a:ea typeface="Cambria Math"/>
                            </a:rPr>
                            <m:t>𝑛</m:t>
                          </m:r>
                        </m:sub>
                      </m:sSub>
                      <m:r>
                        <m:rPr/>
                        <a:rPr lang="en-US" b="0" i="1">
                          <a:latin typeface="Cambria Math"/>
                          <a:ea typeface="Cambria Math"/>
                        </a:rPr>
                        <m:t>.</m:t>
                      </m:r>
                      <m:r>
                        <m:rPr/>
                        <a:rPr lang="en-US" b="0" i="1">
                          <a:latin typeface="Cambria Math"/>
                          <a:ea typeface="Cambria Math"/>
                        </a:rPr>
                        <m:t>h𝑜𝑢𝑟</m:t>
                      </m:r>
                      <m:r>
                        <m:rPr/>
                        <a:rPr lang="en-US" b="0" i="1">
                          <a:latin typeface="Cambria Math"/>
                          <a:ea typeface="Cambria Math"/>
                        </a:rPr>
                        <m:t> ∈</m:t>
                      </m:r>
                      <m:r>
                        <m:rPr/>
                        <a:rPr lang="en-US" b="0" i="1">
                          <a:latin typeface="Cambria Math"/>
                          <a:ea typeface="Cambria Math"/>
                        </a:rPr>
                        <m:t>𝐻</m:t>
                      </m:r>
                      <m:r>
                        <m:rPr/>
                        <a:rPr lang="en-US" b="0" i="1">
                          <a:latin typeface="Cambria Math"/>
                          <a:ea typeface="Cambria Math"/>
                        </a:rPr>
                        <m:t>(8, 10, 12から選択)</m:t>
                      </m:r>
                    </m:oMath>
                  </m:oMathPara>
                </a14:m>
              </mc:Choice>
              <mc:Fallback/>
            </mc:AlternateContent>
            <a:endParaRPr lang="en-US" b="0">
              <a:ea typeface="Cambria Math"/>
            </a:endParaRPr>
          </a:p>
          <a:p>
            <a:pPr marL="0" indent="0">
              <a:buNone/>
              <a:defRPr/>
            </a:pPr>
            <a:endParaRPr lang="en-US" b="0">
              <a:ea typeface="Cambria Math"/>
            </a:endParaRPr>
          </a:p>
          <a:p>
            <a:pPr marL="0" indent="0">
              <a:buNone/>
              <a:defRPr/>
            </a:pPr>
            <a:endParaRPr lang="en-US"/>
          </a:p>
        </p:txBody>
      </p:sp>
      <p:graphicFrame>
        <p:nvGraphicFramePr>
          <p:cNvPr id="881779763" name="表 7"/>
          <p:cNvGraphicFramePr>
            <a:graphicFrameLocks xmlns:a="http://schemas.openxmlformats.org/drawingml/2006/main" noGrp="1"/>
          </p:cNvGraphicFramePr>
          <p:nvPr/>
        </p:nvGraphicFramePr>
        <p:xfrm>
          <a:off x="883331" y="3272576"/>
          <a:ext cx="9205297" cy="2701602"/>
        </p:xfrm>
        <a:graphic>
          <a:graphicData uri="http://schemas.openxmlformats.org/drawingml/2006/table">
            <a:tbl>
              <a:tblPr firstRow="1" firstCol="0" lastRow="0" lastCol="0" bandRow="1" bandCol="0">
                <a:tableStyleId>{073A0DAA-6AF3-43AB-8588-CEC1D06C72B9}</a:tableStyleId>
              </a:tblPr>
              <a:tblGrid>
                <a:gridCol w="3073505"/>
                <a:gridCol w="6131792"/>
              </a:tblGrid>
              <a:tr h="368939">
                <a:tc>
                  <a:txBody>
                    <a:bodyPr/>
                    <a:p>
                      <a:pPr>
                        <a:defRPr/>
                      </a:pPr>
                      <a:r>
                        <a:rPr lang="ja-JP" sz="1400"/>
                        <a:t>絶対制約</a:t>
                      </a:r>
                      <a:endParaRPr/>
                    </a:p>
                  </a:txBody>
                  <a:tcPr/>
                </a:tc>
                <a:tc>
                  <a:txBody>
                    <a:bodyPr/>
                    <a:p>
                      <a:pPr>
                        <a:defRPr/>
                      </a:pPr>
                      <a:r>
                        <a:rPr lang="ja-JP" sz="1400"/>
                        <a:t>内容</a:t>
                      </a:r>
                      <a:endParaRPr/>
                    </a:p>
                  </a:txBody>
                  <a:tcPr/>
                </a:tc>
              </a:tr>
              <a:tr h="368855">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工程間順序</a:t>
                      </a:r>
                      <a:endParaRPr/>
                    </a:p>
                  </a:txBody>
                  <a:tcPr/>
                </a:tc>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先行工程の全作業が完了するまで後続工程の作業は開始できない</a:t>
                      </a:r>
                      <a:endParaRPr/>
                    </a:p>
                  </a:txBody>
                  <a:tcPr/>
                </a:tc>
              </a:tr>
              <a:tr h="340536">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工程開始日・終了日</a:t>
                      </a:r>
                      <a:endParaRPr/>
                    </a:p>
                  </a:txBody>
                  <a:tcPr/>
                </a:tc>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装置の各工程ごとに開始・終了日の範囲内で全作業を行う</a:t>
                      </a:r>
                      <a:endParaRPr/>
                    </a:p>
                  </a:txBody>
                  <a:tcPr/>
                </a:tc>
              </a:tr>
              <a:tr h="522156">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必要作業量</a:t>
                      </a:r>
                      <a:endParaRPr/>
                    </a:p>
                  </a:txBody>
                  <a:tcPr/>
                </a:tc>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各作業は、必要な作業量を確実に満たす一方で、過剰に人や時間を投入しすぎないように計画する</a:t>
                      </a:r>
                      <a:endParaRPr/>
                    </a:p>
                  </a:txBody>
                  <a:tcPr/>
                </a:tc>
              </a:tr>
              <a:tr h="363238">
                <a:tc>
                  <a:txBody>
                    <a:bodyPr/>
                    <a:p>
                      <a:pPr marL="0" marR="0" lvl="0" indent="0" algn="l" defTabSz="914400">
                        <a:lnSpc>
                          <a:spcPct val="100000"/>
                        </a:lnSpc>
                        <a:spcBef>
                          <a:spcPts val="0"/>
                        </a:spcBef>
                        <a:spcAft>
                          <a:spcPts val="0"/>
                        </a:spcAft>
                        <a:buClrTx/>
                        <a:buSzTx/>
                        <a:buFontTx/>
                        <a:buNone/>
                        <a:defRPr/>
                      </a:pPr>
                      <a:r>
                        <a:rPr lang="zh-TW" sz="1400" b="0">
                          <a:solidFill>
                            <a:schemeClr val="dk1"/>
                          </a:solidFill>
                          <a:latin typeface="+mn-lt"/>
                          <a:ea typeface="+mn-ea"/>
                          <a:cs typeface="+mn-cs"/>
                        </a:rPr>
                        <a:t>同一日作業重複禁止制約</a:t>
                      </a:r>
                      <a:endParaRPr/>
                    </a:p>
                  </a:txBody>
                  <a:tcPr/>
                </a:tc>
                <a:tc>
                  <a:txBody>
                    <a:bodyPr/>
                    <a:p>
                      <a:pPr marL="0" marR="0" lvl="0" indent="0" algn="l" defTabSz="914400">
                        <a:lnSpc>
                          <a:spcPct val="100000"/>
                        </a:lnSpc>
                        <a:spcBef>
                          <a:spcPts val="0"/>
                        </a:spcBef>
                        <a:spcAft>
                          <a:spcPts val="0"/>
                        </a:spcAft>
                        <a:buClrTx/>
                        <a:buSzTx/>
                        <a:buFontTx/>
                        <a:buNone/>
                        <a:defRPr/>
                      </a:pPr>
                      <a:r>
                        <a:rPr lang="en-US" sz="1400" b="0">
                          <a:solidFill>
                            <a:schemeClr val="dk1"/>
                          </a:solidFill>
                          <a:latin typeface="+mn-lt"/>
                          <a:ea typeface="+mn-ea"/>
                          <a:cs typeface="+mn-cs"/>
                        </a:rPr>
                        <a:t>1</a:t>
                      </a:r>
                      <a:r>
                        <a:rPr lang="ja-JP" sz="1400" b="0">
                          <a:solidFill>
                            <a:schemeClr val="dk1"/>
                          </a:solidFill>
                          <a:latin typeface="+mn-lt"/>
                          <a:ea typeface="+mn-ea"/>
                          <a:cs typeface="+mn-cs"/>
                        </a:rPr>
                        <a:t>人の作業者は</a:t>
                      </a:r>
                      <a:r>
                        <a:rPr lang="en-US" sz="1400" b="0">
                          <a:solidFill>
                            <a:schemeClr val="dk1"/>
                          </a:solidFill>
                          <a:latin typeface="+mn-lt"/>
                          <a:ea typeface="+mn-ea"/>
                          <a:cs typeface="+mn-cs"/>
                        </a:rPr>
                        <a:t>1</a:t>
                      </a:r>
                      <a:r>
                        <a:rPr lang="ja-JP" sz="1400" b="0">
                          <a:solidFill>
                            <a:schemeClr val="dk1"/>
                          </a:solidFill>
                          <a:latin typeface="+mn-lt"/>
                          <a:ea typeface="+mn-ea"/>
                          <a:cs typeface="+mn-cs"/>
                        </a:rPr>
                        <a:t>日に複数の作業を行うことはできない</a:t>
                      </a:r>
                      <a:endParaRPr/>
                    </a:p>
                  </a:txBody>
                  <a:tcPr/>
                </a:tc>
              </a:tr>
              <a:tr h="368939">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スキルマップ</a:t>
                      </a:r>
                      <a:endParaRPr/>
                    </a:p>
                  </a:txBody>
                  <a:tcPr/>
                </a:tc>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作業者が保持しているスキルの作業しか担当できない</a:t>
                      </a:r>
                      <a:endParaRPr/>
                    </a:p>
                  </a:txBody>
                  <a:tcPr/>
                </a:tc>
              </a:tr>
              <a:tr h="368939">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最小・最大作業者数制約</a:t>
                      </a:r>
                      <a:endParaRPr/>
                    </a:p>
                  </a:txBody>
                  <a:tcPr/>
                </a:tc>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作業ごとに</a:t>
                      </a:r>
                      <a:r>
                        <a:rPr lang="en-US" sz="1400" b="0">
                          <a:solidFill>
                            <a:schemeClr val="dk1"/>
                          </a:solidFill>
                          <a:latin typeface="+mn-lt"/>
                          <a:ea typeface="+mn-ea"/>
                          <a:cs typeface="+mn-cs"/>
                        </a:rPr>
                        <a:t>1</a:t>
                      </a:r>
                      <a:r>
                        <a:rPr lang="ja-JP" sz="1400" b="0">
                          <a:solidFill>
                            <a:schemeClr val="dk1"/>
                          </a:solidFill>
                          <a:latin typeface="+mn-lt"/>
                          <a:ea typeface="+mn-ea"/>
                          <a:cs typeface="+mn-cs"/>
                        </a:rPr>
                        <a:t>日で割り当て可能な作業者数の最小・最大</a:t>
                      </a:r>
                      <a:endParaRPr/>
                    </a:p>
                  </a:txBody>
                  <a:tcPr/>
                </a:tc>
              </a:tr>
            </a:tbl>
          </a:graphicData>
        </a:graphic>
      </p:graphicFrame>
      <p:sp>
        <p:nvSpPr>
          <p:cNvPr id="401455800" name="テキスト プレースホルダー 4"/>
          <p:cNvSpPr txBox="1"/>
          <p:nvPr/>
        </p:nvSpPr>
        <p:spPr bwMode="auto">
          <a:xfrm>
            <a:off x="481725" y="2765871"/>
            <a:ext cx="11158111" cy="387463"/>
          </a:xfrm>
          <a:prstGeom prst="rect">
            <a:avLst/>
          </a:prstGeom>
        </p:spPr>
        <p:txBody>
          <a:bodyPr vert="horz" lIns="91440" tIns="45720" rIns="91440" bIns="45720" rtlCol="0">
            <a:normAutofit/>
          </a:bodyPr>
          <a:lstStyle>
            <a:lvl1pPr marL="228600" indent="-228600" algn="l" defTabSz="914400">
              <a:lnSpc>
                <a:spcPct val="100000"/>
              </a:lnSpc>
              <a:spcBef>
                <a:spcPts val="0"/>
              </a:spcBef>
              <a:spcAft>
                <a:spcPts val="600"/>
              </a:spcAft>
              <a:buFont typeface="Wingdings"/>
              <a:buChar char="l"/>
              <a:defRPr sz="2000">
                <a:solidFill>
                  <a:schemeClr val="bg2">
                    <a:lumMod val="25000"/>
                  </a:schemeClr>
                </a:solidFill>
                <a:latin typeface="+mj-ea"/>
                <a:ea typeface="+mj-ea"/>
                <a:cs typeface="+mn-cs"/>
              </a:defRPr>
            </a:lvl1pPr>
            <a:lvl2pPr marL="540000" indent="-288000" algn="l" defTabSz="914400">
              <a:lnSpc>
                <a:spcPct val="100000"/>
              </a:lnSpc>
              <a:spcBef>
                <a:spcPts val="0"/>
              </a:spcBef>
              <a:spcAft>
                <a:spcPts val="600"/>
              </a:spcAft>
              <a:buClrTx/>
              <a:buFont typeface="ヒラギノ角ゴ ProN W3"/>
              <a:buChar char="―"/>
              <a:defRPr sz="1800">
                <a:solidFill>
                  <a:schemeClr val="bg2">
                    <a:lumMod val="25000"/>
                  </a:schemeClr>
                </a:solidFill>
                <a:latin typeface="ヒラギノ角ゴ ProN W3"/>
                <a:ea typeface="ヒラギノ角ゴ ProN W3"/>
                <a:cs typeface="+mn-cs"/>
              </a:defRPr>
            </a:lvl2pPr>
            <a:lvl3pPr marL="792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3pPr>
            <a:lvl4pPr marL="1044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4pPr>
            <a:lvl5pPr marL="1332000" indent="-180000" algn="l" defTabSz="914400">
              <a:lnSpc>
                <a:spcPct val="100000"/>
              </a:lnSpc>
              <a:spcBef>
                <a:spcPts val="0"/>
              </a:spcBef>
              <a:spcAft>
                <a:spcPts val="600"/>
              </a:spcAft>
              <a:buFont typeface="Arial"/>
              <a:buChar char="•"/>
              <a:defRPr sz="1800">
                <a:solidFill>
                  <a:schemeClr val="bg2">
                    <a:lumMod val="50000"/>
                  </a:schemeClr>
                </a:solidFill>
                <a:latin typeface="Avenir Next LT Pro"/>
                <a:ea typeface="ヒラギノ角ゴ ProN W3"/>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ja-JP" sz="1800"/>
              <a:t>対応要件</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4387093" name="タイトル 1"/>
          <p:cNvSpPr>
            <a:spLocks noGrp="1"/>
          </p:cNvSpPr>
          <p:nvPr>
            <p:ph type="title"/>
          </p:nvPr>
        </p:nvSpPr>
        <p:spPr bwMode="auto"/>
        <p:txBody>
          <a:bodyPr/>
          <a:lstStyle/>
          <a:p>
            <a:pPr>
              <a:defRPr/>
            </a:pPr>
            <a:r>
              <a:rPr lang="en-US"/>
              <a:t>Timefold</a:t>
            </a:r>
            <a:r>
              <a:rPr lang="ja-JP"/>
              <a:t>の初期検証</a:t>
            </a:r>
            <a:endParaRPr lang="ja-JP"/>
          </a:p>
        </p:txBody>
      </p:sp>
      <p:sp>
        <p:nvSpPr>
          <p:cNvPr id="747765476" name="フッター プレースホルダー 2"/>
          <p:cNvSpPr>
            <a:spLocks noGrp="1"/>
          </p:cNvSpPr>
          <p:nvPr>
            <p:ph type="ftr" sz="quarter" idx="11"/>
          </p:nvPr>
        </p:nvSpPr>
        <p:spPr bwMode="auto"/>
        <p:txBody>
          <a:bodyPr/>
          <a:lstStyle/>
          <a:p>
            <a:pPr>
              <a:defRPr/>
            </a:pPr>
            <a:endParaRPr lang="ja-JP"/>
          </a:p>
        </p:txBody>
      </p:sp>
      <p:sp>
        <p:nvSpPr>
          <p:cNvPr id="1142568232" name="スライド番号プレースホルダー 3"/>
          <p:cNvSpPr>
            <a:spLocks noGrp="1"/>
          </p:cNvSpPr>
          <p:nvPr>
            <p:ph type="sldNum" sz="quarter" idx="12"/>
          </p:nvPr>
        </p:nvSpPr>
        <p:spPr bwMode="auto"/>
        <p:txBody>
          <a:bodyPr/>
          <a:lstStyle/>
          <a:p>
            <a:pPr>
              <a:defRPr/>
            </a:pPr>
            <a:fld id="{9EE375CF-DE78-44C2-B104-2824F80826E0}" type="slidenum">
              <a:rPr lang="ja-JP"/>
              <a:t>3</a:t>
            </a:fld>
            <a:endParaRPr lang="ja-JP"/>
          </a:p>
        </p:txBody>
      </p:sp>
      <p:sp>
        <p:nvSpPr>
          <p:cNvPr id="190953938" name="テキスト プレースホルダー 4"/>
          <p:cNvSpPr>
            <a:spLocks noGrp="1"/>
          </p:cNvSpPr>
          <p:nvPr>
            <p:ph type="body" sz="quarter" idx="16"/>
          </p:nvPr>
        </p:nvSpPr>
        <p:spPr bwMode="auto">
          <a:xfrm>
            <a:off x="513531" y="908366"/>
            <a:ext cx="11158111" cy="5371410"/>
          </a:xfrm>
        </p:spPr>
        <p:txBody>
          <a:bodyPr>
            <a:normAutofit/>
          </a:bodyPr>
          <a:lstStyle/>
          <a:p>
            <a:pPr>
              <a:defRPr/>
            </a:pPr>
            <a:r>
              <a:rPr lang="ja-JP"/>
              <a:t>目的関数</a:t>
            </a:r>
            <a:endParaRPr lang="en-US"/>
          </a:p>
          <a:p>
            <a:pPr marL="0" indent="0">
              <a:buNone/>
              <a:defRPr/>
            </a:pPr>
            <a:r>
              <a:rPr lang="ja-JP"/>
              <a:t>全ての考慮制約から得られるスコアの合計を最大化する</a:t>
            </a:r>
            <a:endParaRPr lang="en-US"/>
          </a:p>
          <a:p>
            <a:pPr marL="0" indent="0">
              <a:buNone/>
              <a:defRPr/>
            </a:pPr>
            <a:r>
              <a:rPr lang="ja-JP"/>
              <a:t>初期検証では工程完了の最適化を優先し、作業者負荷の最適化を二次的に扱った</a:t>
            </a:r>
            <a:endParaRPr/>
          </a:p>
        </p:txBody>
      </p:sp>
      <p:graphicFrame>
        <p:nvGraphicFramePr>
          <p:cNvPr id="1650916200" name="表 4"/>
          <p:cNvGraphicFramePr>
            <a:graphicFrameLocks xmlns:a="http://schemas.openxmlformats.org/drawingml/2006/main" noGrp="1"/>
          </p:cNvGraphicFramePr>
          <p:nvPr/>
        </p:nvGraphicFramePr>
        <p:xfrm>
          <a:off x="745594" y="2258184"/>
          <a:ext cx="10520406" cy="2341631"/>
        </p:xfrm>
        <a:graphic>
          <a:graphicData uri="http://schemas.openxmlformats.org/drawingml/2006/table">
            <a:tbl>
              <a:tblPr firstRow="1" firstCol="0" lastRow="0" lastCol="0" bandRow="1" bandCol="0">
                <a:tableStyleId>{073A0DAA-6AF3-43AB-8588-CEC1D06C72B9}</a:tableStyleId>
              </a:tblPr>
              <a:tblGrid>
                <a:gridCol w="1603119"/>
                <a:gridCol w="982413"/>
                <a:gridCol w="3786069"/>
                <a:gridCol w="4148804"/>
              </a:tblGrid>
              <a:tr h="368939">
                <a:tc>
                  <a:txBody>
                    <a:bodyPr/>
                    <a:p>
                      <a:pPr>
                        <a:defRPr/>
                      </a:pPr>
                      <a:r>
                        <a:rPr lang="ja-JP" sz="1400"/>
                        <a:t>考慮制約</a:t>
                      </a:r>
                      <a:endParaRPr/>
                    </a:p>
                  </a:txBody>
                  <a:tcPr/>
                </a:tc>
                <a:tc>
                  <a:txBody>
                    <a:bodyPr/>
                    <a:p>
                      <a:pPr>
                        <a:defRPr/>
                      </a:pPr>
                      <a:r>
                        <a:rPr lang="ja-JP" sz="1400"/>
                        <a:t>種別</a:t>
                      </a:r>
                      <a:endParaRPr/>
                    </a:p>
                  </a:txBody>
                  <a:tcPr/>
                </a:tc>
                <a:tc>
                  <a:txBody>
                    <a:bodyPr/>
                    <a:p>
                      <a:pPr>
                        <a:defRPr/>
                      </a:pPr>
                      <a:r>
                        <a:rPr lang="ja-JP" sz="1400"/>
                        <a:t>スコア</a:t>
                      </a:r>
                      <a:endParaRPr/>
                    </a:p>
                  </a:txBody>
                  <a:tcPr/>
                </a:tc>
                <a:tc>
                  <a:txBody>
                    <a:bodyPr/>
                    <a:p>
                      <a:pPr>
                        <a:defRPr/>
                      </a:pPr>
                      <a:r>
                        <a:rPr lang="ja-JP" sz="1400"/>
                        <a:t>内容</a:t>
                      </a:r>
                      <a:endParaRPr/>
                    </a:p>
                  </a:txBody>
                  <a:tcPr/>
                </a:tc>
              </a:tr>
              <a:tr h="368855">
                <a:tc>
                  <a:txBody>
                    <a:bodyPr/>
                    <a:p>
                      <a:pPr marL="0" marR="0" lvl="0" indent="0" algn="l" defTabSz="914400">
                        <a:lnSpc>
                          <a:spcPct val="100000"/>
                        </a:lnSpc>
                        <a:spcBef>
                          <a:spcPts val="0"/>
                        </a:spcBef>
                        <a:spcAft>
                          <a:spcPts val="0"/>
                        </a:spcAft>
                        <a:buClrTx/>
                        <a:buSzTx/>
                        <a:buFontTx/>
                        <a:buNone/>
                        <a:defRPr/>
                      </a:pPr>
                      <a:r>
                        <a:rPr lang="en-US" sz="1400" b="0">
                          <a:solidFill>
                            <a:schemeClr val="dk1"/>
                          </a:solidFill>
                          <a:latin typeface="+mn-lt"/>
                          <a:ea typeface="+mn-ea"/>
                          <a:cs typeface="+mn-cs"/>
                        </a:rPr>
                        <a:t>Makespan</a:t>
                      </a:r>
                      <a:r>
                        <a:rPr lang="ja-JP" sz="1400" b="0">
                          <a:solidFill>
                            <a:schemeClr val="dk1"/>
                          </a:solidFill>
                          <a:latin typeface="+mn-lt"/>
                          <a:ea typeface="+mn-ea"/>
                          <a:cs typeface="+mn-cs"/>
                        </a:rPr>
                        <a:t>最小化</a:t>
                      </a:r>
                      <a:endParaRPr lang="en-US" sz="1400" b="0">
                        <a:solidFill>
                          <a:schemeClr val="dk1"/>
                        </a:solidFill>
                        <a:latin typeface="+mn-lt"/>
                        <a:ea typeface="+mn-ea"/>
                        <a:cs typeface="+mn-cs"/>
                      </a:endParaRPr>
                    </a:p>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（前詰め近似）</a:t>
                      </a:r>
                      <a:endParaRPr/>
                    </a:p>
                  </a:txBody>
                  <a:tcPr/>
                </a:tc>
                <a:tc>
                  <a:txBody>
                    <a:bodyPr/>
                    <a:p>
                      <a:pPr marL="0" marR="0" lvl="0" indent="0" algn="l" defTabSz="914400">
                        <a:lnSpc>
                          <a:spcPct val="100000"/>
                        </a:lnSpc>
                        <a:spcBef>
                          <a:spcPts val="0"/>
                        </a:spcBef>
                        <a:spcAft>
                          <a:spcPts val="0"/>
                        </a:spcAft>
                        <a:buClrTx/>
                        <a:buSzTx/>
                        <a:buFontTx/>
                        <a:buNone/>
                        <a:defRPr/>
                      </a:pPr>
                      <a:r>
                        <a:rPr lang="en-US" sz="1400" b="0">
                          <a:solidFill>
                            <a:schemeClr val="dk1"/>
                          </a:solidFill>
                          <a:latin typeface="+mn-lt"/>
                          <a:ea typeface="+mn-ea"/>
                          <a:cs typeface="+mn-cs"/>
                        </a:rPr>
                        <a:t>Medium</a:t>
                      </a:r>
                      <a:endParaRPr lang="ja-JP" sz="1400" b="0">
                        <a:solidFill>
                          <a:schemeClr val="dk1"/>
                        </a:solidFill>
                        <a:latin typeface="+mn-lt"/>
                        <a:ea typeface="+mn-ea"/>
                        <a:cs typeface="+mn-cs"/>
                      </a:endParaRPr>
                    </a:p>
                  </a:txBody>
                  <a:tcPr/>
                </a:tc>
                <a:tc>
                  <a:txBody>
                    <a:bodyPr/>
                    <a:p>
                      <a:pPr marL="0" marR="0" lvl="0" indent="0" algn="l" defTabSz="914400">
                        <a:lnSpc>
                          <a:spcPct val="100000"/>
                        </a:lnSpc>
                        <a:spcBef>
                          <a:spcPts val="0"/>
                        </a:spcBef>
                        <a:spcAft>
                          <a:spcPts val="0"/>
                        </a:spcAft>
                        <a:buClrTx/>
                        <a:buSzTx/>
                        <a:buFontTx/>
                        <a:buNone/>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1400" b="0" i="1">
                                    <a:solidFill>
                                      <a:schemeClr val="dk1"/>
                                    </a:solidFill>
                                    <a:latin typeface="Cambria Math"/>
                                    <a:ea typeface="+mn-ea"/>
                                    <a:cs typeface="+mn-cs"/>
                                  </a:rPr>
                                  <m:t>−</m:t>
                                </m:r>
                                <m:nary>
                                  <m:naryPr>
                                    <m:chr m:val="∑"/>
                                    <m:grow m:val="off"/>
                                    <m:subHide m:val="on"/>
                                    <m:supHide m:val="on"/>
                                    <m:ctrlPr>
                                      <a:rPr lang="ja-JP" sz="1400" b="0" i="1">
                                        <a:solidFill>
                                          <a:schemeClr val="dk1"/>
                                        </a:solidFill>
                                        <a:latin typeface="Cambria Math"/>
                                        <a:ea typeface="+mn-ea"/>
                                        <a:cs typeface="+mn-cs"/>
                                      </a:rPr>
                                    </m:ctrlPr>
                                  </m:naryPr>
                                  <m:sub/>
                                  <m:sup/>
                                  <m:e>
                                    <m:sSub>
                                      <m:sSubPr>
                                        <m:ctrlPr>
                                          <a:rPr lang="en-US" sz="1400" b="0" i="1">
                                            <a:solidFill>
                                              <a:schemeClr val="dk1"/>
                                            </a:solidFill>
                                            <a:latin typeface="Cambria Math"/>
                                            <a:ea typeface="+mn-ea"/>
                                            <a:cs typeface="+mn-cs"/>
                                          </a:rPr>
                                        </m:ctrlPr>
                                      </m:sSubPr>
                                      <m:e>
                                        <m:r>
                                          <m:rPr/>
                                          <a:rPr lang="en-US" sz="1400" b="0" i="1">
                                            <a:solidFill>
                                              <a:schemeClr val="dk1"/>
                                            </a:solidFill>
                                            <a:latin typeface="Cambria Math"/>
                                            <a:ea typeface="+mn-ea"/>
                                            <a:cs typeface="+mn-cs"/>
                                          </a:rPr>
                                          <m:t>(</m:t>
                                        </m:r>
                                        <m:r>
                                          <m:rPr/>
                                          <a:rPr lang="en-US" sz="1400" b="0" i="1">
                                            <a:solidFill>
                                              <a:schemeClr val="dk1"/>
                                            </a:solidFill>
                                            <a:latin typeface="Cambria Math"/>
                                            <a:ea typeface="+mn-ea"/>
                                            <a:cs typeface="+mn-cs"/>
                                          </a:rPr>
                                          <m:t>𝑈</m:t>
                                        </m:r>
                                      </m:e>
                                      <m:sub>
                                        <m:r>
                                          <m:rPr/>
                                          <a:rPr lang="en-US" sz="1400" b="0" i="1">
                                            <a:solidFill>
                                              <a:schemeClr val="dk1"/>
                                            </a:solidFill>
                                            <a:latin typeface="Cambria Math"/>
                                            <a:ea typeface="+mn-ea"/>
                                            <a:cs typeface="+mn-cs"/>
                                          </a:rPr>
                                          <m:t>𝑛</m:t>
                                        </m:r>
                                      </m:sub>
                                    </m:sSub>
                                    <m:r>
                                      <m:rPr/>
                                      <a:rPr lang="en-US" sz="1400" b="0" i="1">
                                        <a:solidFill>
                                          <a:schemeClr val="dk1"/>
                                        </a:solidFill>
                                        <a:latin typeface="Cambria Math"/>
                                        <a:ea typeface="+mn-ea"/>
                                        <a:cs typeface="+mn-cs"/>
                                      </a:rPr>
                                      <m:t>.</m:t>
                                    </m:r>
                                    <m:r>
                                      <m:rPr/>
                                      <a:rPr lang="en-US" sz="1400" b="0" i="1">
                                        <a:solidFill>
                                          <a:schemeClr val="dk1"/>
                                        </a:solidFill>
                                        <a:latin typeface="Cambria Math"/>
                                        <a:ea typeface="+mn-ea"/>
                                        <a:cs typeface="+mn-cs"/>
                                      </a:rPr>
                                      <m:t>𝑑𝑎𝑦</m:t>
                                    </m:r>
                                    <m:r>
                                      <m:rPr/>
                                      <a:rPr lang="en-US" sz="1400" b="0" i="1">
                                        <a:solidFill>
                                          <a:schemeClr val="dk1"/>
                                        </a:solidFill>
                                        <a:latin typeface="Cambria Math"/>
                                        <a:ea typeface="+mn-ea"/>
                                        <a:cs typeface="+mn-cs"/>
                                      </a:rPr>
                                      <m:t> −</m:t>
                                    </m:r>
                                    <m:sSub>
                                      <m:sSubPr>
                                        <m:ctrlPr>
                                          <a:rPr lang="en-US" sz="1400" b="0" i="1">
                                            <a:solidFill>
                                              <a:schemeClr val="dk1"/>
                                            </a:solidFill>
                                            <a:latin typeface="Cambria Math"/>
                                            <a:ea typeface="+mn-ea"/>
                                            <a:cs typeface="+mn-cs"/>
                                          </a:rPr>
                                        </m:ctrlPr>
                                      </m:sSubPr>
                                      <m:e>
                                        <m:r>
                                          <m:rPr/>
                                          <a:rPr lang="en-US" sz="1400" b="0" i="1">
                                            <a:solidFill>
                                              <a:schemeClr val="dk1"/>
                                            </a:solidFill>
                                            <a:latin typeface="Cambria Math"/>
                                            <a:ea typeface="+mn-ea"/>
                                            <a:cs typeface="+mn-cs"/>
                                          </a:rPr>
                                          <m:t>𝑈</m:t>
                                        </m:r>
                                      </m:e>
                                      <m:sub>
                                        <m:r>
                                          <m:rPr/>
                                          <a:rPr lang="en-US" sz="1400" b="0" i="1">
                                            <a:solidFill>
                                              <a:schemeClr val="dk1"/>
                                            </a:solidFill>
                                            <a:latin typeface="Cambria Math"/>
                                            <a:ea typeface="+mn-ea"/>
                                            <a:cs typeface="+mn-cs"/>
                                          </a:rPr>
                                          <m:t>𝑛</m:t>
                                        </m:r>
                                      </m:sub>
                                    </m:sSub>
                                    <m:r>
                                      <m:rPr/>
                                      <a:rPr lang="en-US" sz="1400" b="0" i="1">
                                        <a:solidFill>
                                          <a:schemeClr val="dk1"/>
                                        </a:solidFill>
                                        <a:latin typeface="Cambria Math"/>
                                        <a:ea typeface="+mn-ea"/>
                                        <a:cs typeface="+mn-cs"/>
                                      </a:rPr>
                                      <m:t>.</m:t>
                                    </m:r>
                                    <m:r>
                                      <m:rPr/>
                                      <a:rPr lang="en-US" sz="1400" b="0" i="1">
                                        <a:solidFill>
                                          <a:schemeClr val="dk1"/>
                                        </a:solidFill>
                                        <a:latin typeface="Cambria Math"/>
                                        <a:ea typeface="+mn-ea"/>
                                        <a:cs typeface="+mn-cs"/>
                                      </a:rPr>
                                      <m:t>𝑠𝑡𝑎𝑟𝑡𝐷𝑎𝑦</m:t>
                                    </m:r>
                                    <m:r>
                                      <m:rPr/>
                                      <a:rPr lang="en-US" sz="1400" b="0" i="1">
                                        <a:solidFill>
                                          <a:schemeClr val="dk1"/>
                                        </a:solidFill>
                                        <a:latin typeface="Cambria Math"/>
                                        <a:ea typeface="+mn-ea"/>
                                        <a:cs typeface="+mn-cs"/>
                                      </a:rPr>
                                      <m:t>)</m:t>
                                    </m:r>
                                  </m:e>
                                </m:nary>
                              </m:oMath>
                            </m:oMathPara>
                          </a14:m>
                        </mc:Choice>
                        <mc:Fallback/>
                      </mc:AlternateContent>
                      <a:endParaRPr lang="ja-JP" sz="1400" b="0">
                        <a:solidFill>
                          <a:schemeClr val="dk1"/>
                        </a:solidFill>
                        <a:latin typeface="+mn-lt"/>
                        <a:ea typeface="+mn-ea"/>
                        <a:cs typeface="+mn-cs"/>
                      </a:endParaRPr>
                    </a:p>
                  </a:txBody>
                  <a:tcPr/>
                </a:tc>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個々の作業枠の日が開始日に近いほど小さくなる。</a:t>
                      </a:r>
                      <a:endParaRPr lang="en-US" sz="1400" b="0">
                        <a:solidFill>
                          <a:schemeClr val="dk1"/>
                        </a:solidFill>
                        <a:latin typeface="+mn-lt"/>
                        <a:ea typeface="+mn-ea"/>
                        <a:cs typeface="+mn-cs"/>
                      </a:endParaRPr>
                    </a:p>
                    <a:p>
                      <a:pPr marL="0" marR="0" lvl="0" indent="0" algn="l" defTabSz="914400">
                        <a:lnSpc>
                          <a:spcPct val="100000"/>
                        </a:lnSpc>
                        <a:spcBef>
                          <a:spcPts val="0"/>
                        </a:spcBef>
                        <a:spcAft>
                          <a:spcPts val="0"/>
                        </a:spcAft>
                        <a:buClrTx/>
                        <a:buSzTx/>
                        <a:buFontTx/>
                        <a:buNone/>
                        <a:defRPr/>
                      </a:pPr>
                      <a:r>
                        <a:rPr lang="en-US" sz="1400" b="0">
                          <a:solidFill>
                            <a:schemeClr val="dk1"/>
                          </a:solidFill>
                          <a:latin typeface="+mn-lt"/>
                          <a:ea typeface="+mn-ea"/>
                          <a:cs typeface="+mn-cs"/>
                        </a:rPr>
                        <a:t>Makespan</a:t>
                      </a:r>
                      <a:r>
                        <a:rPr lang="ja-JP" sz="1400" b="0">
                          <a:solidFill>
                            <a:schemeClr val="dk1"/>
                          </a:solidFill>
                          <a:latin typeface="+mn-lt"/>
                          <a:ea typeface="+mn-ea"/>
                          <a:cs typeface="+mn-cs"/>
                        </a:rPr>
                        <a:t>の近似として、全ての作業枠を前詰めする。</a:t>
                      </a:r>
                      <a:endParaRPr/>
                    </a:p>
                  </a:txBody>
                  <a:tcPr/>
                </a:tc>
              </a:tr>
              <a:tr h="340536">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残業時間最小化</a:t>
                      </a:r>
                      <a:endParaRPr/>
                    </a:p>
                  </a:txBody>
                  <a:tcPr/>
                </a:tc>
                <a:tc>
                  <a:txBody>
                    <a:bodyPr/>
                    <a:p>
                      <a:pPr marL="0" marR="0" lvl="0" indent="0" algn="l" defTabSz="914400">
                        <a:lnSpc>
                          <a:spcPct val="100000"/>
                        </a:lnSpc>
                        <a:spcBef>
                          <a:spcPts val="0"/>
                        </a:spcBef>
                        <a:spcAft>
                          <a:spcPts val="0"/>
                        </a:spcAft>
                        <a:buClrTx/>
                        <a:buSzTx/>
                        <a:buFontTx/>
                        <a:buNone/>
                        <a:defRPr/>
                      </a:pPr>
                      <a:r>
                        <a:rPr lang="en-US" sz="1400" b="0">
                          <a:solidFill>
                            <a:schemeClr val="dk1"/>
                          </a:solidFill>
                          <a:latin typeface="+mn-lt"/>
                          <a:ea typeface="+mn-ea"/>
                          <a:cs typeface="+mn-cs"/>
                        </a:rPr>
                        <a:t>Soft</a:t>
                      </a:r>
                      <a:endParaRPr lang="ja-JP" sz="1400" b="0">
                        <a:solidFill>
                          <a:schemeClr val="dk1"/>
                        </a:solidFill>
                        <a:latin typeface="+mn-lt"/>
                        <a:ea typeface="+mn-ea"/>
                        <a:cs typeface="+mn-cs"/>
                      </a:endParaRPr>
                    </a:p>
                  </a:txBody>
                  <a:tcPr/>
                </a:tc>
                <a:tc>
                  <a:txBody>
                    <a:bodyPr/>
                    <a:p>
                      <a:pPr marL="0" marR="0" lvl="0" indent="0" algn="l" defTabSz="914400">
                        <a:lnSpc>
                          <a:spcPct val="100000"/>
                        </a:lnSpc>
                        <a:spcBef>
                          <a:spcPts val="0"/>
                        </a:spcBef>
                        <a:spcAft>
                          <a:spcPts val="0"/>
                        </a:spcAft>
                        <a:buClrTx/>
                        <a:buSzTx/>
                        <a:buFontTx/>
                        <a:buNone/>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1400" b="0" i="1">
                                    <a:solidFill>
                                      <a:schemeClr val="dk1"/>
                                    </a:solidFill>
                                    <a:latin typeface="Cambria Math"/>
                                    <a:ea typeface="+mn-ea"/>
                                    <a:cs typeface="+mn-cs"/>
                                  </a:rPr>
                                  <m:t>−</m:t>
                                </m:r>
                                <m:nary>
                                  <m:naryPr>
                                    <m:chr m:val="∑"/>
                                    <m:grow m:val="off"/>
                                    <m:subHide m:val="on"/>
                                    <m:supHide m:val="on"/>
                                    <m:ctrlPr>
                                      <a:rPr lang="ja-JP" sz="1400" b="0" i="1">
                                        <a:solidFill>
                                          <a:schemeClr val="dk1"/>
                                        </a:solidFill>
                                        <a:latin typeface="Cambria Math"/>
                                        <a:ea typeface="+mn-ea"/>
                                        <a:cs typeface="+mn-cs"/>
                                      </a:rPr>
                                    </m:ctrlPr>
                                  </m:naryPr>
                                  <m:sub/>
                                  <m:sup/>
                                  <m:e>
                                    <m:r>
                                      <m:rPr/>
                                      <a:rPr lang="en-US" sz="1400" b="0" i="1">
                                        <a:solidFill>
                                          <a:schemeClr val="dk1"/>
                                        </a:solidFill>
                                        <a:latin typeface="Cambria Math"/>
                                        <a:ea typeface="+mn-ea"/>
                                        <a:cs typeface="+mn-cs"/>
                                      </a:rPr>
                                      <m:t>(</m:t>
                                    </m:r>
                                    <m:sSub>
                                      <m:sSubPr>
                                        <m:ctrlPr>
                                          <a:rPr lang="en-US" sz="1400" b="0" i="1">
                                            <a:solidFill>
                                              <a:schemeClr val="dk1"/>
                                            </a:solidFill>
                                            <a:latin typeface="Cambria Math"/>
                                            <a:ea typeface="+mn-ea"/>
                                            <a:cs typeface="+mn-cs"/>
                                          </a:rPr>
                                        </m:ctrlPr>
                                      </m:sSubPr>
                                      <m:e>
                                        <m:r>
                                          <m:rPr/>
                                          <a:rPr lang="en-US" sz="1400" b="0" i="1">
                                            <a:solidFill>
                                              <a:schemeClr val="dk1"/>
                                            </a:solidFill>
                                            <a:latin typeface="Cambria Math"/>
                                            <a:ea typeface="+mn-ea"/>
                                            <a:cs typeface="+mn-cs"/>
                                          </a:rPr>
                                          <m:t>𝑈</m:t>
                                        </m:r>
                                      </m:e>
                                      <m:sub>
                                        <m:r>
                                          <m:rPr/>
                                          <a:rPr lang="en-US" sz="1400" b="0" i="1">
                                            <a:solidFill>
                                              <a:schemeClr val="dk1"/>
                                            </a:solidFill>
                                            <a:latin typeface="Cambria Math"/>
                                            <a:ea typeface="+mn-ea"/>
                                            <a:cs typeface="+mn-cs"/>
                                          </a:rPr>
                                          <m:t>𝑛</m:t>
                                        </m:r>
                                      </m:sub>
                                    </m:sSub>
                                    <m:r>
                                      <m:rPr/>
                                      <a:rPr lang="en-US" sz="1400" b="0" i="1">
                                        <a:solidFill>
                                          <a:schemeClr val="dk1"/>
                                        </a:solidFill>
                                        <a:latin typeface="Cambria Math"/>
                                        <a:ea typeface="+mn-ea"/>
                                        <a:cs typeface="+mn-cs"/>
                                      </a:rPr>
                                      <m:t>.</m:t>
                                    </m:r>
                                    <m:r>
                                      <m:rPr/>
                                      <a:rPr lang="en-US" sz="1400" b="0" i="1">
                                        <a:solidFill>
                                          <a:schemeClr val="dk1"/>
                                        </a:solidFill>
                                        <a:latin typeface="Cambria Math"/>
                                        <a:ea typeface="+mn-ea"/>
                                        <a:cs typeface="+mn-cs"/>
                                      </a:rPr>
                                      <m:t>h𝑜𝑢𝑟</m:t>
                                    </m:r>
                                    <m:r>
                                      <m:rPr/>
                                      <a:rPr lang="en-US" sz="1400" b="0" i="1">
                                        <a:solidFill>
                                          <a:schemeClr val="dk1"/>
                                        </a:solidFill>
                                        <a:latin typeface="Cambria Math"/>
                                        <a:ea typeface="+mn-ea"/>
                                        <a:cs typeface="+mn-cs"/>
                                      </a:rPr>
                                      <m:t> −8)</m:t>
                                    </m:r>
                                  </m:e>
                                </m:nary>
                              </m:oMath>
                            </m:oMathPara>
                          </a14:m>
                        </mc:Choice>
                        <mc:Fallback/>
                      </mc:AlternateContent>
                      <a:endParaRPr lang="ja-JP" sz="1400" b="0">
                        <a:solidFill>
                          <a:schemeClr val="dk1"/>
                        </a:solidFill>
                        <a:latin typeface="+mn-lt"/>
                        <a:ea typeface="+mn-ea"/>
                        <a:cs typeface="+mn-cs"/>
                      </a:endParaRPr>
                    </a:p>
                  </a:txBody>
                  <a:tcPr/>
                </a:tc>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個々の作業枠の作業時間を標準作業時間</a:t>
                      </a:r>
                      <a:r>
                        <a:rPr lang="en-US" sz="1400" b="0">
                          <a:solidFill>
                            <a:schemeClr val="dk1"/>
                          </a:solidFill>
                          <a:latin typeface="+mn-lt"/>
                          <a:ea typeface="+mn-ea"/>
                          <a:cs typeface="+mn-cs"/>
                        </a:rPr>
                        <a:t>(8hour)</a:t>
                      </a:r>
                      <a:r>
                        <a:rPr lang="ja-JP" sz="1400" b="0">
                          <a:solidFill>
                            <a:schemeClr val="dk1"/>
                          </a:solidFill>
                          <a:latin typeface="+mn-lt"/>
                          <a:ea typeface="+mn-ea"/>
                          <a:cs typeface="+mn-cs"/>
                        </a:rPr>
                        <a:t>に近づける。</a:t>
                      </a:r>
                      <a:endParaRPr/>
                    </a:p>
                  </a:txBody>
                  <a:tcPr/>
                </a:tc>
              </a:tr>
              <a:tr h="522156">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作業量平準化</a:t>
                      </a:r>
                      <a:endParaRPr/>
                    </a:p>
                  </a:txBody>
                  <a:tcPr/>
                </a:tc>
                <a:tc>
                  <a:txBody>
                    <a:bodyPr/>
                    <a:p>
                      <a:pPr marL="0" marR="0" lvl="0" indent="0" algn="l" defTabSz="914400">
                        <a:lnSpc>
                          <a:spcPct val="100000"/>
                        </a:lnSpc>
                        <a:spcBef>
                          <a:spcPts val="0"/>
                        </a:spcBef>
                        <a:spcAft>
                          <a:spcPts val="0"/>
                        </a:spcAft>
                        <a:buClrTx/>
                        <a:buSzTx/>
                        <a:buFontTx/>
                        <a:buNone/>
                        <a:defRPr/>
                      </a:pPr>
                      <a:r>
                        <a:rPr lang="en-US" sz="1400" b="0">
                          <a:solidFill>
                            <a:schemeClr val="dk1"/>
                          </a:solidFill>
                          <a:latin typeface="+mn-lt"/>
                          <a:ea typeface="+mn-ea"/>
                          <a:cs typeface="+mn-cs"/>
                        </a:rPr>
                        <a:t>Soft</a:t>
                      </a:r>
                      <a:endParaRPr lang="ja-JP" sz="1400" b="0">
                        <a:solidFill>
                          <a:schemeClr val="dk1"/>
                        </a:solidFill>
                        <a:latin typeface="+mn-lt"/>
                        <a:ea typeface="+mn-ea"/>
                        <a:cs typeface="+mn-cs"/>
                      </a:endParaRPr>
                    </a:p>
                  </a:txBody>
                  <a:tcPr/>
                </a:tc>
                <a:tc>
                  <a:txBody>
                    <a:bodyPr/>
                    <a:p>
                      <a:pPr marL="0" marR="0" lvl="0" indent="0" algn="l" defTabSz="914400">
                        <a:lnSpc>
                          <a:spcPct val="100000"/>
                        </a:lnSpc>
                        <a:spcBef>
                          <a:spcPts val="0"/>
                        </a:spcBef>
                        <a:spcAft>
                          <a:spcPts val="0"/>
                        </a:spcAft>
                        <a:buClrTx/>
                        <a:buSzTx/>
                        <a:buFontTx/>
                        <a:buNone/>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1400" b="0" i="1">
                                    <a:solidFill>
                                      <a:schemeClr val="dk1"/>
                                    </a:solidFill>
                                    <a:latin typeface="Cambria Math"/>
                                    <a:ea typeface="+mn-ea"/>
                                    <a:cs typeface="+mn-cs"/>
                                  </a:rPr>
                                  <m:t>−</m:t>
                                </m:r>
                                <m:nary>
                                  <m:naryPr>
                                    <m:chr m:val="∑"/>
                                    <m:grow m:val="off"/>
                                    <m:supHide m:val="on"/>
                                    <m:ctrlPr>
                                      <a:rPr lang="ja-JP" sz="1400" b="0" i="1">
                                        <a:solidFill>
                                          <a:schemeClr val="dk1"/>
                                        </a:solidFill>
                                        <a:latin typeface="Cambria Math"/>
                                        <a:ea typeface="+mn-ea"/>
                                        <a:cs typeface="+mn-cs"/>
                                      </a:rPr>
                                    </m:ctrlPr>
                                  </m:naryPr>
                                  <m:sub>
                                    <m:r>
                                      <m:rPr>
                                        <m:brk m:alnAt="7"/>
                                      </m:rPr>
                                      <a:rPr lang="en-US" sz="1400" b="0" i="1">
                                        <a:solidFill>
                                          <a:schemeClr val="dk1"/>
                                        </a:solidFill>
                                        <a:latin typeface="Cambria Math"/>
                                        <a:ea typeface="+mn-ea"/>
                                        <a:cs typeface="+mn-cs"/>
                                      </a:rPr>
                                      <m:t>𝑒</m:t>
                                    </m:r>
                                    <m:r>
                                      <m:rPr/>
                                      <a:rPr lang="en-US" sz="1400" b="0" i="1">
                                        <a:solidFill>
                                          <a:schemeClr val="dk1"/>
                                        </a:solidFill>
                                        <a:latin typeface="Cambria Math"/>
                                        <a:ea typeface="Cambria Math"/>
                                        <a:cs typeface="+mn-cs"/>
                                      </a:rPr>
                                      <m:t>∈</m:t>
                                    </m:r>
                                    <m:r>
                                      <m:rPr/>
                                      <a:rPr lang="en-US" sz="1400" b="0" i="1">
                                        <a:solidFill>
                                          <a:schemeClr val="dk1"/>
                                        </a:solidFill>
                                        <a:latin typeface="Cambria Math"/>
                                        <a:ea typeface="Cambria Math"/>
                                        <a:cs typeface="+mn-cs"/>
                                      </a:rPr>
                                      <m:t>𝐸</m:t>
                                    </m:r>
                                  </m:sub>
                                  <m:sup/>
                                  <m:e>
                                    <m:r>
                                      <m:rPr/>
                                      <a:rPr lang="en-US" sz="1400" b="0" i="1">
                                        <a:solidFill>
                                          <a:schemeClr val="dk1"/>
                                        </a:solidFill>
                                        <a:latin typeface="Cambria Math"/>
                                        <a:ea typeface="+mn-ea"/>
                                        <a:cs typeface="+mn-cs"/>
                                      </a:rPr>
                                      <m:t>|</m:t>
                                    </m:r>
                                    <m:nary>
                                      <m:naryPr>
                                        <m:chr m:val="∑"/>
                                        <m:grow m:val="off"/>
                                        <m:supHide m:val="on"/>
                                        <m:ctrlPr>
                                          <a:rPr lang="en-US" sz="1400" b="0" i="1">
                                            <a:solidFill>
                                              <a:schemeClr val="dk1"/>
                                            </a:solidFill>
                                            <a:latin typeface="Cambria Math"/>
                                            <a:ea typeface="+mn-ea"/>
                                            <a:cs typeface="+mn-cs"/>
                                          </a:rPr>
                                        </m:ctrlPr>
                                      </m:naryPr>
                                      <m:sub>
                                        <m:r>
                                          <m:rPr>
                                            <m:brk m:alnAt="7"/>
                                          </m:rPr>
                                          <a:rPr lang="en-US" sz="1400" b="0" i="1">
                                            <a:solidFill>
                                              <a:schemeClr val="dk1"/>
                                            </a:solidFill>
                                            <a:latin typeface="Cambria Math"/>
                                            <a:ea typeface="+mn-ea"/>
                                            <a:cs typeface="+mn-cs"/>
                                          </a:rPr>
                                          <m:t>𝑈</m:t>
                                        </m:r>
                                        <m:r>
                                          <m:rPr/>
                                          <a:rPr lang="en-US" sz="1400" b="0" i="1">
                                            <a:solidFill>
                                              <a:schemeClr val="dk1"/>
                                            </a:solidFill>
                                            <a:latin typeface="Cambria Math"/>
                                            <a:ea typeface="+mn-ea"/>
                                            <a:cs typeface="+mn-cs"/>
                                          </a:rPr>
                                          <m:t>.</m:t>
                                        </m:r>
                                        <m:r>
                                          <m:rPr/>
                                          <a:rPr lang="en-US" sz="1400" b="0" i="1">
                                            <a:solidFill>
                                              <a:schemeClr val="dk1"/>
                                            </a:solidFill>
                                            <a:latin typeface="Cambria Math"/>
                                            <a:ea typeface="+mn-ea"/>
                                            <a:cs typeface="+mn-cs"/>
                                          </a:rPr>
                                          <m:t>𝑒𝑚𝑝𝑙𝑜𝑦𝑒𝑒</m:t>
                                        </m:r>
                                        <m:r>
                                          <m:rPr/>
                                          <a:rPr lang="en-US" sz="1400" b="0" i="1">
                                            <a:solidFill>
                                              <a:schemeClr val="dk1"/>
                                            </a:solidFill>
                                            <a:latin typeface="Cambria Math"/>
                                            <a:ea typeface="+mn-ea"/>
                                            <a:cs typeface="+mn-cs"/>
                                          </a:rPr>
                                          <m:t>=</m:t>
                                        </m:r>
                                        <m:r>
                                          <m:rPr/>
                                          <a:rPr lang="en-US" sz="1400" b="0" i="1">
                                            <a:solidFill>
                                              <a:schemeClr val="dk1"/>
                                            </a:solidFill>
                                            <a:latin typeface="Cambria Math"/>
                                            <a:ea typeface="+mn-ea"/>
                                            <a:cs typeface="+mn-cs"/>
                                          </a:rPr>
                                          <m:t>𝑒</m:t>
                                        </m:r>
                                      </m:sub>
                                      <m:sup/>
                                      <m:e>
                                        <m:sSub>
                                          <m:sSubPr>
                                            <m:ctrlPr>
                                              <a:rPr lang="en-US" sz="1400" b="0" i="1">
                                                <a:solidFill>
                                                  <a:schemeClr val="dk1"/>
                                                </a:solidFill>
                                                <a:latin typeface="Cambria Math"/>
                                                <a:ea typeface="+mn-ea"/>
                                                <a:cs typeface="+mn-cs"/>
                                              </a:rPr>
                                            </m:ctrlPr>
                                          </m:sSubPr>
                                          <m:e>
                                            <m:r>
                                              <m:rPr/>
                                              <a:rPr lang="en-US" sz="1400" b="0" i="1">
                                                <a:solidFill>
                                                  <a:schemeClr val="dk1"/>
                                                </a:solidFill>
                                                <a:latin typeface="Cambria Math"/>
                                                <a:ea typeface="+mn-ea"/>
                                                <a:cs typeface="+mn-cs"/>
                                              </a:rPr>
                                              <m:t>𝑈</m:t>
                                            </m:r>
                                          </m:e>
                                          <m:sub>
                                            <m:r>
                                              <m:rPr/>
                                              <a:rPr lang="en-US" sz="1400" b="0" i="1">
                                                <a:solidFill>
                                                  <a:schemeClr val="dk1"/>
                                                </a:solidFill>
                                                <a:latin typeface="Cambria Math"/>
                                                <a:ea typeface="+mn-ea"/>
                                                <a:cs typeface="+mn-cs"/>
                                              </a:rPr>
                                              <m:t>𝑛</m:t>
                                            </m:r>
                                          </m:sub>
                                        </m:sSub>
                                        <m:r>
                                          <m:rPr/>
                                          <a:rPr lang="en-US" sz="1400" b="0" i="1">
                                            <a:solidFill>
                                              <a:schemeClr val="dk1"/>
                                            </a:solidFill>
                                            <a:latin typeface="Cambria Math"/>
                                            <a:ea typeface="+mn-ea"/>
                                            <a:cs typeface="+mn-cs"/>
                                          </a:rPr>
                                          <m:t>.</m:t>
                                        </m:r>
                                        <m:r>
                                          <m:rPr/>
                                          <a:rPr lang="en-US" sz="1400" b="0" i="1">
                                            <a:solidFill>
                                              <a:schemeClr val="dk1"/>
                                            </a:solidFill>
                                            <a:latin typeface="Cambria Math"/>
                                            <a:ea typeface="+mn-ea"/>
                                            <a:cs typeface="+mn-cs"/>
                                          </a:rPr>
                                          <m:t>h𝑜𝑢𝑟</m:t>
                                        </m:r>
                                      </m:e>
                                    </m:nary>
                                    <m:r>
                                      <m:rPr/>
                                      <a:rPr lang="en-US" sz="1400" b="0" i="1">
                                        <a:solidFill>
                                          <a:schemeClr val="dk1"/>
                                        </a:solidFill>
                                        <a:latin typeface="Cambria Math"/>
                                        <a:ea typeface="+mn-ea"/>
                                        <a:cs typeface="+mn-cs"/>
                                      </a:rPr>
                                      <m:t>−</m:t>
                                    </m:r>
                                    <m:r>
                                      <m:rPr/>
                                      <a:rPr lang="en-US" sz="1400" b="0" i="1">
                                        <a:solidFill>
                                          <a:schemeClr val="dk1"/>
                                        </a:solidFill>
                                        <a:latin typeface="Cambria Math"/>
                                        <a:ea typeface="+mn-ea"/>
                                        <a:cs typeface="+mn-cs"/>
                                      </a:rPr>
                                      <m:t>𝐴𝑣𝑒𝑟𝑎𝑔𝑒</m:t>
                                    </m:r>
                                    <m:r>
                                      <m:rPr/>
                                      <a:rPr lang="en-US" sz="1400" b="0" i="1">
                                        <a:solidFill>
                                          <a:schemeClr val="dk1"/>
                                        </a:solidFill>
                                        <a:latin typeface="Cambria Math"/>
                                        <a:ea typeface="+mn-ea"/>
                                        <a:cs typeface="+mn-cs"/>
                                      </a:rPr>
                                      <m:t>|</m:t>
                                    </m:r>
                                  </m:e>
                                </m:nary>
                              </m:oMath>
                            </m:oMathPara>
                          </a14:m>
                        </mc:Choice>
                        <mc:Fallback/>
                      </mc:AlternateContent>
                      <a:endParaRPr lang="ja-JP" sz="1400" b="0">
                        <a:solidFill>
                          <a:schemeClr val="dk1"/>
                        </a:solidFill>
                        <a:latin typeface="+mn-lt"/>
                        <a:ea typeface="+mn-ea"/>
                        <a:cs typeface="+mn-cs"/>
                      </a:endParaRPr>
                    </a:p>
                  </a:txBody>
                  <a:tcPr/>
                </a:tc>
                <a:tc>
                  <a:txBody>
                    <a:bodyPr/>
                    <a:p>
                      <a:pPr marL="0" marR="0" lvl="0" indent="0" algn="l" defTabSz="914400">
                        <a:lnSpc>
                          <a:spcPct val="100000"/>
                        </a:lnSpc>
                        <a:spcBef>
                          <a:spcPts val="0"/>
                        </a:spcBef>
                        <a:spcAft>
                          <a:spcPts val="0"/>
                        </a:spcAft>
                        <a:buClrTx/>
                        <a:buSzTx/>
                        <a:buFontTx/>
                        <a:buNone/>
                        <a:defRPr/>
                      </a:pPr>
                      <a:r>
                        <a:rPr lang="ja-JP" sz="1400" b="0">
                          <a:solidFill>
                            <a:schemeClr val="dk1"/>
                          </a:solidFill>
                          <a:latin typeface="+mn-lt"/>
                          <a:ea typeface="+mn-ea"/>
                          <a:cs typeface="+mn-cs"/>
                        </a:rPr>
                        <a:t>作業者ごとの総作業時間を平均作業時間（総作業量と作業者数から算出）に近づける。</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3094481" name="タイトル 1"/>
          <p:cNvSpPr>
            <a:spLocks noGrp="1"/>
          </p:cNvSpPr>
          <p:nvPr>
            <p:ph type="title"/>
          </p:nvPr>
        </p:nvSpPr>
        <p:spPr bwMode="auto"/>
        <p:txBody>
          <a:bodyPr/>
          <a:lstStyle/>
          <a:p>
            <a:pPr>
              <a:defRPr/>
            </a:pPr>
            <a:r>
              <a:rPr lang="en-US"/>
              <a:t>Timefold</a:t>
            </a:r>
            <a:r>
              <a:rPr lang="ja-JP"/>
              <a:t>の初期検証</a:t>
            </a:r>
            <a:endParaRPr lang="ja-JP"/>
          </a:p>
        </p:txBody>
      </p:sp>
      <p:sp>
        <p:nvSpPr>
          <p:cNvPr id="1875984245" name="フッター プレースホルダー 2"/>
          <p:cNvSpPr>
            <a:spLocks noGrp="1"/>
          </p:cNvSpPr>
          <p:nvPr>
            <p:ph type="ftr" sz="quarter" idx="11"/>
          </p:nvPr>
        </p:nvSpPr>
        <p:spPr bwMode="auto"/>
        <p:txBody>
          <a:bodyPr/>
          <a:lstStyle/>
          <a:p>
            <a:pPr>
              <a:defRPr/>
            </a:pPr>
            <a:endParaRPr lang="ja-JP"/>
          </a:p>
        </p:txBody>
      </p:sp>
      <p:sp>
        <p:nvSpPr>
          <p:cNvPr id="1972029066" name="スライド番号プレースホルダー 3"/>
          <p:cNvSpPr>
            <a:spLocks noGrp="1"/>
          </p:cNvSpPr>
          <p:nvPr>
            <p:ph type="sldNum" sz="quarter" idx="12"/>
          </p:nvPr>
        </p:nvSpPr>
        <p:spPr bwMode="auto"/>
        <p:txBody>
          <a:bodyPr/>
          <a:lstStyle/>
          <a:p>
            <a:pPr>
              <a:defRPr/>
            </a:pPr>
            <a:fld id="{9EE375CF-DE78-44C2-B104-2824F80826E0}" type="slidenum">
              <a:rPr lang="ja-JP"/>
              <a:t>4</a:t>
            </a:fld>
            <a:endParaRPr lang="ja-JP"/>
          </a:p>
        </p:txBody>
      </p:sp>
      <p:sp>
        <p:nvSpPr>
          <p:cNvPr id="620194431" name="テキスト プレースホルダー 4"/>
          <p:cNvSpPr>
            <a:spLocks noGrp="1"/>
          </p:cNvSpPr>
          <p:nvPr>
            <p:ph type="body" sz="quarter" idx="16"/>
          </p:nvPr>
        </p:nvSpPr>
        <p:spPr bwMode="auto">
          <a:xfrm>
            <a:off x="513531" y="908366"/>
            <a:ext cx="11158111" cy="5371410"/>
          </a:xfrm>
        </p:spPr>
        <p:txBody>
          <a:bodyPr>
            <a:normAutofit/>
          </a:bodyPr>
          <a:lstStyle/>
          <a:p>
            <a:pPr>
              <a:defRPr/>
            </a:pPr>
            <a:r>
              <a:rPr lang="ja-JP"/>
              <a:t>絶対制約の充足と課題</a:t>
            </a:r>
            <a:endParaRPr lang="en-US"/>
          </a:p>
          <a:p>
            <a:pPr marL="0" indent="0">
              <a:buNone/>
              <a:defRPr/>
            </a:pPr>
            <a:r>
              <a:rPr lang="ja-JP" sz="1400"/>
              <a:t>計画結果を可視化し、多くの制約で違反がないことを確認した</a:t>
            </a:r>
            <a:endParaRPr lang="en-US" sz="1400"/>
          </a:p>
          <a:p>
            <a:pPr lvl="1">
              <a:buFont typeface="Arial"/>
              <a:buChar char="•"/>
              <a:defRPr/>
            </a:pPr>
            <a:r>
              <a:rPr lang="ja-JP" sz="1200"/>
              <a:t>工程間順序違反無し</a:t>
            </a:r>
            <a:endParaRPr lang="en-US" sz="1200"/>
          </a:p>
          <a:p>
            <a:pPr lvl="1">
              <a:buFont typeface="Arial"/>
              <a:buChar char="•"/>
              <a:defRPr/>
            </a:pPr>
            <a:r>
              <a:rPr lang="ja-JP" sz="1200"/>
              <a:t>工程開始、終了日以内での作業完了</a:t>
            </a:r>
            <a:endParaRPr lang="en-US" sz="1200"/>
          </a:p>
          <a:p>
            <a:pPr lvl="1">
              <a:buFont typeface="Arial"/>
              <a:buChar char="•"/>
              <a:defRPr/>
            </a:pPr>
            <a:r>
              <a:rPr lang="ja-JP" sz="1200"/>
              <a:t>同一日の複数作業無し</a:t>
            </a:r>
            <a:endParaRPr lang="en-US" sz="1200"/>
          </a:p>
          <a:p>
            <a:pPr lvl="1">
              <a:buFont typeface="Arial"/>
              <a:buChar char="•"/>
              <a:defRPr/>
            </a:pPr>
            <a:r>
              <a:rPr lang="ja-JP" sz="1200"/>
              <a:t>スキル違反無し</a:t>
            </a:r>
            <a:endParaRPr lang="en-US" sz="1200"/>
          </a:p>
          <a:p>
            <a:pPr marL="0" indent="0">
              <a:buNone/>
              <a:defRPr/>
            </a:pPr>
            <a:r>
              <a:rPr lang="ja-JP" sz="1400"/>
              <a:t>最小作業者数の制約違反が存在</a:t>
            </a:r>
            <a:endParaRPr lang="en-US" sz="1400"/>
          </a:p>
          <a:p>
            <a:pPr lvl="1">
              <a:buFont typeface="Arial"/>
              <a:buChar char="•"/>
              <a:defRPr/>
            </a:pPr>
            <a:r>
              <a:rPr lang="ja-JP" sz="1200"/>
              <a:t>最小作業者数</a:t>
            </a:r>
            <a:r>
              <a:rPr lang="en-US" sz="1200"/>
              <a:t>=2</a:t>
            </a:r>
            <a:r>
              <a:rPr lang="ja-JP" sz="1200"/>
              <a:t>に対して、作業者数</a:t>
            </a:r>
            <a:r>
              <a:rPr lang="en-US" sz="1200"/>
              <a:t>=1</a:t>
            </a:r>
            <a:r>
              <a:rPr lang="ja-JP" sz="1200"/>
              <a:t>となる作業枠が</a:t>
            </a:r>
            <a:r>
              <a:rPr lang="en-US" sz="1200"/>
              <a:t>32</a:t>
            </a:r>
            <a:r>
              <a:rPr lang="ja-JP" sz="1200"/>
              <a:t>カ所（作業が行われた作業枠の</a:t>
            </a:r>
            <a:r>
              <a:rPr lang="en-US" sz="1200"/>
              <a:t>2.9</a:t>
            </a:r>
            <a:r>
              <a:rPr lang="ja-JP" sz="1200"/>
              <a:t>％</a:t>
            </a:r>
            <a:r>
              <a:rPr lang="en-US" sz="1200"/>
              <a:t>=32/1110</a:t>
            </a:r>
            <a:r>
              <a:rPr lang="ja-JP" sz="1200"/>
              <a:t>）</a:t>
            </a:r>
            <a:endParaRPr lang="ja-JP"/>
          </a:p>
        </p:txBody>
      </p:sp>
      <p:grpSp>
        <p:nvGrpSpPr>
          <p:cNvPr id="1629852464" name="グループ化 28"/>
          <p:cNvGrpSpPr/>
          <p:nvPr/>
        </p:nvGrpSpPr>
        <p:grpSpPr bwMode="auto">
          <a:xfrm>
            <a:off x="655648" y="3398920"/>
            <a:ext cx="6421009" cy="2778447"/>
            <a:chOff x="672575" y="1988615"/>
            <a:chExt cx="11209643" cy="4360775"/>
          </a:xfrm>
        </p:grpSpPr>
        <p:pic>
          <p:nvPicPr>
            <p:cNvPr id="6" name="図 5" descr="テーブル&#10;&#10;AI 生成コンテンツは誤りを含む可能性があります。"/>
            <p:cNvPicPr>
              <a:picLocks noChangeAspect="1"/>
            </p:cNvPicPr>
            <p:nvPr/>
          </p:nvPicPr>
          <p:blipFill>
            <a:blip r:embed="rId3"/>
            <a:stretch/>
          </p:blipFill>
          <p:spPr bwMode="auto">
            <a:xfrm>
              <a:off x="672575" y="2166743"/>
              <a:ext cx="10667951" cy="4182647"/>
            </a:xfrm>
            <a:prstGeom prst="rect">
              <a:avLst/>
            </a:prstGeom>
          </p:spPr>
        </p:pic>
        <p:sp>
          <p:nvSpPr>
            <p:cNvPr id="7" name="正方形/長方形 6"/>
            <p:cNvSpPr/>
            <p:nvPr/>
          </p:nvSpPr>
          <p:spPr bwMode="auto">
            <a:xfrm>
              <a:off x="2259550" y="2223718"/>
              <a:ext cx="1511405" cy="362737"/>
            </a:xfrm>
            <a:prstGeom prst="rect">
              <a:avLst/>
            </a:prstGeom>
            <a:noFill/>
            <a:ln w="25400" cap="flat" cmpd="sng" algn="ctr">
              <a:solidFill>
                <a:schemeClr val="accent6"/>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8" name="正方形/長方形 7"/>
            <p:cNvSpPr/>
            <p:nvPr/>
          </p:nvSpPr>
          <p:spPr bwMode="auto">
            <a:xfrm>
              <a:off x="3770955" y="2567981"/>
              <a:ext cx="2508821" cy="362737"/>
            </a:xfrm>
            <a:prstGeom prst="rect">
              <a:avLst/>
            </a:prstGeom>
            <a:noFill/>
            <a:ln w="25400" cap="flat" cmpd="sng" algn="ctr">
              <a:solidFill>
                <a:schemeClr val="accent6"/>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9" name="正方形/長方形 8"/>
            <p:cNvSpPr/>
            <p:nvPr/>
          </p:nvSpPr>
          <p:spPr bwMode="auto">
            <a:xfrm>
              <a:off x="6279775" y="2912244"/>
              <a:ext cx="3012142" cy="362737"/>
            </a:xfrm>
            <a:prstGeom prst="rect">
              <a:avLst/>
            </a:prstGeom>
            <a:noFill/>
            <a:ln w="25400" cap="flat" cmpd="sng" algn="ctr">
              <a:solidFill>
                <a:schemeClr val="accent6"/>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10" name="正方形/長方形 9"/>
            <p:cNvSpPr/>
            <p:nvPr/>
          </p:nvSpPr>
          <p:spPr bwMode="auto">
            <a:xfrm>
              <a:off x="9291917" y="3274981"/>
              <a:ext cx="2048609" cy="344263"/>
            </a:xfrm>
            <a:prstGeom prst="rect">
              <a:avLst/>
            </a:prstGeom>
            <a:noFill/>
            <a:ln w="25400" cap="flat" cmpd="sng" algn="ctr">
              <a:solidFill>
                <a:schemeClr val="accent6"/>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12" name="テキスト ボックス 11"/>
            <p:cNvSpPr txBox="1"/>
            <p:nvPr/>
          </p:nvSpPr>
          <p:spPr bwMode="auto">
            <a:xfrm>
              <a:off x="2745900" y="1988615"/>
              <a:ext cx="1946863" cy="410597"/>
            </a:xfrm>
            <a:prstGeom prst="rect">
              <a:avLst/>
            </a:prstGeom>
            <a:noFill/>
          </p:spPr>
          <p:txBody>
            <a:bodyPr wrap="square" rtlCol="0">
              <a:spAutoFit/>
            </a:bodyPr>
            <a:lstStyle/>
            <a:p>
              <a:pPr>
                <a:defRPr/>
              </a:pPr>
              <a:r>
                <a:rPr lang="ja-JP" sz="1100">
                  <a:solidFill>
                    <a:srgbClr val="FF0000"/>
                  </a:solidFill>
                </a:rPr>
                <a:t>製番</a:t>
              </a:r>
              <a:r>
                <a:rPr lang="en-US" sz="1100">
                  <a:solidFill>
                    <a:srgbClr val="FF0000"/>
                  </a:solidFill>
                </a:rPr>
                <a:t>1</a:t>
              </a:r>
              <a:r>
                <a:rPr lang="ja-JP" sz="1100">
                  <a:solidFill>
                    <a:srgbClr val="FF0000"/>
                  </a:solidFill>
                </a:rPr>
                <a:t>第</a:t>
              </a:r>
              <a:r>
                <a:rPr lang="en-US" sz="1100">
                  <a:solidFill>
                    <a:srgbClr val="FF0000"/>
                  </a:solidFill>
                </a:rPr>
                <a:t>1</a:t>
              </a:r>
              <a:r>
                <a:rPr lang="ja-JP" sz="1100">
                  <a:solidFill>
                    <a:srgbClr val="FF0000"/>
                  </a:solidFill>
                </a:rPr>
                <a:t>工程</a:t>
              </a:r>
              <a:endParaRPr/>
            </a:p>
          </p:txBody>
        </p:sp>
        <p:sp>
          <p:nvSpPr>
            <p:cNvPr id="13" name="テキスト ボックス 12"/>
            <p:cNvSpPr txBox="1"/>
            <p:nvPr/>
          </p:nvSpPr>
          <p:spPr bwMode="auto">
            <a:xfrm>
              <a:off x="5282361" y="2306368"/>
              <a:ext cx="1870281" cy="410597"/>
            </a:xfrm>
            <a:prstGeom prst="rect">
              <a:avLst/>
            </a:prstGeom>
            <a:noFill/>
          </p:spPr>
          <p:txBody>
            <a:bodyPr wrap="square" rtlCol="0">
              <a:spAutoFit/>
            </a:bodyPr>
            <a:lstStyle/>
            <a:p>
              <a:pPr>
                <a:defRPr/>
              </a:pPr>
              <a:r>
                <a:rPr lang="ja-JP" sz="1100">
                  <a:solidFill>
                    <a:srgbClr val="FF0000"/>
                  </a:solidFill>
                </a:rPr>
                <a:t>製番</a:t>
              </a:r>
              <a:r>
                <a:rPr lang="en-US" sz="1100">
                  <a:solidFill>
                    <a:srgbClr val="FF0000"/>
                  </a:solidFill>
                </a:rPr>
                <a:t>1</a:t>
              </a:r>
              <a:r>
                <a:rPr lang="ja-JP" sz="1100">
                  <a:solidFill>
                    <a:srgbClr val="FF0000"/>
                  </a:solidFill>
                </a:rPr>
                <a:t>第</a:t>
              </a:r>
              <a:r>
                <a:rPr lang="en-US" sz="1100">
                  <a:solidFill>
                    <a:srgbClr val="FF0000"/>
                  </a:solidFill>
                </a:rPr>
                <a:t>2</a:t>
              </a:r>
              <a:r>
                <a:rPr lang="ja-JP" sz="1100">
                  <a:solidFill>
                    <a:srgbClr val="FF0000"/>
                  </a:solidFill>
                </a:rPr>
                <a:t>工程</a:t>
              </a:r>
              <a:endParaRPr/>
            </a:p>
          </p:txBody>
        </p:sp>
        <p:sp>
          <p:nvSpPr>
            <p:cNvPr id="15" name="テキスト ボックス 14"/>
            <p:cNvSpPr txBox="1"/>
            <p:nvPr/>
          </p:nvSpPr>
          <p:spPr bwMode="auto">
            <a:xfrm>
              <a:off x="8073626" y="2650634"/>
              <a:ext cx="1857825" cy="410597"/>
            </a:xfrm>
            <a:prstGeom prst="rect">
              <a:avLst/>
            </a:prstGeom>
            <a:noFill/>
          </p:spPr>
          <p:txBody>
            <a:bodyPr wrap="square" rtlCol="0">
              <a:spAutoFit/>
            </a:bodyPr>
            <a:lstStyle/>
            <a:p>
              <a:pPr>
                <a:defRPr/>
              </a:pPr>
              <a:r>
                <a:rPr lang="ja-JP" sz="1100">
                  <a:solidFill>
                    <a:srgbClr val="FF0000"/>
                  </a:solidFill>
                </a:rPr>
                <a:t>製番</a:t>
              </a:r>
              <a:r>
                <a:rPr lang="en-US" sz="1100">
                  <a:solidFill>
                    <a:srgbClr val="FF0000"/>
                  </a:solidFill>
                </a:rPr>
                <a:t>1</a:t>
              </a:r>
              <a:r>
                <a:rPr lang="ja-JP" sz="1100">
                  <a:solidFill>
                    <a:srgbClr val="FF0000"/>
                  </a:solidFill>
                </a:rPr>
                <a:t>第</a:t>
              </a:r>
              <a:r>
                <a:rPr lang="en-US" sz="1100">
                  <a:solidFill>
                    <a:srgbClr val="FF0000"/>
                  </a:solidFill>
                </a:rPr>
                <a:t>3</a:t>
              </a:r>
              <a:r>
                <a:rPr lang="ja-JP" sz="1100">
                  <a:solidFill>
                    <a:srgbClr val="FF0000"/>
                  </a:solidFill>
                </a:rPr>
                <a:t>工程</a:t>
              </a:r>
              <a:endParaRPr/>
            </a:p>
          </p:txBody>
        </p:sp>
        <p:sp>
          <p:nvSpPr>
            <p:cNvPr id="16" name="テキスト ボックス 15"/>
            <p:cNvSpPr txBox="1"/>
            <p:nvPr/>
          </p:nvSpPr>
          <p:spPr bwMode="auto">
            <a:xfrm>
              <a:off x="10024391" y="3013370"/>
              <a:ext cx="1857827" cy="410597"/>
            </a:xfrm>
            <a:prstGeom prst="rect">
              <a:avLst/>
            </a:prstGeom>
            <a:noFill/>
          </p:spPr>
          <p:txBody>
            <a:bodyPr wrap="square" rtlCol="0">
              <a:spAutoFit/>
            </a:bodyPr>
            <a:lstStyle/>
            <a:p>
              <a:pPr>
                <a:defRPr/>
              </a:pPr>
              <a:r>
                <a:rPr lang="ja-JP" sz="1100">
                  <a:solidFill>
                    <a:srgbClr val="FF0000"/>
                  </a:solidFill>
                </a:rPr>
                <a:t>製番</a:t>
              </a:r>
              <a:r>
                <a:rPr lang="en-US" sz="1100">
                  <a:solidFill>
                    <a:srgbClr val="FF0000"/>
                  </a:solidFill>
                </a:rPr>
                <a:t>1</a:t>
              </a:r>
              <a:r>
                <a:rPr lang="ja-JP" sz="1100">
                  <a:solidFill>
                    <a:srgbClr val="FF0000"/>
                  </a:solidFill>
                </a:rPr>
                <a:t>第</a:t>
              </a:r>
              <a:r>
                <a:rPr lang="en-US" sz="1100">
                  <a:solidFill>
                    <a:srgbClr val="FF0000"/>
                  </a:solidFill>
                </a:rPr>
                <a:t>4</a:t>
              </a:r>
              <a:r>
                <a:rPr lang="ja-JP" sz="1100">
                  <a:solidFill>
                    <a:srgbClr val="FF0000"/>
                  </a:solidFill>
                </a:rPr>
                <a:t>工程</a:t>
              </a:r>
              <a:endParaRPr/>
            </a:p>
          </p:txBody>
        </p:sp>
        <p:sp>
          <p:nvSpPr>
            <p:cNvPr id="17" name="正方形/長方形 16"/>
            <p:cNvSpPr/>
            <p:nvPr/>
          </p:nvSpPr>
          <p:spPr bwMode="auto">
            <a:xfrm>
              <a:off x="3264969" y="3598215"/>
              <a:ext cx="1511405" cy="362737"/>
            </a:xfrm>
            <a:prstGeom prst="rect">
              <a:avLst/>
            </a:prstGeom>
            <a:noFill/>
            <a:ln w="2540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18" name="正方形/長方形 17"/>
            <p:cNvSpPr/>
            <p:nvPr/>
          </p:nvSpPr>
          <p:spPr bwMode="auto">
            <a:xfrm>
              <a:off x="4776374" y="3939949"/>
              <a:ext cx="3012142" cy="362737"/>
            </a:xfrm>
            <a:prstGeom prst="rect">
              <a:avLst/>
            </a:prstGeom>
            <a:noFill/>
            <a:ln w="2540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19" name="正方形/長方形 18"/>
            <p:cNvSpPr/>
            <p:nvPr/>
          </p:nvSpPr>
          <p:spPr bwMode="auto">
            <a:xfrm>
              <a:off x="7785846" y="4292299"/>
              <a:ext cx="3554680" cy="362737"/>
            </a:xfrm>
            <a:prstGeom prst="rect">
              <a:avLst/>
            </a:prstGeom>
            <a:noFill/>
            <a:ln w="2540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20" name="テキスト ボックス 19"/>
            <p:cNvSpPr txBox="1"/>
            <p:nvPr/>
          </p:nvSpPr>
          <p:spPr bwMode="auto">
            <a:xfrm>
              <a:off x="3735694" y="3316307"/>
              <a:ext cx="1874469" cy="410597"/>
            </a:xfrm>
            <a:prstGeom prst="rect">
              <a:avLst/>
            </a:prstGeom>
            <a:noFill/>
          </p:spPr>
          <p:txBody>
            <a:bodyPr wrap="square" rtlCol="0">
              <a:spAutoFit/>
            </a:bodyPr>
            <a:lstStyle/>
            <a:p>
              <a:pPr>
                <a:defRPr/>
              </a:pPr>
              <a:r>
                <a:rPr lang="ja-JP" sz="1100">
                  <a:solidFill>
                    <a:schemeClr val="tx2"/>
                  </a:solidFill>
                </a:rPr>
                <a:t>製番</a:t>
              </a:r>
              <a:r>
                <a:rPr lang="en-US" sz="1100">
                  <a:solidFill>
                    <a:schemeClr val="tx2"/>
                  </a:solidFill>
                </a:rPr>
                <a:t>2</a:t>
              </a:r>
              <a:r>
                <a:rPr lang="ja-JP" sz="1100">
                  <a:solidFill>
                    <a:schemeClr val="tx2"/>
                  </a:solidFill>
                </a:rPr>
                <a:t>第</a:t>
              </a:r>
              <a:r>
                <a:rPr lang="en-US" sz="1100">
                  <a:solidFill>
                    <a:schemeClr val="tx2"/>
                  </a:solidFill>
                </a:rPr>
                <a:t>1</a:t>
              </a:r>
              <a:r>
                <a:rPr lang="ja-JP" sz="1100">
                  <a:solidFill>
                    <a:schemeClr val="tx2"/>
                  </a:solidFill>
                </a:rPr>
                <a:t>工程</a:t>
              </a:r>
              <a:endParaRPr/>
            </a:p>
          </p:txBody>
        </p:sp>
        <p:sp>
          <p:nvSpPr>
            <p:cNvPr id="21" name="テキスト ボックス 20"/>
            <p:cNvSpPr txBox="1"/>
            <p:nvPr/>
          </p:nvSpPr>
          <p:spPr bwMode="auto">
            <a:xfrm>
              <a:off x="6684010" y="3664194"/>
              <a:ext cx="1874469" cy="410597"/>
            </a:xfrm>
            <a:prstGeom prst="rect">
              <a:avLst/>
            </a:prstGeom>
            <a:noFill/>
          </p:spPr>
          <p:txBody>
            <a:bodyPr wrap="square" rtlCol="0">
              <a:spAutoFit/>
            </a:bodyPr>
            <a:lstStyle/>
            <a:p>
              <a:pPr>
                <a:defRPr/>
              </a:pPr>
              <a:r>
                <a:rPr lang="ja-JP" sz="1100">
                  <a:solidFill>
                    <a:schemeClr val="tx2"/>
                  </a:solidFill>
                </a:rPr>
                <a:t>製番</a:t>
              </a:r>
              <a:r>
                <a:rPr lang="en-US" sz="1100">
                  <a:solidFill>
                    <a:schemeClr val="tx2"/>
                  </a:solidFill>
                </a:rPr>
                <a:t>2</a:t>
              </a:r>
              <a:r>
                <a:rPr lang="ja-JP" sz="1100">
                  <a:solidFill>
                    <a:schemeClr val="tx2"/>
                  </a:solidFill>
                </a:rPr>
                <a:t>第</a:t>
              </a:r>
              <a:r>
                <a:rPr lang="en-US" sz="1100">
                  <a:solidFill>
                    <a:schemeClr val="tx2"/>
                  </a:solidFill>
                </a:rPr>
                <a:t>2</a:t>
              </a:r>
              <a:r>
                <a:rPr lang="ja-JP" sz="1100">
                  <a:solidFill>
                    <a:schemeClr val="tx2"/>
                  </a:solidFill>
                </a:rPr>
                <a:t>工程</a:t>
              </a:r>
              <a:endParaRPr/>
            </a:p>
          </p:txBody>
        </p:sp>
        <p:sp>
          <p:nvSpPr>
            <p:cNvPr id="22" name="テキスト ボックス 21"/>
            <p:cNvSpPr txBox="1"/>
            <p:nvPr/>
          </p:nvSpPr>
          <p:spPr bwMode="auto">
            <a:xfrm>
              <a:off x="10024389" y="4021571"/>
              <a:ext cx="1831563" cy="410597"/>
            </a:xfrm>
            <a:prstGeom prst="rect">
              <a:avLst/>
            </a:prstGeom>
            <a:noFill/>
          </p:spPr>
          <p:txBody>
            <a:bodyPr wrap="square" rtlCol="0">
              <a:spAutoFit/>
            </a:bodyPr>
            <a:lstStyle/>
            <a:p>
              <a:pPr>
                <a:defRPr/>
              </a:pPr>
              <a:r>
                <a:rPr lang="ja-JP" sz="1100">
                  <a:solidFill>
                    <a:schemeClr val="tx2"/>
                  </a:solidFill>
                </a:rPr>
                <a:t>製番</a:t>
              </a:r>
              <a:r>
                <a:rPr lang="en-US" sz="1100">
                  <a:solidFill>
                    <a:schemeClr val="tx2"/>
                  </a:solidFill>
                </a:rPr>
                <a:t>2</a:t>
              </a:r>
              <a:r>
                <a:rPr lang="ja-JP" sz="1100">
                  <a:solidFill>
                    <a:schemeClr val="tx2"/>
                  </a:solidFill>
                </a:rPr>
                <a:t>第</a:t>
              </a:r>
              <a:r>
                <a:rPr lang="en-US" sz="1100">
                  <a:solidFill>
                    <a:schemeClr val="tx2"/>
                  </a:solidFill>
                </a:rPr>
                <a:t>3</a:t>
              </a:r>
              <a:r>
                <a:rPr lang="ja-JP" sz="1100">
                  <a:solidFill>
                    <a:schemeClr val="tx2"/>
                  </a:solidFill>
                </a:rPr>
                <a:t>工程</a:t>
              </a:r>
              <a:endParaRPr/>
            </a:p>
          </p:txBody>
        </p:sp>
        <p:sp>
          <p:nvSpPr>
            <p:cNvPr id="23" name="正方形/長方形 22"/>
            <p:cNvSpPr/>
            <p:nvPr/>
          </p:nvSpPr>
          <p:spPr bwMode="auto">
            <a:xfrm>
              <a:off x="4269662" y="4967654"/>
              <a:ext cx="1511405" cy="362737"/>
            </a:xfrm>
            <a:prstGeom prst="rect">
              <a:avLst/>
            </a:prstGeom>
            <a:noFill/>
            <a:ln w="25400" cap="flat" cmpd="sng" algn="ctr">
              <a:solidFill>
                <a:schemeClr val="accent4"/>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24" name="正方形/長方形 23"/>
            <p:cNvSpPr/>
            <p:nvPr/>
          </p:nvSpPr>
          <p:spPr bwMode="auto">
            <a:xfrm>
              <a:off x="5781067" y="5309676"/>
              <a:ext cx="2508821" cy="362737"/>
            </a:xfrm>
            <a:prstGeom prst="rect">
              <a:avLst/>
            </a:prstGeom>
            <a:noFill/>
            <a:ln w="25400" cap="flat" cmpd="sng" algn="ctr">
              <a:solidFill>
                <a:schemeClr val="accent4"/>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25" name="正方形/長方形 24"/>
            <p:cNvSpPr/>
            <p:nvPr/>
          </p:nvSpPr>
          <p:spPr bwMode="auto">
            <a:xfrm>
              <a:off x="8295222" y="5672354"/>
              <a:ext cx="3045304" cy="362737"/>
            </a:xfrm>
            <a:prstGeom prst="rect">
              <a:avLst/>
            </a:prstGeom>
            <a:noFill/>
            <a:ln w="25400" cap="flat" cmpd="sng" algn="ctr">
              <a:solidFill>
                <a:schemeClr val="accent4"/>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26" name="テキスト ボックス 25"/>
            <p:cNvSpPr txBox="1"/>
            <p:nvPr/>
          </p:nvSpPr>
          <p:spPr bwMode="auto">
            <a:xfrm>
              <a:off x="4692765" y="4681511"/>
              <a:ext cx="1898587" cy="410597"/>
            </a:xfrm>
            <a:prstGeom prst="rect">
              <a:avLst/>
            </a:prstGeom>
            <a:noFill/>
          </p:spPr>
          <p:txBody>
            <a:bodyPr wrap="square" rtlCol="0">
              <a:spAutoFit/>
            </a:bodyPr>
            <a:lstStyle/>
            <a:p>
              <a:pPr>
                <a:defRPr/>
              </a:pPr>
              <a:r>
                <a:rPr lang="ja-JP" sz="1100">
                  <a:solidFill>
                    <a:schemeClr val="accent4"/>
                  </a:solidFill>
                </a:rPr>
                <a:t>製番</a:t>
              </a:r>
              <a:r>
                <a:rPr lang="en-US" sz="1100">
                  <a:solidFill>
                    <a:schemeClr val="accent4"/>
                  </a:solidFill>
                </a:rPr>
                <a:t>3</a:t>
              </a:r>
              <a:r>
                <a:rPr lang="ja-JP" sz="1100">
                  <a:solidFill>
                    <a:schemeClr val="accent4"/>
                  </a:solidFill>
                </a:rPr>
                <a:t>第</a:t>
              </a:r>
              <a:r>
                <a:rPr lang="en-US" sz="1100">
                  <a:solidFill>
                    <a:schemeClr val="accent4"/>
                  </a:solidFill>
                </a:rPr>
                <a:t>1</a:t>
              </a:r>
              <a:r>
                <a:rPr lang="ja-JP" sz="1100">
                  <a:solidFill>
                    <a:schemeClr val="accent4"/>
                  </a:solidFill>
                </a:rPr>
                <a:t>工程</a:t>
              </a:r>
              <a:endParaRPr/>
            </a:p>
          </p:txBody>
        </p:sp>
        <p:sp>
          <p:nvSpPr>
            <p:cNvPr id="27" name="テキスト ボックス 26"/>
            <p:cNvSpPr txBox="1"/>
            <p:nvPr/>
          </p:nvSpPr>
          <p:spPr bwMode="auto">
            <a:xfrm>
              <a:off x="6924549" y="5030240"/>
              <a:ext cx="1928997" cy="410597"/>
            </a:xfrm>
            <a:prstGeom prst="rect">
              <a:avLst/>
            </a:prstGeom>
            <a:noFill/>
          </p:spPr>
          <p:txBody>
            <a:bodyPr wrap="square" rtlCol="0">
              <a:spAutoFit/>
            </a:bodyPr>
            <a:lstStyle/>
            <a:p>
              <a:pPr>
                <a:defRPr/>
              </a:pPr>
              <a:r>
                <a:rPr lang="ja-JP" sz="1100">
                  <a:solidFill>
                    <a:schemeClr val="accent4"/>
                  </a:solidFill>
                </a:rPr>
                <a:t>製番</a:t>
              </a:r>
              <a:r>
                <a:rPr lang="en-US" sz="1100">
                  <a:solidFill>
                    <a:schemeClr val="accent4"/>
                  </a:solidFill>
                </a:rPr>
                <a:t>3</a:t>
              </a:r>
              <a:r>
                <a:rPr lang="ja-JP" sz="1100">
                  <a:solidFill>
                    <a:schemeClr val="accent4"/>
                  </a:solidFill>
                </a:rPr>
                <a:t>第</a:t>
              </a:r>
              <a:r>
                <a:rPr lang="en-US" sz="1100">
                  <a:solidFill>
                    <a:schemeClr val="accent4"/>
                  </a:solidFill>
                </a:rPr>
                <a:t>2</a:t>
              </a:r>
              <a:r>
                <a:rPr lang="ja-JP" sz="1100">
                  <a:solidFill>
                    <a:schemeClr val="accent4"/>
                  </a:solidFill>
                </a:rPr>
                <a:t>工程</a:t>
              </a:r>
              <a:endParaRPr/>
            </a:p>
          </p:txBody>
        </p:sp>
        <p:sp>
          <p:nvSpPr>
            <p:cNvPr id="28" name="テキスト ボックス 27"/>
            <p:cNvSpPr txBox="1"/>
            <p:nvPr/>
          </p:nvSpPr>
          <p:spPr bwMode="auto">
            <a:xfrm>
              <a:off x="10024389" y="5410744"/>
              <a:ext cx="1831563" cy="410597"/>
            </a:xfrm>
            <a:prstGeom prst="rect">
              <a:avLst/>
            </a:prstGeom>
            <a:noFill/>
          </p:spPr>
          <p:txBody>
            <a:bodyPr wrap="square" rtlCol="0">
              <a:spAutoFit/>
            </a:bodyPr>
            <a:lstStyle/>
            <a:p>
              <a:pPr>
                <a:defRPr/>
              </a:pPr>
              <a:r>
                <a:rPr lang="ja-JP" sz="1100">
                  <a:solidFill>
                    <a:schemeClr val="accent4"/>
                  </a:solidFill>
                </a:rPr>
                <a:t>製番</a:t>
              </a:r>
              <a:r>
                <a:rPr lang="en-US" sz="1100">
                  <a:solidFill>
                    <a:schemeClr val="accent4"/>
                  </a:solidFill>
                </a:rPr>
                <a:t>3</a:t>
              </a:r>
              <a:r>
                <a:rPr lang="ja-JP" sz="1100">
                  <a:solidFill>
                    <a:schemeClr val="accent4"/>
                  </a:solidFill>
                </a:rPr>
                <a:t>第</a:t>
              </a:r>
              <a:r>
                <a:rPr lang="en-US" sz="1100">
                  <a:solidFill>
                    <a:schemeClr val="accent4"/>
                  </a:solidFill>
                </a:rPr>
                <a:t>3</a:t>
              </a:r>
              <a:r>
                <a:rPr lang="ja-JP" sz="1100">
                  <a:solidFill>
                    <a:schemeClr val="accent4"/>
                  </a:solidFill>
                </a:rPr>
                <a:t>工程</a:t>
              </a:r>
              <a:endParaRPr/>
            </a:p>
          </p:txBody>
        </p:sp>
      </p:grpSp>
      <p:grpSp>
        <p:nvGrpSpPr>
          <p:cNvPr id="890452745" name="グループ化 35"/>
          <p:cNvGrpSpPr/>
          <p:nvPr/>
        </p:nvGrpSpPr>
        <p:grpSpPr bwMode="auto">
          <a:xfrm>
            <a:off x="7127880" y="3549766"/>
            <a:ext cx="3861906" cy="2030598"/>
            <a:chOff x="7218773" y="3614821"/>
            <a:chExt cx="3861906" cy="2030598"/>
          </a:xfrm>
        </p:grpSpPr>
        <p:pic>
          <p:nvPicPr>
            <p:cNvPr id="31" name="図 30" descr="テーブル"/>
            <p:cNvPicPr>
              <a:picLocks noChangeAspect="1"/>
            </p:cNvPicPr>
            <p:nvPr/>
          </p:nvPicPr>
          <p:blipFill>
            <a:blip r:embed="rId4"/>
            <a:stretch/>
          </p:blipFill>
          <p:spPr bwMode="auto">
            <a:xfrm>
              <a:off x="7218773" y="3614821"/>
              <a:ext cx="3861906" cy="2030598"/>
            </a:xfrm>
            <a:prstGeom prst="rect">
              <a:avLst/>
            </a:prstGeom>
          </p:spPr>
        </p:pic>
        <p:sp>
          <p:nvSpPr>
            <p:cNvPr id="34" name="正方形/長方形 33"/>
            <p:cNvSpPr/>
            <p:nvPr/>
          </p:nvSpPr>
          <p:spPr bwMode="auto">
            <a:xfrm>
              <a:off x="9798050" y="5106532"/>
              <a:ext cx="1231082" cy="463558"/>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defRPr/>
              </a:pPr>
              <a:r>
                <a:rPr lang="ja-JP" sz="1100"/>
                <a:t>    作業者数</a:t>
              </a:r>
              <a:r>
                <a:rPr lang="en-US" sz="1100"/>
                <a:t>=1</a:t>
              </a:r>
              <a:r>
                <a:rPr lang="ja-JP" sz="1100"/>
                <a:t>の作業枠</a:t>
              </a:r>
              <a:endParaRPr/>
            </a:p>
          </p:txBody>
        </p:sp>
        <p:sp>
          <p:nvSpPr>
            <p:cNvPr id="35" name="正方形/長方形 34"/>
            <p:cNvSpPr/>
            <p:nvPr/>
          </p:nvSpPr>
          <p:spPr bwMode="auto">
            <a:xfrm>
              <a:off x="9855200" y="5200225"/>
              <a:ext cx="165100" cy="239059"/>
            </a:xfrm>
            <a:prstGeom prst="rect">
              <a:avLst/>
            </a:prstGeom>
            <a:noFill/>
            <a:ln w="9525" cap="flat" cmpd="sng" algn="ctr">
              <a:solidFill>
                <a:schemeClr val="accent6"/>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3557859" name="タイトル 1"/>
          <p:cNvSpPr>
            <a:spLocks noGrp="1"/>
          </p:cNvSpPr>
          <p:nvPr>
            <p:ph type="title"/>
          </p:nvPr>
        </p:nvSpPr>
        <p:spPr bwMode="auto"/>
        <p:txBody>
          <a:bodyPr/>
          <a:lstStyle/>
          <a:p>
            <a:pPr>
              <a:defRPr/>
            </a:pPr>
            <a:r>
              <a:rPr lang="en-US"/>
              <a:t>Timefold</a:t>
            </a:r>
            <a:r>
              <a:rPr lang="ja-JP"/>
              <a:t>の初期検証</a:t>
            </a:r>
            <a:endParaRPr lang="ja-JP"/>
          </a:p>
        </p:txBody>
      </p:sp>
      <p:sp>
        <p:nvSpPr>
          <p:cNvPr id="932778784" name="フッター プレースホルダー 2"/>
          <p:cNvSpPr>
            <a:spLocks noGrp="1"/>
          </p:cNvSpPr>
          <p:nvPr>
            <p:ph type="ftr" sz="quarter" idx="11"/>
          </p:nvPr>
        </p:nvSpPr>
        <p:spPr bwMode="auto"/>
        <p:txBody>
          <a:bodyPr/>
          <a:lstStyle/>
          <a:p>
            <a:pPr>
              <a:defRPr/>
            </a:pPr>
            <a:endParaRPr lang="ja-JP"/>
          </a:p>
        </p:txBody>
      </p:sp>
      <p:sp>
        <p:nvSpPr>
          <p:cNvPr id="1045986982" name="スライド番号プレースホルダー 3"/>
          <p:cNvSpPr>
            <a:spLocks noGrp="1"/>
          </p:cNvSpPr>
          <p:nvPr>
            <p:ph type="sldNum" sz="quarter" idx="12"/>
          </p:nvPr>
        </p:nvSpPr>
        <p:spPr bwMode="auto"/>
        <p:txBody>
          <a:bodyPr/>
          <a:lstStyle/>
          <a:p>
            <a:pPr>
              <a:defRPr/>
            </a:pPr>
            <a:fld id="{9EE375CF-DE78-44C2-B104-2824F80826E0}" type="slidenum">
              <a:rPr lang="ja-JP"/>
              <a:t>5</a:t>
            </a:fld>
            <a:endParaRPr lang="ja-JP"/>
          </a:p>
        </p:txBody>
      </p:sp>
      <p:sp>
        <p:nvSpPr>
          <p:cNvPr id="2117598267" name="テキスト プレースホルダー 4"/>
          <p:cNvSpPr>
            <a:spLocks noGrp="1"/>
          </p:cNvSpPr>
          <p:nvPr>
            <p:ph type="body" sz="quarter" idx="16"/>
          </p:nvPr>
        </p:nvSpPr>
        <p:spPr bwMode="auto">
          <a:xfrm>
            <a:off x="513531" y="908366"/>
            <a:ext cx="11158111" cy="3089300"/>
          </a:xfrm>
        </p:spPr>
        <p:txBody>
          <a:bodyPr>
            <a:normAutofit/>
          </a:bodyPr>
          <a:lstStyle/>
          <a:p>
            <a:pPr>
              <a:defRPr/>
            </a:pPr>
            <a:r>
              <a:rPr lang="ja-JP"/>
              <a:t>計画結果の課題</a:t>
            </a:r>
            <a:endParaRPr lang="en-US"/>
          </a:p>
          <a:p>
            <a:pPr>
              <a:buFont typeface="Arial"/>
              <a:buChar char="•"/>
              <a:defRPr/>
            </a:pPr>
            <a:r>
              <a:rPr lang="ja-JP" sz="1400"/>
              <a:t>多くの作業で残業が発生</a:t>
            </a:r>
            <a:endParaRPr lang="en-US" sz="1400"/>
          </a:p>
          <a:p>
            <a:pPr>
              <a:buFont typeface="Arial"/>
              <a:buChar char="•"/>
              <a:defRPr/>
            </a:pPr>
            <a:r>
              <a:rPr lang="ja-JP" sz="1400"/>
              <a:t>日替わりで作業者が切り替わる箇所が多数</a:t>
            </a:r>
            <a:endParaRPr lang="en-US" sz="1400"/>
          </a:p>
          <a:p>
            <a:pPr>
              <a:buFont typeface="Arial"/>
              <a:buChar char="•"/>
              <a:defRPr/>
            </a:pPr>
            <a:r>
              <a:rPr lang="ja-JP" sz="1400"/>
              <a:t>同一作業間で空白となる日が発生する</a:t>
            </a:r>
            <a:endParaRPr/>
          </a:p>
        </p:txBody>
      </p:sp>
      <p:grpSp>
        <p:nvGrpSpPr>
          <p:cNvPr id="1886458786" name="グループ化 37"/>
          <p:cNvGrpSpPr/>
          <p:nvPr/>
        </p:nvGrpSpPr>
        <p:grpSpPr bwMode="auto">
          <a:xfrm>
            <a:off x="4254500" y="1077325"/>
            <a:ext cx="6851650" cy="1024395"/>
            <a:chOff x="745501" y="2423236"/>
            <a:chExt cx="10106386" cy="1457187"/>
          </a:xfrm>
        </p:grpSpPr>
        <p:pic>
          <p:nvPicPr>
            <p:cNvPr id="6" name="図 5"/>
            <p:cNvPicPr>
              <a:picLocks noChangeAspect="1"/>
            </p:cNvPicPr>
            <p:nvPr/>
          </p:nvPicPr>
          <p:blipFill>
            <a:blip r:embed="rId3"/>
            <a:stretch/>
          </p:blipFill>
          <p:spPr bwMode="auto">
            <a:xfrm>
              <a:off x="745501" y="2423236"/>
              <a:ext cx="10106386" cy="1201023"/>
            </a:xfrm>
            <a:prstGeom prst="rect">
              <a:avLst/>
            </a:prstGeom>
          </p:spPr>
        </p:pic>
        <p:sp>
          <p:nvSpPr>
            <p:cNvPr id="8" name="四角形: 角を丸くする 7"/>
            <p:cNvSpPr/>
            <p:nvPr/>
          </p:nvSpPr>
          <p:spPr bwMode="auto">
            <a:xfrm>
              <a:off x="3098380" y="2620565"/>
              <a:ext cx="1292251" cy="347623"/>
            </a:xfrm>
            <a:prstGeom prst="roundRect">
              <a:avLst>
                <a:gd name="adj" fmla="val 16667"/>
              </a:avLst>
            </a:prstGeom>
            <a:noFill/>
            <a:ln w="19050" cap="flat" cmpd="sng" algn="ctr">
              <a:solidFill>
                <a:schemeClr val="accent6"/>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9" name="四角形: 角を丸くする 8"/>
            <p:cNvSpPr/>
            <p:nvPr/>
          </p:nvSpPr>
          <p:spPr bwMode="auto">
            <a:xfrm>
              <a:off x="5676158" y="2627289"/>
              <a:ext cx="2593783" cy="347623"/>
            </a:xfrm>
            <a:prstGeom prst="roundRect">
              <a:avLst>
                <a:gd name="adj" fmla="val 16667"/>
              </a:avLst>
            </a:prstGeom>
            <a:noFill/>
            <a:ln w="19050" cap="flat" cmpd="sng" algn="ctr">
              <a:solidFill>
                <a:schemeClr val="accent6"/>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10" name="四角形: 角を丸くする 9"/>
            <p:cNvSpPr/>
            <p:nvPr/>
          </p:nvSpPr>
          <p:spPr bwMode="auto">
            <a:xfrm>
              <a:off x="4379266" y="2964576"/>
              <a:ext cx="3890675" cy="347623"/>
            </a:xfrm>
            <a:prstGeom prst="roundRect">
              <a:avLst>
                <a:gd name="adj" fmla="val 16667"/>
              </a:avLst>
            </a:prstGeom>
            <a:noFill/>
            <a:ln w="19050" cap="flat" cmpd="sng" algn="ctr">
              <a:solidFill>
                <a:schemeClr val="accent6"/>
              </a:solidFill>
              <a:prstDash val="solid"/>
              <a:round/>
              <a:headEnd type="none" w="med" len="med"/>
              <a:tailEnd type="none" w="med" len="med"/>
            </a:ln>
          </p:spPr>
          <p:style>
            <a:lnRef idx="0">
              <a:srgbClr val="000000"/>
            </a:lnRef>
            <a:fillRef idx="0">
              <a:srgbClr val="000000"/>
            </a:fillRef>
            <a:effectRef idx="0">
              <a:srgbClr val="000000"/>
            </a:effectRef>
            <a:fontRef idx="minor">
              <a:schemeClr val="accent6"/>
            </a:fontRef>
          </p:style>
          <p:txBody>
            <a:bodyPr rtlCol="0" anchor="ctr"/>
            <a:lstStyle/>
            <a:p>
              <a:pPr algn="ctr">
                <a:defRPr/>
              </a:pPr>
              <a:endParaRPr lang="ja-JP"/>
            </a:p>
          </p:txBody>
        </p:sp>
        <p:sp>
          <p:nvSpPr>
            <p:cNvPr id="11" name="テキスト ボックス 10"/>
            <p:cNvSpPr txBox="1"/>
            <p:nvPr/>
          </p:nvSpPr>
          <p:spPr bwMode="auto">
            <a:xfrm>
              <a:off x="6428381" y="3280062"/>
              <a:ext cx="1707502" cy="372136"/>
            </a:xfrm>
            <a:prstGeom prst="rect">
              <a:avLst/>
            </a:prstGeom>
            <a:noFill/>
          </p:spPr>
          <p:txBody>
            <a:bodyPr wrap="square" rtlCol="0">
              <a:spAutoFit/>
            </a:bodyPr>
            <a:lstStyle/>
            <a:p>
              <a:pPr>
                <a:defRPr/>
              </a:pPr>
              <a:r>
                <a:rPr lang="ja-JP" sz="1100" b="1">
                  <a:solidFill>
                    <a:srgbClr val="FF0000"/>
                  </a:solidFill>
                </a:rPr>
                <a:t>作業の空白日</a:t>
              </a:r>
              <a:endParaRPr/>
            </a:p>
          </p:txBody>
        </p:sp>
        <p:sp>
          <p:nvSpPr>
            <p:cNvPr id="12" name="楕円 11"/>
            <p:cNvSpPr/>
            <p:nvPr/>
          </p:nvSpPr>
          <p:spPr bwMode="auto">
            <a:xfrm>
              <a:off x="2003609" y="2729752"/>
              <a:ext cx="254843"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16" name="楕円 15"/>
            <p:cNvSpPr/>
            <p:nvPr/>
          </p:nvSpPr>
          <p:spPr bwMode="auto">
            <a:xfrm>
              <a:off x="2363000" y="2729752"/>
              <a:ext cx="254843"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17" name="楕円 16"/>
            <p:cNvSpPr/>
            <p:nvPr/>
          </p:nvSpPr>
          <p:spPr bwMode="auto">
            <a:xfrm>
              <a:off x="2738989" y="2729752"/>
              <a:ext cx="254843"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18" name="楕円 17"/>
            <p:cNvSpPr/>
            <p:nvPr/>
          </p:nvSpPr>
          <p:spPr bwMode="auto">
            <a:xfrm>
              <a:off x="2180119" y="3012186"/>
              <a:ext cx="254843"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19" name="楕円 18"/>
            <p:cNvSpPr/>
            <p:nvPr/>
          </p:nvSpPr>
          <p:spPr bwMode="auto">
            <a:xfrm>
              <a:off x="2003609" y="3312199"/>
              <a:ext cx="254843"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20" name="楕円 19"/>
            <p:cNvSpPr/>
            <p:nvPr/>
          </p:nvSpPr>
          <p:spPr bwMode="auto">
            <a:xfrm flipH="1" flipV="1">
              <a:off x="2363000" y="3349318"/>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21" name="楕円 20"/>
            <p:cNvSpPr/>
            <p:nvPr/>
          </p:nvSpPr>
          <p:spPr bwMode="auto">
            <a:xfrm flipH="1" flipV="1">
              <a:off x="2539510" y="3012186"/>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23" name="楕円 22"/>
            <p:cNvSpPr/>
            <p:nvPr/>
          </p:nvSpPr>
          <p:spPr bwMode="auto">
            <a:xfrm flipH="1" flipV="1">
              <a:off x="3304666" y="3023747"/>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24" name="楕円 23"/>
            <p:cNvSpPr/>
            <p:nvPr/>
          </p:nvSpPr>
          <p:spPr bwMode="auto">
            <a:xfrm flipH="1" flipV="1">
              <a:off x="3664059" y="3031901"/>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25" name="楕円 24"/>
            <p:cNvSpPr/>
            <p:nvPr/>
          </p:nvSpPr>
          <p:spPr bwMode="auto">
            <a:xfrm flipH="1" flipV="1">
              <a:off x="4046267" y="3025177"/>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26" name="楕円 25"/>
            <p:cNvSpPr/>
            <p:nvPr/>
          </p:nvSpPr>
          <p:spPr bwMode="auto">
            <a:xfrm flipH="1" flipV="1">
              <a:off x="3841967" y="3312199"/>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27" name="楕円 26"/>
            <p:cNvSpPr/>
            <p:nvPr/>
          </p:nvSpPr>
          <p:spPr bwMode="auto">
            <a:xfrm flipH="1" flipV="1">
              <a:off x="3482575" y="3331298"/>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28" name="楕円 27"/>
            <p:cNvSpPr/>
            <p:nvPr/>
          </p:nvSpPr>
          <p:spPr bwMode="auto">
            <a:xfrm flipH="1" flipV="1">
              <a:off x="4743746" y="2743200"/>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29" name="楕円 28"/>
            <p:cNvSpPr/>
            <p:nvPr/>
          </p:nvSpPr>
          <p:spPr bwMode="auto">
            <a:xfrm flipH="1" flipV="1">
              <a:off x="5137443" y="2729752"/>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30" name="楕円 29"/>
            <p:cNvSpPr/>
            <p:nvPr/>
          </p:nvSpPr>
          <p:spPr bwMode="auto">
            <a:xfrm flipH="1" flipV="1">
              <a:off x="4759706" y="3331298"/>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31" name="楕円 30"/>
            <p:cNvSpPr/>
            <p:nvPr/>
          </p:nvSpPr>
          <p:spPr bwMode="auto">
            <a:xfrm flipH="1" flipV="1">
              <a:off x="5146679" y="3346864"/>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32" name="楕円 31"/>
            <p:cNvSpPr/>
            <p:nvPr/>
          </p:nvSpPr>
          <p:spPr bwMode="auto">
            <a:xfrm flipH="1" flipV="1">
              <a:off x="8640536" y="2729752"/>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33" name="楕円 32"/>
            <p:cNvSpPr/>
            <p:nvPr/>
          </p:nvSpPr>
          <p:spPr bwMode="auto">
            <a:xfrm flipH="1" flipV="1">
              <a:off x="9011131" y="2730755"/>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34" name="楕円 33"/>
            <p:cNvSpPr/>
            <p:nvPr/>
          </p:nvSpPr>
          <p:spPr bwMode="auto">
            <a:xfrm flipH="1" flipV="1">
              <a:off x="8640536" y="3023747"/>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35" name="楕円 34"/>
            <p:cNvSpPr/>
            <p:nvPr/>
          </p:nvSpPr>
          <p:spPr bwMode="auto">
            <a:xfrm flipH="1" flipV="1">
              <a:off x="9040538" y="3047697"/>
              <a:ext cx="254844" cy="221376"/>
            </a:xfrm>
            <a:prstGeom prst="ellipse">
              <a:avLst/>
            </a:prstGeom>
            <a:noFill/>
            <a:ln w="1905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ja-JP"/>
            </a:p>
          </p:txBody>
        </p:sp>
        <p:sp>
          <p:nvSpPr>
            <p:cNvPr id="37" name="テキスト ボックス 36"/>
            <p:cNvSpPr txBox="1"/>
            <p:nvPr/>
          </p:nvSpPr>
          <p:spPr bwMode="auto">
            <a:xfrm>
              <a:off x="2722392" y="3508286"/>
              <a:ext cx="1153559" cy="372137"/>
            </a:xfrm>
            <a:prstGeom prst="rect">
              <a:avLst/>
            </a:prstGeom>
            <a:noFill/>
          </p:spPr>
          <p:txBody>
            <a:bodyPr wrap="square" rtlCol="0">
              <a:spAutoFit/>
            </a:bodyPr>
            <a:lstStyle/>
            <a:p>
              <a:pPr>
                <a:defRPr/>
              </a:pPr>
              <a:r>
                <a:rPr lang="ja-JP" sz="1100" b="1">
                  <a:solidFill>
                    <a:schemeClr val="tx2"/>
                  </a:solidFill>
                </a:rPr>
                <a:t>残業発生</a:t>
              </a:r>
              <a:endParaRPr/>
            </a:p>
          </p:txBody>
        </p:sp>
      </p:grpSp>
      <p:sp>
        <p:nvSpPr>
          <p:cNvPr id="1557634639" name="テキスト プレースホルダー 4"/>
          <p:cNvSpPr txBox="1"/>
          <p:nvPr/>
        </p:nvSpPr>
        <p:spPr bwMode="auto">
          <a:xfrm>
            <a:off x="531050" y="2481407"/>
            <a:ext cx="11158111" cy="1781988"/>
          </a:xfrm>
          <a:prstGeom prst="rect">
            <a:avLst/>
          </a:prstGeom>
        </p:spPr>
        <p:txBody>
          <a:bodyPr vert="horz" lIns="91440" tIns="45720" rIns="91440" bIns="45720" rtlCol="0">
            <a:normAutofit lnSpcReduction="10000"/>
          </a:bodyPr>
          <a:lstStyle>
            <a:lvl1pPr marL="228600" indent="-228600" algn="l" defTabSz="914400">
              <a:lnSpc>
                <a:spcPct val="100000"/>
              </a:lnSpc>
              <a:spcBef>
                <a:spcPts val="0"/>
              </a:spcBef>
              <a:spcAft>
                <a:spcPts val="600"/>
              </a:spcAft>
              <a:buFont typeface="Wingdings"/>
              <a:buChar char="l"/>
              <a:defRPr sz="2000">
                <a:solidFill>
                  <a:schemeClr val="bg2">
                    <a:lumMod val="25000"/>
                  </a:schemeClr>
                </a:solidFill>
                <a:latin typeface="+mj-ea"/>
                <a:ea typeface="+mj-ea"/>
                <a:cs typeface="+mn-cs"/>
              </a:defRPr>
            </a:lvl1pPr>
            <a:lvl2pPr marL="540000" indent="-288000" algn="l" defTabSz="914400">
              <a:lnSpc>
                <a:spcPct val="100000"/>
              </a:lnSpc>
              <a:spcBef>
                <a:spcPts val="0"/>
              </a:spcBef>
              <a:spcAft>
                <a:spcPts val="600"/>
              </a:spcAft>
              <a:buClrTx/>
              <a:buFont typeface="ヒラギノ角ゴ ProN W3"/>
              <a:buChar char="―"/>
              <a:defRPr sz="1800">
                <a:solidFill>
                  <a:schemeClr val="bg2">
                    <a:lumMod val="25000"/>
                  </a:schemeClr>
                </a:solidFill>
                <a:latin typeface="ヒラギノ角ゴ ProN W3"/>
                <a:ea typeface="ヒラギノ角ゴ ProN W3"/>
                <a:cs typeface="+mn-cs"/>
              </a:defRPr>
            </a:lvl2pPr>
            <a:lvl3pPr marL="792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3pPr>
            <a:lvl4pPr marL="1044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4pPr>
            <a:lvl5pPr marL="1332000" indent="-180000" algn="l" defTabSz="914400">
              <a:lnSpc>
                <a:spcPct val="100000"/>
              </a:lnSpc>
              <a:spcBef>
                <a:spcPts val="0"/>
              </a:spcBef>
              <a:spcAft>
                <a:spcPts val="600"/>
              </a:spcAft>
              <a:buFont typeface="Arial"/>
              <a:buChar char="•"/>
              <a:defRPr sz="1800">
                <a:solidFill>
                  <a:schemeClr val="bg2">
                    <a:lumMod val="50000"/>
                  </a:schemeClr>
                </a:solidFill>
                <a:latin typeface="Avenir Next LT Pro"/>
                <a:ea typeface="ヒラギノ角ゴ ProN W3"/>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ja-JP"/>
              <a:t>原因仮説</a:t>
            </a:r>
            <a:endParaRPr lang="en-US"/>
          </a:p>
          <a:p>
            <a:pPr>
              <a:buFont typeface="Arial"/>
              <a:buChar char="•"/>
              <a:defRPr/>
            </a:pPr>
            <a:r>
              <a:rPr lang="en-US" sz="1400"/>
              <a:t>Makespan</a:t>
            </a:r>
            <a:r>
              <a:rPr lang="ja-JP" sz="1400"/>
              <a:t>最小化の優先度が高いため、大きな作業時間を与えて前詰めを行っていると思われる</a:t>
            </a:r>
            <a:endParaRPr lang="en-US" sz="1400"/>
          </a:p>
          <a:p>
            <a:pPr>
              <a:buFont typeface="Arial"/>
              <a:buChar char="•"/>
              <a:defRPr/>
            </a:pPr>
            <a:r>
              <a:rPr lang="ja-JP" sz="1400"/>
              <a:t>連続作業を保証する制約がないため、作業者の日替わりや空白日が発生している</a:t>
            </a:r>
            <a:endParaRPr lang="en-US" sz="1400"/>
          </a:p>
          <a:p>
            <a:pPr>
              <a:buFont typeface="Arial"/>
              <a:buChar char="•"/>
              <a:defRPr/>
            </a:pPr>
            <a:r>
              <a:rPr lang="ja-JP" sz="1400"/>
              <a:t>空白日により前詰めできていない点や最小作業人数違反は、決定変数のモデル化の問題と考えられる</a:t>
            </a:r>
            <a:endParaRPr lang="en-US" sz="1400"/>
          </a:p>
          <a:p>
            <a:pPr lvl="1">
              <a:buFont typeface="Arial"/>
              <a:buChar char="•"/>
              <a:defRPr/>
            </a:pPr>
            <a:r>
              <a:rPr lang="ja-JP" sz="1200"/>
              <a:t>決定変数</a:t>
            </a:r>
            <a:r>
              <a:rPr lang="en-US" sz="1200"/>
              <a:t>1</a:t>
            </a:r>
            <a:r>
              <a:rPr lang="ja-JP" sz="1200"/>
              <a:t>つの変更時に一時的な絶対制約違反となりやすく、探索が局所解に留まりやすい</a:t>
            </a:r>
            <a:endParaRPr lang="en-US" sz="1200"/>
          </a:p>
          <a:p>
            <a:pPr lvl="1">
              <a:buFont typeface="Arial"/>
              <a:buChar char="•"/>
              <a:defRPr/>
            </a:pPr>
            <a:r>
              <a:rPr lang="ja-JP" sz="1200"/>
              <a:t>作業期間をまとめてずらすなど、人が通常期待する最適化時の調整を直接的に行えない</a:t>
            </a:r>
            <a:endParaRPr lang="en-US" sz="1200"/>
          </a:p>
          <a:p>
            <a:pPr marL="0" indent="0">
              <a:buNone/>
              <a:defRPr/>
            </a:pPr>
            <a:endParaRPr lang="en-US" sz="1600"/>
          </a:p>
        </p:txBody>
      </p:sp>
      <p:sp>
        <p:nvSpPr>
          <p:cNvPr id="759817458" name="テキスト プレースホルダー 4"/>
          <p:cNvSpPr txBox="1"/>
          <p:nvPr/>
        </p:nvSpPr>
        <p:spPr bwMode="auto">
          <a:xfrm>
            <a:off x="531050" y="4333349"/>
            <a:ext cx="11158111" cy="1447326"/>
          </a:xfrm>
          <a:prstGeom prst="rect">
            <a:avLst/>
          </a:prstGeom>
        </p:spPr>
        <p:txBody>
          <a:bodyPr vert="horz" lIns="91440" tIns="45720" rIns="91440" bIns="45720" rtlCol="0">
            <a:normAutofit/>
          </a:bodyPr>
          <a:lstStyle>
            <a:lvl1pPr marL="228600" indent="-228600" algn="l" defTabSz="914400">
              <a:lnSpc>
                <a:spcPct val="100000"/>
              </a:lnSpc>
              <a:spcBef>
                <a:spcPts val="0"/>
              </a:spcBef>
              <a:spcAft>
                <a:spcPts val="600"/>
              </a:spcAft>
              <a:buFont typeface="Wingdings"/>
              <a:buChar char="l"/>
              <a:defRPr sz="2000">
                <a:solidFill>
                  <a:schemeClr val="bg2">
                    <a:lumMod val="25000"/>
                  </a:schemeClr>
                </a:solidFill>
                <a:latin typeface="+mj-ea"/>
                <a:ea typeface="+mj-ea"/>
                <a:cs typeface="+mn-cs"/>
              </a:defRPr>
            </a:lvl1pPr>
            <a:lvl2pPr marL="540000" indent="-288000" algn="l" defTabSz="914400">
              <a:lnSpc>
                <a:spcPct val="100000"/>
              </a:lnSpc>
              <a:spcBef>
                <a:spcPts val="0"/>
              </a:spcBef>
              <a:spcAft>
                <a:spcPts val="600"/>
              </a:spcAft>
              <a:buClrTx/>
              <a:buFont typeface="ヒラギノ角ゴ ProN W3"/>
              <a:buChar char="―"/>
              <a:defRPr sz="1800">
                <a:solidFill>
                  <a:schemeClr val="bg2">
                    <a:lumMod val="25000"/>
                  </a:schemeClr>
                </a:solidFill>
                <a:latin typeface="ヒラギノ角ゴ ProN W3"/>
                <a:ea typeface="ヒラギノ角ゴ ProN W3"/>
                <a:cs typeface="+mn-cs"/>
              </a:defRPr>
            </a:lvl2pPr>
            <a:lvl3pPr marL="792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3pPr>
            <a:lvl4pPr marL="1044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4pPr>
            <a:lvl5pPr marL="1332000" indent="-180000" algn="l" defTabSz="914400">
              <a:lnSpc>
                <a:spcPct val="100000"/>
              </a:lnSpc>
              <a:spcBef>
                <a:spcPts val="0"/>
              </a:spcBef>
              <a:spcAft>
                <a:spcPts val="600"/>
              </a:spcAft>
              <a:buFont typeface="Arial"/>
              <a:buChar char="•"/>
              <a:defRPr sz="1800">
                <a:solidFill>
                  <a:schemeClr val="bg2">
                    <a:lumMod val="50000"/>
                  </a:schemeClr>
                </a:solidFill>
                <a:latin typeface="Avenir Next LT Pro"/>
                <a:ea typeface="ヒラギノ角ゴ ProN W3"/>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ja-JP"/>
              <a:t>改善方針</a:t>
            </a:r>
            <a:endParaRPr lang="en-US"/>
          </a:p>
          <a:p>
            <a:pPr>
              <a:buFont typeface="Arial"/>
              <a:buChar char="•"/>
              <a:defRPr/>
            </a:pPr>
            <a:r>
              <a:rPr lang="ja-JP" sz="1400"/>
              <a:t>作業者の日替わりなど実用的な解が得られない点が、最も大きな問題と考えられる</a:t>
            </a:r>
            <a:endParaRPr lang="en-US" sz="1400"/>
          </a:p>
          <a:p>
            <a:pPr>
              <a:buFont typeface="Arial"/>
              <a:buChar char="•"/>
              <a:defRPr/>
            </a:pPr>
            <a:r>
              <a:rPr lang="ja-JP" sz="1400"/>
              <a:t>数名の作業者が、一定日数、同一の作業を連続することを基本的な計画とするよう決定変数のモデル化の見直しを行う。</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7906315" name="タイトル 1"/>
          <p:cNvSpPr>
            <a:spLocks noGrp="1"/>
          </p:cNvSpPr>
          <p:nvPr>
            <p:ph type="title"/>
          </p:nvPr>
        </p:nvSpPr>
        <p:spPr bwMode="auto"/>
        <p:txBody>
          <a:bodyPr/>
          <a:lstStyle/>
          <a:p>
            <a:pPr>
              <a:defRPr/>
            </a:pPr>
            <a:r>
              <a:rPr lang="ja-JP"/>
              <a:t>作業ブロックでの</a:t>
            </a:r>
            <a:r>
              <a:rPr lang="en-US"/>
              <a:t>2</a:t>
            </a:r>
            <a:r>
              <a:rPr lang="ja-JP"/>
              <a:t>ステージ最適化</a:t>
            </a:r>
            <a:endParaRPr/>
          </a:p>
        </p:txBody>
      </p:sp>
      <p:sp>
        <p:nvSpPr>
          <p:cNvPr id="1976167589" name="フッター プレースホルダー 2"/>
          <p:cNvSpPr>
            <a:spLocks noGrp="1"/>
          </p:cNvSpPr>
          <p:nvPr>
            <p:ph type="ftr" sz="quarter" idx="11"/>
          </p:nvPr>
        </p:nvSpPr>
        <p:spPr bwMode="auto"/>
        <p:txBody>
          <a:bodyPr/>
          <a:lstStyle/>
          <a:p>
            <a:pPr>
              <a:defRPr/>
            </a:pPr>
            <a:endParaRPr lang="ja-JP"/>
          </a:p>
        </p:txBody>
      </p:sp>
      <p:sp>
        <p:nvSpPr>
          <p:cNvPr id="1491046019" name="スライド番号プレースホルダー 3"/>
          <p:cNvSpPr>
            <a:spLocks noGrp="1"/>
          </p:cNvSpPr>
          <p:nvPr>
            <p:ph type="sldNum" sz="quarter" idx="12"/>
          </p:nvPr>
        </p:nvSpPr>
        <p:spPr bwMode="auto"/>
        <p:txBody>
          <a:bodyPr/>
          <a:lstStyle/>
          <a:p>
            <a:pPr>
              <a:defRPr/>
            </a:pPr>
            <a:fld id="{9EE375CF-DE78-44C2-B104-2824F80826E0}" type="slidenum">
              <a:rPr lang="ja-JP"/>
              <a:t>7</a:t>
            </a:fld>
            <a:endParaRPr lang="ja-JP"/>
          </a:p>
        </p:txBody>
      </p:sp>
      <p:sp>
        <p:nvSpPr>
          <p:cNvPr id="249155593" name="テキスト プレースホルダー 4"/>
          <p:cNvSpPr>
            <a:spLocks noGrp="1"/>
          </p:cNvSpPr>
          <p:nvPr>
            <p:ph type="body" sz="quarter" idx="16"/>
          </p:nvPr>
        </p:nvSpPr>
        <p:spPr bwMode="auto">
          <a:xfrm>
            <a:off x="513531" y="908366"/>
            <a:ext cx="11158111" cy="5371410"/>
          </a:xfrm>
        </p:spPr>
        <p:txBody>
          <a:bodyPr>
            <a:normAutofit/>
          </a:bodyPr>
          <a:lstStyle/>
          <a:p>
            <a:pPr>
              <a:defRPr/>
            </a:pPr>
            <a:r>
              <a:rPr lang="ja-JP"/>
              <a:t>検証概要</a:t>
            </a:r>
            <a:endParaRPr/>
          </a:p>
          <a:p>
            <a:pPr>
              <a:defRPr/>
            </a:pPr>
            <a:endParaRPr lang="ja-JP"/>
          </a:p>
        </p:txBody>
      </p:sp>
      <p:graphicFrame>
        <p:nvGraphicFramePr>
          <p:cNvPr id="2104578179" name="表 4"/>
          <p:cNvGraphicFramePr>
            <a:graphicFrameLocks xmlns:a="http://schemas.openxmlformats.org/drawingml/2006/main" noGrp="1"/>
          </p:cNvGraphicFramePr>
          <p:nvPr/>
        </p:nvGraphicFramePr>
        <p:xfrm>
          <a:off x="645085" y="1376571"/>
          <a:ext cx="10731126" cy="4023360"/>
        </p:xfrm>
        <a:graphic>
          <a:graphicData uri="http://schemas.openxmlformats.org/drawingml/2006/table">
            <a:tbl>
              <a:tblPr firstRow="1" firstCol="0" lastRow="0" lastCol="0" bandRow="1" bandCol="0">
                <a:tableStyleId>{2D5ABB26-0587-4C30-8999-92F81FD0307C}</a:tableStyleId>
              </a:tblPr>
              <a:tblGrid>
                <a:gridCol w="840814"/>
                <a:gridCol w="9890311"/>
              </a:tblGrid>
              <a:tr h="370840">
                <a:tc>
                  <a:txBody>
                    <a:bodyPr/>
                    <a:p>
                      <a:pPr>
                        <a:defRPr/>
                      </a:pPr>
                      <a:r>
                        <a:rPr lang="ja-JP" sz="1600"/>
                        <a:t>目的：</a:t>
                      </a:r>
                      <a:endParaRPr/>
                    </a:p>
                  </a:txBody>
                  <a:tcPr/>
                </a:tc>
                <a:tc>
                  <a:txBody>
                    <a:bodyPr/>
                    <a:p>
                      <a:pPr>
                        <a:defRPr/>
                      </a:pPr>
                      <a:r>
                        <a:rPr lang="ja-JP" sz="1600"/>
                        <a:t>初期検証で課題となった作業の連続性を保証し、実用的な計画結果が出力されることを確認する</a:t>
                      </a:r>
                      <a:endParaRPr lang="en-US" sz="1600"/>
                    </a:p>
                    <a:p>
                      <a:pPr>
                        <a:defRPr/>
                      </a:pPr>
                      <a:r>
                        <a:rPr lang="ja-JP" sz="1600"/>
                        <a:t>残業時間を過剰に割り当てないようにする</a:t>
                      </a:r>
                      <a:endParaRPr lang="en-US" sz="1600"/>
                    </a:p>
                  </a:txBody>
                  <a:tcPr/>
                </a:tc>
              </a:tr>
              <a:tr h="370840">
                <a:tc>
                  <a:txBody>
                    <a:bodyPr/>
                    <a:p>
                      <a:pPr>
                        <a:defRPr/>
                      </a:pPr>
                      <a:r>
                        <a:rPr lang="ja-JP" sz="1600"/>
                        <a:t>手法：</a:t>
                      </a:r>
                      <a:endParaRPr/>
                    </a:p>
                  </a:txBody>
                  <a:tcPr/>
                </a:tc>
                <a:tc>
                  <a:txBody>
                    <a:bodyPr/>
                    <a:p>
                      <a:pPr>
                        <a:defRPr/>
                      </a:pPr>
                      <a:r>
                        <a:rPr lang="ja-JP" sz="1600"/>
                        <a:t>計画過程を分割した</a:t>
                      </a:r>
                      <a:r>
                        <a:rPr lang="en-US" sz="1600"/>
                        <a:t>2</a:t>
                      </a:r>
                      <a:r>
                        <a:rPr lang="ja-JP" sz="1600"/>
                        <a:t>ステージでの最適化を行う</a:t>
                      </a:r>
                      <a:endParaRPr lang="en-US" sz="1600"/>
                    </a:p>
                    <a:p>
                      <a:pPr>
                        <a:defRPr/>
                      </a:pPr>
                      <a:r>
                        <a:rPr lang="ja-JP" sz="1600"/>
                        <a:t>ステージ</a:t>
                      </a:r>
                      <a:r>
                        <a:rPr lang="en-US" sz="1600"/>
                        <a:t>1</a:t>
                      </a:r>
                      <a:r>
                        <a:rPr lang="ja-JP" sz="1600"/>
                        <a:t>では、作業に対して作業ブロック（開始日、日数、作業者数、作業時間）決定変数とする</a:t>
                      </a:r>
                      <a:endParaRPr lang="en-US" sz="1600"/>
                    </a:p>
                    <a:p>
                      <a:pPr>
                        <a:defRPr/>
                      </a:pPr>
                      <a:r>
                        <a:rPr lang="ja-JP" sz="1600"/>
                        <a:t>ステージ</a:t>
                      </a:r>
                      <a:r>
                        <a:rPr lang="en-US" sz="1600"/>
                        <a:t>2</a:t>
                      </a:r>
                      <a:r>
                        <a:rPr lang="ja-JP" sz="1600"/>
                        <a:t>では、作業ブロックに対して、作業人数分の具体的な作業者の割り当てを決定変数とする</a:t>
                      </a:r>
                      <a:endParaRPr lang="en-US" sz="1600"/>
                    </a:p>
                    <a:p>
                      <a:pPr>
                        <a:defRPr/>
                      </a:pPr>
                      <a:r>
                        <a:rPr lang="ja-JP" sz="1600"/>
                        <a:t>またステージ</a:t>
                      </a:r>
                      <a:r>
                        <a:rPr lang="en-US" sz="1600"/>
                        <a:t>1</a:t>
                      </a:r>
                      <a:r>
                        <a:rPr lang="ja-JP" sz="1600"/>
                        <a:t>で、絶対制約を満たせない場合に選択可能な作業時間の上限を段階的に開放する</a:t>
                      </a:r>
                      <a:endParaRPr lang="en-US" sz="1600"/>
                    </a:p>
                  </a:txBody>
                  <a:tcPr/>
                </a:tc>
              </a:tr>
              <a:tr h="370840">
                <a:tc>
                  <a:txBody>
                    <a:bodyPr/>
                    <a:p>
                      <a:pPr>
                        <a:defRPr/>
                      </a:pPr>
                      <a:r>
                        <a:rPr lang="ja-JP" sz="1600"/>
                        <a:t>結果：</a:t>
                      </a:r>
                      <a:endParaRPr/>
                    </a:p>
                  </a:txBody>
                  <a:tcPr/>
                </a:tc>
                <a:tc>
                  <a:txBody>
                    <a:bodyPr/>
                    <a:p>
                      <a:pPr marL="0" marR="0" lvl="0" indent="0" algn="l" defTabSz="914400">
                        <a:lnSpc>
                          <a:spcPct val="100000"/>
                        </a:lnSpc>
                        <a:spcBef>
                          <a:spcPts val="0"/>
                        </a:spcBef>
                        <a:spcAft>
                          <a:spcPts val="0"/>
                        </a:spcAft>
                        <a:buClrTx/>
                        <a:buSzTx/>
                        <a:buFont typeface="Arial"/>
                        <a:buNone/>
                        <a:defRPr/>
                      </a:pPr>
                      <a:r>
                        <a:rPr lang="ja-JP" sz="1600"/>
                        <a:t>作業時間</a:t>
                      </a:r>
                      <a:r>
                        <a:rPr lang="en-US" sz="1600"/>
                        <a:t>=8</a:t>
                      </a:r>
                      <a:r>
                        <a:rPr lang="ja-JP" sz="1600"/>
                        <a:t>のみではステージ</a:t>
                      </a:r>
                      <a:r>
                        <a:rPr lang="en-US" sz="1600"/>
                        <a:t>1</a:t>
                      </a:r>
                      <a:r>
                        <a:rPr lang="ja-JP" sz="1600"/>
                        <a:t>の絶対制約を満たせなかったが、作業時間</a:t>
                      </a:r>
                      <a:r>
                        <a:rPr lang="en-US" sz="1600"/>
                        <a:t>=10</a:t>
                      </a:r>
                      <a:r>
                        <a:rPr lang="ja-JP" sz="1600"/>
                        <a:t>まで可能として計画できた。</a:t>
                      </a:r>
                      <a:endParaRPr lang="en-US" sz="1600"/>
                    </a:p>
                    <a:p>
                      <a:pPr marL="0" marR="0" lvl="0" indent="0" algn="l" defTabSz="914400">
                        <a:lnSpc>
                          <a:spcPct val="100000"/>
                        </a:lnSpc>
                        <a:spcBef>
                          <a:spcPts val="0"/>
                        </a:spcBef>
                        <a:spcAft>
                          <a:spcPts val="0"/>
                        </a:spcAft>
                        <a:buClrTx/>
                        <a:buSzTx/>
                        <a:buFont typeface="Arial"/>
                        <a:buNone/>
                        <a:defRPr/>
                      </a:pPr>
                      <a:r>
                        <a:rPr lang="ja-JP" sz="1600"/>
                        <a:t>絶対制約違反がなく、数名の作業者が、一定日数、同一作業を連続して行う計画結果が得られた。</a:t>
                      </a:r>
                      <a:endParaRPr lang="en-US" sz="1600"/>
                    </a:p>
                    <a:p>
                      <a:pPr marL="0" marR="0" lvl="0" indent="0" algn="l" defTabSz="914400">
                        <a:lnSpc>
                          <a:spcPct val="100000"/>
                        </a:lnSpc>
                        <a:spcBef>
                          <a:spcPts val="0"/>
                        </a:spcBef>
                        <a:spcAft>
                          <a:spcPts val="0"/>
                        </a:spcAft>
                        <a:buClrTx/>
                        <a:buSzTx/>
                        <a:buFont typeface="Arial"/>
                        <a:buNone/>
                        <a:defRPr/>
                      </a:pPr>
                      <a:r>
                        <a:rPr lang="ja-JP" sz="1600"/>
                        <a:t>一度の計画で複数回の最適化を行うため、計画にかかる時間が長くなった。</a:t>
                      </a:r>
                      <a:endParaRPr lang="en-US" sz="1600"/>
                    </a:p>
                  </a:txBody>
                  <a:tcPr/>
                </a:tc>
              </a:tr>
              <a:tr h="370840">
                <a:tc>
                  <a:txBody>
                    <a:bodyPr/>
                    <a:p>
                      <a:pPr>
                        <a:defRPr/>
                      </a:pPr>
                      <a:r>
                        <a:rPr lang="ja-JP" sz="1600"/>
                        <a:t>結語：</a:t>
                      </a:r>
                      <a:endParaRPr/>
                    </a:p>
                  </a:txBody>
                  <a:tcPr/>
                </a:tc>
                <a:tc>
                  <a:txBody>
                    <a:bodyPr/>
                    <a:p>
                      <a:pPr>
                        <a:defRPr/>
                      </a:pPr>
                      <a:r>
                        <a:rPr lang="ja-JP" sz="1600"/>
                        <a:t>作業ブロックと作業者の割り当てを分割した</a:t>
                      </a:r>
                      <a:r>
                        <a:rPr lang="en-US" sz="1600"/>
                        <a:t>2</a:t>
                      </a:r>
                      <a:r>
                        <a:rPr lang="ja-JP" sz="1600"/>
                        <a:t>ステージの最適化によって、想定した通りに作業の連続性に関して実用的な計画結果を得ることができた。</a:t>
                      </a:r>
                      <a:endParaRPr lang="en-US" sz="1600"/>
                    </a:p>
                    <a:p>
                      <a:pPr>
                        <a:defRPr/>
                      </a:pPr>
                      <a:r>
                        <a:rPr lang="ja-JP" sz="1600"/>
                        <a:t>概ね期待した結果を得ることはできたが、今後実用的な規模での最適化を行うために計画時間の増加が問題となることが想定される。</a:t>
                      </a:r>
                      <a:endParaRPr lang="en-US" sz="1600"/>
                    </a:p>
                    <a:p>
                      <a:pPr>
                        <a:defRPr/>
                      </a:pPr>
                      <a:r>
                        <a:rPr lang="ja-JP" sz="1600"/>
                        <a:t>ここまで開発速度優先のため</a:t>
                      </a:r>
                      <a:r>
                        <a:rPr lang="en-US" sz="1600"/>
                        <a:t>Python</a:t>
                      </a:r>
                      <a:r>
                        <a:rPr lang="ja-JP" sz="1600"/>
                        <a:t>版</a:t>
                      </a:r>
                      <a:r>
                        <a:rPr lang="en-US" sz="1600"/>
                        <a:t>Timefold</a:t>
                      </a:r>
                      <a:r>
                        <a:rPr lang="ja-JP" sz="1600"/>
                        <a:t>を用いたが、実行速度向上のため</a:t>
                      </a:r>
                      <a:r>
                        <a:rPr lang="en-US" sz="1600"/>
                        <a:t>Java</a:t>
                      </a:r>
                      <a:r>
                        <a:rPr lang="ja-JP" sz="1600"/>
                        <a:t>版</a:t>
                      </a:r>
                      <a:r>
                        <a:rPr lang="en-US" sz="1600"/>
                        <a:t>Timefold</a:t>
                      </a:r>
                      <a:r>
                        <a:rPr lang="ja-JP" sz="1600"/>
                        <a:t>を導入する。</a:t>
                      </a:r>
                      <a:endParaRPr lang="en-US" sz="16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3042378" name="タイトル 1"/>
          <p:cNvSpPr>
            <a:spLocks noGrp="1"/>
          </p:cNvSpPr>
          <p:nvPr>
            <p:ph type="title"/>
          </p:nvPr>
        </p:nvSpPr>
        <p:spPr bwMode="auto"/>
        <p:txBody>
          <a:bodyPr/>
          <a:lstStyle/>
          <a:p>
            <a:pPr>
              <a:defRPr/>
            </a:pPr>
            <a:r>
              <a:rPr lang="ja-JP"/>
              <a:t>作業ブロックでの</a:t>
            </a:r>
            <a:r>
              <a:rPr lang="en-US"/>
              <a:t>2</a:t>
            </a:r>
            <a:r>
              <a:rPr lang="ja-JP"/>
              <a:t>ステージ最適化</a:t>
            </a:r>
            <a:endParaRPr lang="ja-JP"/>
          </a:p>
        </p:txBody>
      </p:sp>
      <p:sp>
        <p:nvSpPr>
          <p:cNvPr id="290738091" name="フッター プレースホルダー 2"/>
          <p:cNvSpPr>
            <a:spLocks noGrp="1"/>
          </p:cNvSpPr>
          <p:nvPr>
            <p:ph type="ftr" sz="quarter" idx="11"/>
          </p:nvPr>
        </p:nvSpPr>
        <p:spPr bwMode="auto"/>
        <p:txBody>
          <a:bodyPr/>
          <a:lstStyle/>
          <a:p>
            <a:pPr>
              <a:defRPr/>
            </a:pPr>
            <a:endParaRPr lang="ja-JP"/>
          </a:p>
        </p:txBody>
      </p:sp>
      <p:sp>
        <p:nvSpPr>
          <p:cNvPr id="1180849526" name="スライド番号プレースホルダー 3"/>
          <p:cNvSpPr>
            <a:spLocks noGrp="1"/>
          </p:cNvSpPr>
          <p:nvPr>
            <p:ph type="sldNum" sz="quarter" idx="12"/>
          </p:nvPr>
        </p:nvSpPr>
        <p:spPr bwMode="auto"/>
        <p:txBody>
          <a:bodyPr/>
          <a:lstStyle/>
          <a:p>
            <a:pPr>
              <a:defRPr/>
            </a:pPr>
            <a:fld id="{9EE375CF-DE78-44C2-B104-2824F80826E0}" type="slidenum">
              <a:rPr lang="ja-JP"/>
              <a:t>8</a:t>
            </a:fld>
            <a:endParaRPr lang="ja-JP"/>
          </a:p>
        </p:txBody>
      </p:sp>
      <p:sp>
        <p:nvSpPr>
          <p:cNvPr id="397523929" name="テキスト プレースホルダー 4"/>
          <p:cNvSpPr>
            <a:spLocks noGrp="1"/>
          </p:cNvSpPr>
          <p:nvPr>
            <p:ph type="body" sz="quarter" idx="16"/>
          </p:nvPr>
        </p:nvSpPr>
        <p:spPr bwMode="auto">
          <a:xfrm>
            <a:off x="513531" y="908366"/>
            <a:ext cx="11158111" cy="5359084"/>
          </a:xfrm>
        </p:spPr>
        <p:txBody>
          <a:bodyPr>
            <a:normAutofit/>
          </a:bodyPr>
          <a:lstStyle/>
          <a:p>
            <a:pPr>
              <a:defRPr/>
            </a:pPr>
            <a:r>
              <a:rPr lang="ja-JP"/>
              <a:t>決定変数のモデル化</a:t>
            </a:r>
            <a:endParaRPr lang="en-US"/>
          </a:p>
          <a:p>
            <a:pPr marL="0" indent="0">
              <a:buNone/>
              <a:defRPr/>
            </a:pPr>
            <a:r>
              <a:rPr lang="en-US" sz="1600"/>
              <a:t>[</a:t>
            </a:r>
            <a:r>
              <a:rPr lang="ja-JP" sz="1600"/>
              <a:t>ステージ</a:t>
            </a:r>
            <a:r>
              <a:rPr lang="en-US" sz="1600"/>
              <a:t>1]</a:t>
            </a:r>
            <a:endParaRPr/>
          </a:p>
          <a:p>
            <a:pPr marL="0" indent="0">
              <a:buNone/>
              <a:defRPr/>
            </a:pPr>
            <a:r>
              <a:rPr lang="ja-JP" sz="1600"/>
              <a:t>具体的な作業者を決めず、作業者グループが一連の作業を行うよう抽象化したフェーズ</a:t>
            </a:r>
            <a:endParaRPr lang="en-US" sz="1600"/>
          </a:p>
          <a:p>
            <a:pPr marL="0" indent="0">
              <a:buNone/>
              <a:defRPr/>
            </a:pPr>
            <a:r>
              <a:rPr lang="ja-JP" sz="1600"/>
              <a:t>各作業ごとに作業ブロック（</a:t>
            </a:r>
            <a:r>
              <a:rPr lang="en-US" sz="1600"/>
              <a:t>B</a:t>
            </a:r>
            <a:r>
              <a:rPr lang="ja-JP" sz="1600"/>
              <a:t>）を作成し、作業ブロックに開始日（</a:t>
            </a:r>
            <a:r>
              <a:rPr lang="en-US" sz="1600"/>
              <a:t>D</a:t>
            </a:r>
            <a:r>
              <a:rPr lang="ja-JP" sz="1600"/>
              <a:t>）、日数（</a:t>
            </a:r>
            <a:r>
              <a:rPr lang="en-US" sz="1600"/>
              <a:t>W</a:t>
            </a:r>
            <a:r>
              <a:rPr lang="ja-JP" sz="1600"/>
              <a:t>）、作業者数（</a:t>
            </a:r>
            <a:r>
              <a:rPr lang="en-US" sz="1600"/>
              <a:t>N</a:t>
            </a:r>
            <a:r>
              <a:rPr lang="ja-JP" sz="1600"/>
              <a:t>）、作業時間（</a:t>
            </a:r>
            <a:r>
              <a:rPr lang="en-US" sz="1600"/>
              <a:t>H</a:t>
            </a:r>
            <a:r>
              <a:rPr lang="ja-JP" sz="1600"/>
              <a:t>）を選択する問題としてモデル化する</a:t>
            </a:r>
            <a:endParaRPr lang="en-US" sz="1600"/>
          </a:p>
          <a:p>
            <a:pPr marL="0" indent="0">
              <a:buNone/>
              <a:defRPr/>
            </a:pPr>
            <a:endParaRPr lang="en-US" sz="1600"/>
          </a:p>
          <a:p>
            <a:pPr marL="0" indent="0">
              <a:buNone/>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1600" b="0" i="1">
                          <a:latin typeface="Cambria Math"/>
                        </a:rPr>
                        <m:t>𝐵</m:t>
                      </m:r>
                      <m:r>
                        <m:rPr/>
                        <a:rPr lang="en-US" sz="1600" i="1">
                          <a:latin typeface="Cambria Math"/>
                        </a:rPr>
                        <m:t>.</m:t>
                      </m:r>
                      <m:r>
                        <m:rPr/>
                        <a:rPr lang="en-US" sz="1600" b="0" i="1">
                          <a:latin typeface="Cambria Math"/>
                        </a:rPr>
                        <m:t>𝑠𝑡𝑎𝑟𝑡𝐷𝑎𝑦</m:t>
                      </m:r>
                      <m:r>
                        <m:rPr/>
                        <a:rPr lang="en-US" sz="1600" b="0" i="1">
                          <a:latin typeface="Cambria Math"/>
                          <a:ea typeface="Cambria Math"/>
                        </a:rPr>
                        <m:t>∈</m:t>
                      </m:r>
                      <m:r>
                        <m:rPr/>
                        <a:rPr lang="en-US" sz="1600" b="0" i="1">
                          <a:latin typeface="Cambria Math"/>
                          <a:ea typeface="Cambria Math"/>
                        </a:rPr>
                        <m:t>𝐷</m:t>
                      </m:r>
                    </m:oMath>
                  </m:oMathPara>
                </a14:m>
              </mc:Choice>
              <mc:Fallback/>
            </mc:AlternateContent>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1600" b="0" i="1">
                          <a:latin typeface="Cambria Math"/>
                          <a:ea typeface="Cambria Math"/>
                        </a:rPr>
                        <m:t>𝐵</m:t>
                      </m:r>
                      <m:r>
                        <m:rPr/>
                        <a:rPr lang="en-US" sz="1600" b="0" i="1">
                          <a:latin typeface="Cambria Math"/>
                          <a:ea typeface="Cambria Math"/>
                        </a:rPr>
                        <m:t>.</m:t>
                      </m:r>
                      <m:r>
                        <m:rPr/>
                        <a:rPr lang="en-US" sz="1600" b="0" i="1">
                          <a:latin typeface="Cambria Math"/>
                          <a:ea typeface="Cambria Math"/>
                        </a:rPr>
                        <m:t>𝑑𝑎𝑦𝑠</m:t>
                      </m:r>
                      <m:r>
                        <m:rPr/>
                        <a:rPr lang="en-US" sz="1600" b="0" i="1">
                          <a:latin typeface="Cambria Math"/>
                          <a:ea typeface="Cambria Math"/>
                        </a:rPr>
                        <m:t>∈</m:t>
                      </m:r>
                      <m:r>
                        <m:rPr/>
                        <a:rPr lang="en-US" sz="1600" b="0" i="1">
                          <a:latin typeface="Cambria Math"/>
                          <a:ea typeface="Cambria Math"/>
                        </a:rPr>
                        <m:t>𝑊</m:t>
                      </m:r>
                      <m:d>
                        <m:dPr>
                          <m:ctrlPr>
                            <a:rPr lang="en-US" sz="1600" b="0" i="1">
                              <a:latin typeface="Cambria Math"/>
                              <a:ea typeface="Cambria Math"/>
                              <a:cs typeface="Cambria Math"/>
                            </a:rPr>
                          </m:ctrlPr>
                        </m:dPr>
                        <m:e>
                          <m:r>
                            <m:rPr/>
                            <a:rPr lang="ja-JP" sz="1600" i="1">
                              <a:latin typeface="Cambria Math"/>
                              <a:ea typeface="Cambria Math"/>
                            </a:rPr>
                            <m:t>作業</m:t>
                          </m:r>
                          <m:r>
                            <m:rPr/>
                            <a:rPr lang="ja-JP" sz="1600" i="1">
                              <a:latin typeface="Cambria Math"/>
                              <a:ea typeface="Cambria Math"/>
                            </a:rPr>
                            <m:t>日数</m:t>
                          </m:r>
                          <m:r>
                            <m:rPr/>
                            <a:rPr lang="ja-JP" sz="1600" i="1">
                              <a:latin typeface="Cambria Math"/>
                              <a:ea typeface="Cambria Math"/>
                            </a:rPr>
                            <m:t>の</m:t>
                          </m:r>
                          <m:r>
                            <m:rPr/>
                            <a:rPr lang="ja-JP" sz="1600" i="1">
                              <a:latin typeface="Cambria Math"/>
                              <a:ea typeface="Cambria Math"/>
                            </a:rPr>
                            <m:t>取りうる</m:t>
                          </m:r>
                          <m:r>
                            <m:rPr/>
                            <a:rPr lang="ja-JP" sz="1600" i="1">
                              <a:latin typeface="Cambria Math"/>
                              <a:ea typeface="Cambria Math"/>
                            </a:rPr>
                            <m:t>範囲を</m:t>
                          </m:r>
                          <m:r>
                            <m:rPr/>
                            <a:rPr lang="ja-JP" sz="1600" i="1">
                              <a:latin typeface="Cambria Math"/>
                              <a:ea typeface="Cambria Math"/>
                            </a:rPr>
                            <m:t>算出</m:t>
                          </m:r>
                        </m:e>
                      </m:d>
                    </m:oMath>
                  </m:oMathPara>
                </a14:m>
              </mc:Choice>
              <mc:Fallback/>
            </mc:AlternateContent>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1600" b="0" i="1">
                          <a:latin typeface="Cambria Math"/>
                          <a:ea typeface="Cambria Math"/>
                        </a:rPr>
                        <m:t>𝐵</m:t>
                      </m:r>
                      <m:r>
                        <m:rPr/>
                        <a:rPr lang="en-US" sz="1600" b="0" i="1">
                          <a:latin typeface="Cambria Math"/>
                          <a:ea typeface="Cambria Math"/>
                        </a:rPr>
                        <m:t>.</m:t>
                      </m:r>
                      <m:r>
                        <m:rPr/>
                        <a:rPr lang="en-US" sz="1600" b="0" i="1">
                          <a:latin typeface="Cambria Math"/>
                          <a:ea typeface="Cambria Math"/>
                        </a:rPr>
                        <m:t>h𝑒𝑎𝑑𝑠</m:t>
                      </m:r>
                      <m:r>
                        <m:rPr/>
                        <a:rPr lang="en-US" sz="1600" b="0" i="1">
                          <a:latin typeface="Cambria Math"/>
                          <a:ea typeface="Cambria Math"/>
                        </a:rPr>
                        <m:t>∈</m:t>
                      </m:r>
                      <m:r>
                        <m:rPr/>
                        <a:rPr lang="en-US" sz="1600" b="0" i="1">
                          <a:latin typeface="Cambria Math"/>
                          <a:ea typeface="Cambria Math"/>
                        </a:rPr>
                        <m:t>𝑁</m:t>
                      </m:r>
                      <m:d>
                        <m:dPr>
                          <m:ctrlPr>
                            <a:rPr lang="en-US" sz="1600" b="0" i="1">
                              <a:latin typeface="Cambria Math"/>
                              <a:ea typeface="Cambria Math"/>
                              <a:cs typeface="Cambria Math"/>
                            </a:rPr>
                          </m:ctrlPr>
                        </m:dPr>
                        <m:e>
                          <m:r>
                            <m:rPr/>
                            <a:rPr lang="ja-JP" sz="1600" i="1">
                              <a:latin typeface="Cambria Math"/>
                              <a:ea typeface="Cambria Math"/>
                            </a:rPr>
                            <m:t>最小必要人数</m:t>
                          </m:r>
                          <m:r>
                            <m:rPr/>
                            <a:rPr lang="en-US" sz="1600" b="0" i="1">
                              <a:latin typeface="Cambria Math"/>
                              <a:ea typeface="Cambria Math"/>
                            </a:rPr>
                            <m:t>≤</m:t>
                          </m:r>
                          <m:r>
                            <m:rPr/>
                            <a:rPr lang="en-US" sz="1600" b="0" i="1">
                              <a:latin typeface="Cambria Math"/>
                              <a:ea typeface="Cambria Math"/>
                            </a:rPr>
                            <m:t>𝑁</m:t>
                          </m:r>
                          <m:r>
                            <m:rPr/>
                            <a:rPr lang="en-US" sz="1600" b="0" i="1">
                              <a:latin typeface="Cambria Math"/>
                              <a:ea typeface="Cambria Math"/>
                            </a:rPr>
                            <m:t>≤最大必要人数</m:t>
                          </m:r>
                        </m:e>
                      </m:d>
                    </m:oMath>
                  </m:oMathPara>
                </a14:m>
              </mc:Choice>
              <mc:Fallback/>
            </mc:AlternateContent>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1600" i="1">
                          <a:latin typeface="Cambria Math"/>
                          <a:ea typeface="Cambria Math"/>
                        </a:rPr>
                        <m:t>𝐵</m:t>
                      </m:r>
                      <m:r>
                        <m:rPr/>
                        <a:rPr lang="en-US" sz="1600" i="1">
                          <a:latin typeface="Cambria Math"/>
                          <a:ea typeface="Cambria Math"/>
                        </a:rPr>
                        <m:t>.</m:t>
                      </m:r>
                      <m:r>
                        <m:rPr/>
                        <a:rPr lang="en-US" sz="1600" i="1">
                          <a:latin typeface="Cambria Math"/>
                          <a:ea typeface="Cambria Math"/>
                        </a:rPr>
                        <m:t>h𝑜𝑢𝑟</m:t>
                      </m:r>
                      <m:r>
                        <m:rPr/>
                        <a:rPr lang="en-US" sz="1600" i="1">
                          <a:latin typeface="Cambria Math"/>
                          <a:ea typeface="Cambria Math"/>
                        </a:rPr>
                        <m:t> ∈</m:t>
                      </m:r>
                      <m:r>
                        <m:rPr/>
                        <a:rPr lang="en-US" sz="1600" i="1">
                          <a:latin typeface="Cambria Math"/>
                          <a:ea typeface="Cambria Math"/>
                        </a:rPr>
                        <m:t>𝐻</m:t>
                      </m:r>
                      <m:r>
                        <m:rPr/>
                        <a:rPr lang="en-US" sz="1600" i="1">
                          <a:latin typeface="Cambria Math"/>
                          <a:ea typeface="Cambria Math"/>
                        </a:rPr>
                        <m:t>(8, 10, 12から選択)</m:t>
                      </m:r>
                    </m:oMath>
                  </m:oMathPara>
                </a14:m>
              </mc:Choice>
              <mc:Fallback/>
            </mc:AlternateContent>
            <a:endParaRPr lang="en-US" sz="1600">
              <a:ea typeface="Cambria Math"/>
            </a:endParaRPr>
          </a:p>
          <a:p>
            <a:pPr marL="0" indent="0">
              <a:buNone/>
              <a:defRPr/>
            </a:pPr>
            <a:endParaRPr lang="en-US" sz="1600" b="0">
              <a:ea typeface="Cambria Math"/>
            </a:endParaRPr>
          </a:p>
          <a:p>
            <a:pPr marL="0" indent="0">
              <a:buNone/>
              <a:defRPr/>
            </a:pPr>
            <a:r>
              <a:rPr lang="en-US" sz="1600"/>
              <a:t>[</a:t>
            </a:r>
            <a:r>
              <a:rPr lang="ja-JP" sz="1600"/>
              <a:t>ステージ</a:t>
            </a:r>
            <a:r>
              <a:rPr lang="en-US" sz="1600"/>
              <a:t>2]</a:t>
            </a:r>
            <a:endParaRPr/>
          </a:p>
          <a:p>
            <a:pPr marL="0" indent="0">
              <a:buNone/>
              <a:defRPr/>
            </a:pPr>
            <a:r>
              <a:rPr lang="ja-JP" sz="1600"/>
              <a:t>作業者ごとのスキルや負荷の分散を考慮して、具体的な作業者を決定するフェーズ</a:t>
            </a:r>
            <a:endParaRPr lang="en-US" sz="1600"/>
          </a:p>
          <a:p>
            <a:pPr marL="0" indent="0">
              <a:buNone/>
              <a:defRPr/>
            </a:pPr>
            <a:r>
              <a:rPr lang="ja-JP" sz="1600"/>
              <a:t>作業ブロックの作業者数（</a:t>
            </a:r>
            <a:r>
              <a:rPr lang="en-US" sz="1600"/>
              <a:t>B.heads</a:t>
            </a:r>
            <a:r>
              <a:rPr lang="ja-JP" sz="1600"/>
              <a:t>）分の作業者割当席（</a:t>
            </a:r>
            <a:r>
              <a:rPr lang="en-US" sz="1600"/>
              <a:t>S</a:t>
            </a:r>
            <a:r>
              <a:rPr lang="ja-JP" sz="1600"/>
              <a:t>）を作成し、作業者割当席に作業者（</a:t>
            </a:r>
            <a:r>
              <a:rPr lang="en-US" sz="1600"/>
              <a:t>E</a:t>
            </a:r>
            <a:r>
              <a:rPr lang="ja-JP" sz="1600"/>
              <a:t>）を選択する問題としてモデル化する</a:t>
            </a:r>
            <a:endParaRPr lang="en-US" sz="1600"/>
          </a:p>
          <a:p>
            <a:pPr marL="0" indent="0">
              <a:buNone/>
              <a:defRPr/>
            </a:pPr>
            <a:endParaRPr lang="en-US" sz="1600"/>
          </a:p>
          <a:p>
            <a:pPr marL="0" indent="0">
              <a:buNone/>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r>
                        <m:rPr/>
                        <a:rPr lang="en-US" sz="1600" b="0" i="1">
                          <a:latin typeface="Cambria Math"/>
                        </a:rPr>
                        <m:t>𝑆</m:t>
                      </m:r>
                      <m:r>
                        <m:rPr/>
                        <a:rPr lang="en-US" sz="1600" b="0" i="1">
                          <a:latin typeface="Cambria Math"/>
                        </a:rPr>
                        <m:t>.</m:t>
                      </m:r>
                      <m:r>
                        <m:rPr/>
                        <a:rPr lang="en-US" sz="1600" b="0" i="1">
                          <a:latin typeface="Cambria Math"/>
                        </a:rPr>
                        <m:t>𝑒𝑚𝑝𝑙𝑜𝑦𝑒𝑒</m:t>
                      </m:r>
                      <m:r>
                        <m:rPr/>
                        <a:rPr lang="en-US" sz="1600" b="0" i="1">
                          <a:latin typeface="Cambria Math"/>
                          <a:ea typeface="Cambria Math"/>
                        </a:rPr>
                        <m:t>∈</m:t>
                      </m:r>
                      <m:r>
                        <m:rPr/>
                        <a:rPr lang="en-US" sz="1600" b="0" i="1">
                          <a:latin typeface="Cambria Math"/>
                          <a:ea typeface="Cambria Math"/>
                        </a:rPr>
                        <m:t>𝐸</m:t>
                      </m:r>
                    </m:oMath>
                  </m:oMathPara>
                </a14:m>
              </mc:Choice>
              <mc:Fallback/>
            </mc:AlternateContent>
            <a:endParaRPr lang="en-US" sz="1600"/>
          </a:p>
          <a:p>
            <a:pPr marL="0" indent="0">
              <a:buNone/>
              <a:defRPr/>
            </a:pPr>
            <a:endParaRPr lang="ja-JP"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2026133" name="タイトル 1"/>
          <p:cNvSpPr>
            <a:spLocks noGrp="1"/>
          </p:cNvSpPr>
          <p:nvPr>
            <p:ph type="title"/>
          </p:nvPr>
        </p:nvSpPr>
        <p:spPr bwMode="auto"/>
        <p:txBody>
          <a:bodyPr/>
          <a:lstStyle/>
          <a:p>
            <a:pPr>
              <a:defRPr/>
            </a:pPr>
            <a:r>
              <a:rPr lang="ja-JP"/>
              <a:t>作業ブロックでの</a:t>
            </a:r>
            <a:r>
              <a:rPr lang="en-US"/>
              <a:t>2</a:t>
            </a:r>
            <a:r>
              <a:rPr lang="ja-JP"/>
              <a:t>ステージ最適化</a:t>
            </a:r>
            <a:endParaRPr lang="ja-JP"/>
          </a:p>
        </p:txBody>
      </p:sp>
      <p:sp>
        <p:nvSpPr>
          <p:cNvPr id="1916017663" name="フッター プレースホルダー 2"/>
          <p:cNvSpPr>
            <a:spLocks noGrp="1"/>
          </p:cNvSpPr>
          <p:nvPr>
            <p:ph type="ftr" sz="quarter" idx="11"/>
          </p:nvPr>
        </p:nvSpPr>
        <p:spPr bwMode="auto"/>
        <p:txBody>
          <a:bodyPr/>
          <a:lstStyle/>
          <a:p>
            <a:pPr>
              <a:defRPr/>
            </a:pPr>
            <a:endParaRPr lang="ja-JP"/>
          </a:p>
        </p:txBody>
      </p:sp>
      <p:sp>
        <p:nvSpPr>
          <p:cNvPr id="301676657" name="スライド番号プレースホルダー 3"/>
          <p:cNvSpPr>
            <a:spLocks noGrp="1"/>
          </p:cNvSpPr>
          <p:nvPr>
            <p:ph type="sldNum" sz="quarter" idx="12"/>
          </p:nvPr>
        </p:nvSpPr>
        <p:spPr bwMode="auto"/>
        <p:txBody>
          <a:bodyPr/>
          <a:lstStyle/>
          <a:p>
            <a:pPr>
              <a:defRPr/>
            </a:pPr>
            <a:fld id="{9EE375CF-DE78-44C2-B104-2824F80826E0}" type="slidenum">
              <a:rPr lang="ja-JP"/>
              <a:t>9</a:t>
            </a:fld>
            <a:endParaRPr lang="ja-JP"/>
          </a:p>
        </p:txBody>
      </p:sp>
      <p:sp>
        <p:nvSpPr>
          <p:cNvPr id="2072313206" name="テキスト プレースホルダー 4"/>
          <p:cNvSpPr>
            <a:spLocks noGrp="1"/>
          </p:cNvSpPr>
          <p:nvPr>
            <p:ph type="body" sz="quarter" idx="16"/>
          </p:nvPr>
        </p:nvSpPr>
        <p:spPr bwMode="auto">
          <a:xfrm>
            <a:off x="513531" y="908366"/>
            <a:ext cx="11158111" cy="2735483"/>
          </a:xfrm>
        </p:spPr>
        <p:txBody>
          <a:bodyPr>
            <a:normAutofit fontScale="92500" lnSpcReduction="20000"/>
          </a:bodyPr>
          <a:lstStyle/>
          <a:p>
            <a:pPr>
              <a:defRPr/>
            </a:pPr>
            <a:r>
              <a:rPr lang="ja-JP"/>
              <a:t>ステージ</a:t>
            </a:r>
            <a:r>
              <a:rPr lang="en-US"/>
              <a:t>1</a:t>
            </a:r>
            <a:r>
              <a:rPr lang="ja-JP"/>
              <a:t>での追加の制約</a:t>
            </a:r>
            <a:endParaRPr lang="en-US"/>
          </a:p>
          <a:p>
            <a:pPr marL="0" indent="0">
              <a:buNone/>
              <a:defRPr/>
            </a:pPr>
            <a:r>
              <a:rPr lang="ja-JP" sz="1600"/>
              <a:t>ステージ</a:t>
            </a:r>
            <a:r>
              <a:rPr lang="en-US" sz="1600"/>
              <a:t>1</a:t>
            </a:r>
            <a:r>
              <a:rPr lang="ja-JP" sz="1600"/>
              <a:t>での最適化の結果、ステージ</a:t>
            </a:r>
            <a:r>
              <a:rPr lang="en-US" sz="1600"/>
              <a:t>2</a:t>
            </a:r>
            <a:r>
              <a:rPr lang="ja-JP" sz="1600"/>
              <a:t>で絶対制約違反となることを回避するための追加制約</a:t>
            </a:r>
            <a:endParaRPr lang="en-US" sz="1600"/>
          </a:p>
          <a:p>
            <a:pPr marL="0" indent="0">
              <a:buNone/>
              <a:defRPr/>
            </a:pPr>
            <a:r>
              <a:rPr lang="ja-JP" sz="1600"/>
              <a:t>あるスキルの作業を特定の日に集中させて作業者が足りなくなる解を事前に排除するため</a:t>
            </a:r>
            <a:endParaRPr lang="en-US" sz="1600"/>
          </a:p>
          <a:p>
            <a:pPr marL="0" indent="0">
              <a:buNone/>
              <a:defRPr/>
            </a:pPr>
            <a:r>
              <a:rPr lang="ja-JP" sz="1600"/>
              <a:t>各日のスキルごとに作業ブロックで選択された作業者数の合計は、そのスキルを持つ作業者数以下とする</a:t>
            </a:r>
            <a:endParaRPr lang="en-US" sz="1600"/>
          </a:p>
          <a:p>
            <a:pPr marL="0" indent="0">
              <a:buNone/>
              <a:defRPr/>
            </a:pPr>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sSub>
                        <m:sSubPr>
                          <m:ctrlPr>
                            <a:rPr lang="en-US" sz="1600" b="0" i="1">
                              <a:latin typeface="Cambria Math"/>
                              <a:ea typeface="Cambria Math"/>
                              <a:cs typeface="Cambria Math"/>
                            </a:rPr>
                          </m:ctrlPr>
                        </m:sSubPr>
                        <m:e>
                          <m:r>
                            <m:rPr/>
                            <a:rPr lang="en-US" sz="1600" b="0" i="1">
                              <a:latin typeface="Cambria Math"/>
                            </a:rPr>
                            <m:t>𝐵</m:t>
                          </m:r>
                        </m:e>
                        <m:sub>
                          <m:r>
                            <m:rPr/>
                            <a:rPr lang="en-US" sz="1600" b="0" i="1">
                              <a:latin typeface="Cambria Math"/>
                            </a:rPr>
                            <m:t>𝑠</m:t>
                          </m:r>
                          <m:r>
                            <m:rPr/>
                            <a:rPr lang="en-US" sz="1600" b="0" i="1">
                              <a:latin typeface="Cambria Math"/>
                            </a:rPr>
                            <m:t>,</m:t>
                          </m:r>
                          <m:r>
                            <m:rPr/>
                            <a:rPr lang="en-US" sz="1600" b="0" i="1">
                              <a:latin typeface="Cambria Math"/>
                            </a:rPr>
                            <m:t>𝑑</m:t>
                          </m:r>
                        </m:sub>
                      </m:sSub>
                      <m:r>
                        <m:rPr/>
                        <a:rPr lang="en-US" sz="1600" b="0" i="1">
                          <a:latin typeface="Cambria Math"/>
                          <a:ea typeface="Cambria Math"/>
                        </a:rPr>
                        <m:t>∈</m:t>
                      </m:r>
                      <m:r>
                        <m:rPr/>
                        <a:rPr lang="en-US" sz="1600" b="0" i="1">
                          <a:latin typeface="Cambria Math"/>
                          <a:ea typeface="Cambria Math"/>
                        </a:rPr>
                        <m:t>𝐵</m:t>
                      </m:r>
                      <m:r>
                        <m:rPr/>
                        <a:rPr lang="en-US" sz="1600" b="0" i="1">
                          <a:latin typeface="Cambria Math"/>
                          <a:ea typeface="Cambria Math"/>
                        </a:rPr>
                        <m:t>.</m:t>
                      </m:r>
                      <m:r>
                        <m:rPr/>
                        <a:rPr lang="en-US" sz="1600" b="0" i="1">
                          <a:latin typeface="Cambria Math"/>
                          <a:ea typeface="Cambria Math"/>
                        </a:rPr>
                        <m:t>𝑠𝑘𝑖𝑙𝑙</m:t>
                      </m:r>
                      <m:r>
                        <m:rPr/>
                        <a:rPr lang="en-US" sz="1600" b="0" i="1">
                          <a:latin typeface="Cambria Math"/>
                          <a:ea typeface="Cambria Math"/>
                        </a:rPr>
                        <m:t>=</m:t>
                      </m:r>
                      <m:r>
                        <m:rPr/>
                        <a:rPr lang="en-US" sz="1600" b="0" i="1">
                          <a:latin typeface="Cambria Math"/>
                          <a:ea typeface="Cambria Math"/>
                        </a:rPr>
                        <m:t>𝑠</m:t>
                      </m:r>
                      <m:r>
                        <m:rPr/>
                        <a:rPr lang="en-US" sz="1600" b="0" i="1">
                          <a:latin typeface="Cambria Math"/>
                          <a:ea typeface="Cambria Math"/>
                        </a:rPr>
                        <m:t>∩</m:t>
                      </m:r>
                      <m:d>
                        <m:dPr>
                          <m:ctrlPr>
                            <a:rPr lang="en-US" sz="1600" b="0" i="1">
                              <a:latin typeface="Cambria Math"/>
                              <a:ea typeface="Cambria Math"/>
                              <a:cs typeface="Cambria Math"/>
                            </a:rPr>
                          </m:ctrlPr>
                        </m:dPr>
                        <m:e>
                          <m:r>
                            <m:rPr/>
                            <a:rPr lang="en-US" sz="1600" b="0" i="1">
                              <a:latin typeface="Cambria Math"/>
                              <a:ea typeface="Cambria Math"/>
                            </a:rPr>
                            <m:t>𝐵</m:t>
                          </m:r>
                          <m:r>
                            <m:rPr/>
                            <a:rPr lang="en-US" sz="1600" b="0" i="1">
                              <a:latin typeface="Cambria Math"/>
                              <a:ea typeface="Cambria Math"/>
                            </a:rPr>
                            <m:t>.</m:t>
                          </m:r>
                          <m:r>
                            <m:rPr/>
                            <a:rPr lang="en-US" sz="1600" b="0" i="1">
                              <a:latin typeface="Cambria Math"/>
                              <a:ea typeface="Cambria Math"/>
                            </a:rPr>
                            <m:t>𝑠𝑡𝑎𝑟𝑡𝐷𝑎𝑦</m:t>
                          </m:r>
                          <m:r>
                            <m:rPr/>
                            <a:rPr lang="en-US" sz="1600" b="0" i="1">
                              <a:latin typeface="Cambria Math"/>
                              <a:ea typeface="Cambria Math"/>
                            </a:rPr>
                            <m:t>≤</m:t>
                          </m:r>
                          <m:r>
                            <m:rPr/>
                            <a:rPr lang="en-US" sz="1600" b="0" i="1">
                              <a:latin typeface="Cambria Math"/>
                              <a:ea typeface="Cambria Math"/>
                            </a:rPr>
                            <m:t>𝑑</m:t>
                          </m:r>
                          <m:r>
                            <m:rPr/>
                            <a:rPr lang="en-US" sz="1600" b="0" i="1">
                              <a:latin typeface="Cambria Math"/>
                              <a:ea typeface="Cambria Math"/>
                            </a:rPr>
                            <m:t>≤</m:t>
                          </m:r>
                          <m:r>
                            <m:rPr/>
                            <a:rPr lang="en-US" sz="1600" b="0" i="1">
                              <a:latin typeface="Cambria Math"/>
                              <a:ea typeface="Cambria Math"/>
                            </a:rPr>
                            <m:t>𝐵</m:t>
                          </m:r>
                          <m:r>
                            <m:rPr/>
                            <a:rPr lang="en-US" sz="1600" b="0" i="1">
                              <a:latin typeface="Cambria Math"/>
                              <a:ea typeface="Cambria Math"/>
                            </a:rPr>
                            <m:t>.</m:t>
                          </m:r>
                          <m:r>
                            <m:rPr/>
                            <a:rPr lang="en-US" sz="1600" b="0" i="1">
                              <a:latin typeface="Cambria Math"/>
                              <a:ea typeface="Cambria Math"/>
                            </a:rPr>
                            <m:t>𝑠𝑡𝑎𝑟𝑡𝐷𝑎𝑦</m:t>
                          </m:r>
                          <m:r>
                            <m:rPr/>
                            <a:rPr lang="en-US" sz="1600" b="0" i="1">
                              <a:latin typeface="Cambria Math"/>
                              <a:ea typeface="Cambria Math"/>
                            </a:rPr>
                            <m:t>+</m:t>
                          </m:r>
                          <m:r>
                            <m:rPr/>
                            <a:rPr lang="en-US" sz="1600" b="0" i="1">
                              <a:latin typeface="Cambria Math"/>
                              <a:ea typeface="Cambria Math"/>
                            </a:rPr>
                            <m:t>𝐵</m:t>
                          </m:r>
                          <m:r>
                            <m:rPr/>
                            <a:rPr lang="en-US" sz="1600" b="0" i="1">
                              <a:latin typeface="Cambria Math"/>
                              <a:ea typeface="Cambria Math"/>
                            </a:rPr>
                            <m:t>.</m:t>
                          </m:r>
                          <m:r>
                            <m:rPr/>
                            <a:rPr lang="en-US" sz="1600" b="0" i="1">
                              <a:latin typeface="Cambria Math"/>
                              <a:ea typeface="Cambria Math"/>
                            </a:rPr>
                            <m:t>𝑑𝑎𝑦𝑠</m:t>
                          </m:r>
                        </m:e>
                      </m:d>
                    </m:oMath>
                  </m:oMathPara>
                </a14:m>
              </mc:Choice>
              <mc:Fallback/>
            </mc:AlternateContent>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sSub>
                        <m:sSubPr>
                          <m:ctrlPr>
                            <a:rPr lang="en-US" sz="1600" b="0" i="1">
                              <a:latin typeface="Cambria Math"/>
                              <a:ea typeface="Cambria Math"/>
                              <a:cs typeface="Cambria Math"/>
                            </a:rPr>
                          </m:ctrlPr>
                        </m:sSubPr>
                        <m:e>
                          <m:r>
                            <m:rPr/>
                            <a:rPr lang="en-US" sz="1600" b="0" i="1">
                              <a:latin typeface="Cambria Math"/>
                              <a:ea typeface="Cambria Math"/>
                            </a:rPr>
                            <m:t>𝐸</m:t>
                          </m:r>
                        </m:e>
                        <m:sub>
                          <m:r>
                            <m:rPr/>
                            <a:rPr lang="en-US" sz="1600" b="0" i="1">
                              <a:latin typeface="Cambria Math"/>
                              <a:ea typeface="Cambria Math"/>
                            </a:rPr>
                            <m:t>𝑠</m:t>
                          </m:r>
                        </m:sub>
                      </m:sSub>
                      <m:r>
                        <m:rPr/>
                        <a:rPr lang="en-US" sz="1600" b="0" i="1">
                          <a:latin typeface="Cambria Math"/>
                          <a:ea typeface="Cambria Math"/>
                        </a:rPr>
                        <m:t>∈</m:t>
                      </m:r>
                      <m:r>
                        <m:rPr/>
                        <a:rPr lang="en-US" sz="1600" b="0" i="1">
                          <a:latin typeface="Cambria Math"/>
                          <a:ea typeface="Cambria Math"/>
                        </a:rPr>
                        <m:t>𝐸</m:t>
                      </m:r>
                      <m:r>
                        <m:rPr/>
                        <a:rPr lang="en-US" sz="1600" b="0" i="1">
                          <a:latin typeface="Cambria Math"/>
                          <a:ea typeface="Cambria Math"/>
                        </a:rPr>
                        <m:t>.</m:t>
                      </m:r>
                      <m:r>
                        <m:rPr/>
                        <a:rPr lang="en-US" sz="1600" b="0" i="1">
                          <a:latin typeface="Cambria Math"/>
                          <a:ea typeface="Cambria Math"/>
                        </a:rPr>
                        <m:t>𝑠𝑘𝑖𝑙𝑙</m:t>
                      </m:r>
                      <m:r>
                        <m:rPr/>
                        <a:rPr lang="en-US" sz="1600" b="0" i="1">
                          <a:latin typeface="Cambria Math"/>
                          <a:ea typeface="Cambria Math"/>
                        </a:rPr>
                        <m:t>=</m:t>
                      </m:r>
                      <m:r>
                        <m:rPr/>
                        <a:rPr lang="en-US" sz="1600" b="0" i="1">
                          <a:latin typeface="Cambria Math"/>
                          <a:ea typeface="Cambria Math"/>
                        </a:rPr>
                        <m:t>𝑠</m:t>
                      </m:r>
                    </m:oMath>
                  </m:oMathPara>
                </a14:m>
              </mc:Choice>
              <mc:Fallback/>
            </mc:AlternateContent>
            <mc:AlternateContent xmlns:mc="http://schemas.openxmlformats.org/markup-compatibility/2006" xmlns:m="http://schemas.openxmlformats.org/officeDocument/2006/math">
              <mc:Choice xmlns:a14="http://schemas.microsoft.com/office/drawing/2010/main" Requires="a14">
                <a14:m>
                  <m:oMathPara>
                    <m:oMathParaPr>
                      <m:jc m:val="centerGroup"/>
                    </m:oMathParaPr>
                    <m:oMath>
                      <m:nary>
                        <m:naryPr>
                          <m:chr m:val="∑"/>
                          <m:grow m:val="off"/>
                          <m:subHide m:val="on"/>
                          <m:supHide m:val="on"/>
                          <m:ctrlPr>
                            <a:rPr lang="en-US" sz="1600" b="0" i="1">
                              <a:latin typeface="Cambria Math"/>
                              <a:ea typeface="Cambria Math"/>
                              <a:cs typeface="Cambria Math"/>
                            </a:rPr>
                          </m:ctrlPr>
                        </m:naryPr>
                        <m:sub/>
                        <m:sup/>
                        <m:e>
                          <m:sSub>
                            <m:sSubPr>
                              <m:ctrlPr>
                                <a:rPr lang="en-US" sz="1600" b="0" i="1">
                                  <a:latin typeface="Cambria Math"/>
                                  <a:ea typeface="Cambria Math"/>
                                  <a:cs typeface="Cambria Math"/>
                                </a:rPr>
                              </m:ctrlPr>
                            </m:sSubPr>
                            <m:e>
                              <m:r>
                                <m:rPr/>
                                <a:rPr lang="en-US" sz="1600" b="0" i="1">
                                  <a:latin typeface="Cambria Math"/>
                                  <a:ea typeface="Cambria Math"/>
                                </a:rPr>
                                <m:t>𝐵</m:t>
                              </m:r>
                            </m:e>
                            <m:sub>
                              <m:r>
                                <m:rPr/>
                                <a:rPr lang="en-US" sz="1600" b="0" i="1">
                                  <a:latin typeface="Cambria Math"/>
                                  <a:ea typeface="Cambria Math"/>
                                </a:rPr>
                                <m:t>𝑠</m:t>
                              </m:r>
                              <m:r>
                                <m:rPr/>
                                <a:rPr lang="en-US" sz="1600" b="0" i="1">
                                  <a:latin typeface="Cambria Math"/>
                                  <a:ea typeface="Cambria Math"/>
                                </a:rPr>
                                <m:t>,</m:t>
                              </m:r>
                              <m:r>
                                <m:rPr/>
                                <a:rPr lang="en-US" sz="1600" b="0" i="1">
                                  <a:latin typeface="Cambria Math"/>
                                  <a:ea typeface="Cambria Math"/>
                                </a:rPr>
                                <m:t>𝑑</m:t>
                              </m:r>
                            </m:sub>
                          </m:sSub>
                          <m:r>
                            <m:rPr/>
                            <a:rPr lang="en-US" sz="1600" b="0" i="1">
                              <a:latin typeface="Cambria Math"/>
                              <a:ea typeface="Cambria Math"/>
                            </a:rPr>
                            <m:t>.</m:t>
                          </m:r>
                          <m:r>
                            <m:rPr/>
                            <a:rPr lang="en-US" sz="1600" b="0" i="1">
                              <a:latin typeface="Cambria Math"/>
                              <a:ea typeface="Cambria Math"/>
                            </a:rPr>
                            <m:t>h𝑒𝑎𝑑𝑠</m:t>
                          </m:r>
                        </m:e>
                      </m:nary>
                      <m:r>
                        <m:rPr/>
                        <a:rPr lang="en-US" sz="1600" b="0" i="1">
                          <a:latin typeface="Cambria Math"/>
                          <a:ea typeface="Cambria Math"/>
                        </a:rPr>
                        <m:t>≤|</m:t>
                      </m:r>
                      <m:sSub>
                        <m:sSubPr>
                          <m:ctrlPr>
                            <a:rPr lang="en-US" sz="1600" b="0" i="1">
                              <a:latin typeface="Cambria Math"/>
                              <a:ea typeface="Cambria Math"/>
                              <a:cs typeface="Cambria Math"/>
                            </a:rPr>
                          </m:ctrlPr>
                        </m:sSubPr>
                        <m:e>
                          <m:r>
                            <m:rPr/>
                            <a:rPr lang="en-US" sz="1600" b="0" i="1">
                              <a:latin typeface="Cambria Math"/>
                              <a:ea typeface="Cambria Math"/>
                            </a:rPr>
                            <m:t>𝐸</m:t>
                          </m:r>
                        </m:e>
                        <m:sub>
                          <m:r>
                            <m:rPr/>
                            <a:rPr lang="en-US" sz="1600" b="0" i="1">
                              <a:latin typeface="Cambria Math"/>
                              <a:ea typeface="Cambria Math"/>
                            </a:rPr>
                            <m:t>𝑠</m:t>
                          </m:r>
                        </m:sub>
                      </m:sSub>
                      <m:r>
                        <m:rPr/>
                        <a:rPr lang="en-US" sz="1600" b="0" i="1">
                          <a:latin typeface="Cambria Math"/>
                          <a:ea typeface="Cambria Math"/>
                        </a:rPr>
                        <m:t>|</m:t>
                      </m:r>
                    </m:oMath>
                  </m:oMathPara>
                </a14:m>
              </mc:Choice>
              <mc:Fallback/>
            </mc:AlternateContent>
            <a:endParaRPr lang="en-US" sz="1600" b="0">
              <a:ea typeface="Cambria Math"/>
            </a:endParaRPr>
          </a:p>
          <a:p>
            <a:pPr marL="0" indent="0">
              <a:buNone/>
              <a:defRPr/>
            </a:pPr>
            <a:r>
              <a:rPr lang="en-US" sz="1400"/>
              <a:t>※</a:t>
            </a:r>
            <a:r>
              <a:rPr lang="ja-JP" sz="1400"/>
              <a:t>複数スキルを持つ作業者がいるため、ステージ</a:t>
            </a:r>
            <a:r>
              <a:rPr lang="en-US" sz="1400"/>
              <a:t>2</a:t>
            </a:r>
            <a:r>
              <a:rPr lang="ja-JP" sz="1400"/>
              <a:t>の絶対制約違反となるケースは完全には排除できない</a:t>
            </a:r>
            <a:endParaRPr lang="en-US" sz="1400"/>
          </a:p>
          <a:p>
            <a:pPr marL="0" indent="0">
              <a:buNone/>
              <a:defRPr/>
            </a:pPr>
            <a:r>
              <a:rPr lang="ja-JP" sz="1400"/>
              <a:t>　ただ実際に作業者数不足となるケースは少なく影響は限定的と思われるため、現状の制限事項とする</a:t>
            </a:r>
            <a:endParaRPr lang="en-US" sz="1400"/>
          </a:p>
        </p:txBody>
      </p:sp>
      <p:sp>
        <p:nvSpPr>
          <p:cNvPr id="691264135" name="テキスト プレースホルダー 4"/>
          <p:cNvSpPr txBox="1"/>
          <p:nvPr/>
        </p:nvSpPr>
        <p:spPr bwMode="auto">
          <a:xfrm>
            <a:off x="513531" y="3872774"/>
            <a:ext cx="11158111" cy="2357348"/>
          </a:xfrm>
          <a:prstGeom prst="rect">
            <a:avLst/>
          </a:prstGeom>
        </p:spPr>
        <p:txBody>
          <a:bodyPr vert="horz" lIns="91440" tIns="45720" rIns="91440" bIns="45720" rtlCol="0">
            <a:normAutofit/>
          </a:bodyPr>
          <a:lstStyle>
            <a:lvl1pPr marL="228600" indent="-228600" algn="l" defTabSz="914400">
              <a:lnSpc>
                <a:spcPct val="100000"/>
              </a:lnSpc>
              <a:spcBef>
                <a:spcPts val="0"/>
              </a:spcBef>
              <a:spcAft>
                <a:spcPts val="600"/>
              </a:spcAft>
              <a:buFont typeface="Wingdings"/>
              <a:buChar char="l"/>
              <a:defRPr sz="2000">
                <a:solidFill>
                  <a:schemeClr val="bg2">
                    <a:lumMod val="25000"/>
                  </a:schemeClr>
                </a:solidFill>
                <a:latin typeface="+mj-ea"/>
                <a:ea typeface="+mj-ea"/>
                <a:cs typeface="+mn-cs"/>
              </a:defRPr>
            </a:lvl1pPr>
            <a:lvl2pPr marL="540000" indent="-288000" algn="l" defTabSz="914400">
              <a:lnSpc>
                <a:spcPct val="100000"/>
              </a:lnSpc>
              <a:spcBef>
                <a:spcPts val="0"/>
              </a:spcBef>
              <a:spcAft>
                <a:spcPts val="600"/>
              </a:spcAft>
              <a:buClrTx/>
              <a:buFont typeface="ヒラギノ角ゴ ProN W3"/>
              <a:buChar char="―"/>
              <a:defRPr sz="1800">
                <a:solidFill>
                  <a:schemeClr val="bg2">
                    <a:lumMod val="25000"/>
                  </a:schemeClr>
                </a:solidFill>
                <a:latin typeface="ヒラギノ角ゴ ProN W3"/>
                <a:ea typeface="ヒラギノ角ゴ ProN W3"/>
                <a:cs typeface="+mn-cs"/>
              </a:defRPr>
            </a:lvl2pPr>
            <a:lvl3pPr marL="792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3pPr>
            <a:lvl4pPr marL="1044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4pPr>
            <a:lvl5pPr marL="1332000" indent="-180000" algn="l" defTabSz="914400">
              <a:lnSpc>
                <a:spcPct val="100000"/>
              </a:lnSpc>
              <a:spcBef>
                <a:spcPts val="0"/>
              </a:spcBef>
              <a:spcAft>
                <a:spcPts val="600"/>
              </a:spcAft>
              <a:buFont typeface="Arial"/>
              <a:buChar char="•"/>
              <a:defRPr sz="1800">
                <a:solidFill>
                  <a:schemeClr val="bg2">
                    <a:lumMod val="50000"/>
                  </a:schemeClr>
                </a:solidFill>
                <a:latin typeface="Avenir Next LT Pro"/>
                <a:ea typeface="ヒラギノ角ゴ ProN W3"/>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ja-JP"/>
              <a:t>作業時間上限の段階的開放</a:t>
            </a:r>
            <a:endParaRPr lang="en-US"/>
          </a:p>
          <a:p>
            <a:pPr marL="0" indent="0">
              <a:buNone/>
              <a:defRPr/>
            </a:pPr>
            <a:r>
              <a:rPr lang="ja-JP" sz="1600"/>
              <a:t>過剰な残業を避けるため、ステージ</a:t>
            </a:r>
            <a:r>
              <a:rPr lang="en-US" sz="1600"/>
              <a:t>1</a:t>
            </a:r>
            <a:r>
              <a:rPr lang="ja-JP" sz="1600"/>
              <a:t>では絶対制約違反（</a:t>
            </a:r>
            <a:r>
              <a:rPr lang="ja-JP" sz="1600">
                <a:solidFill>
                  <a:schemeClr val="dk1"/>
                </a:solidFill>
              </a:rPr>
              <a:t>工程間順序、工程開始日・終了日、必要作業量）を満たせない場合にのみ作業時間を延ばして残業ができるようにする。</a:t>
            </a:r>
            <a:endParaRPr lang="en-US" sz="1600">
              <a:solidFill>
                <a:schemeClr val="dk1"/>
              </a:solidFill>
            </a:endParaRPr>
          </a:p>
          <a:p>
            <a:pPr marL="0" indent="0">
              <a:buNone/>
              <a:defRPr/>
            </a:pPr>
            <a:r>
              <a:rPr lang="ja-JP" sz="1600">
                <a:solidFill>
                  <a:schemeClr val="dk1"/>
                </a:solidFill>
              </a:rPr>
              <a:t>初回の最適化では作業時間（</a:t>
            </a:r>
            <a:r>
              <a:rPr lang="en-US" sz="1600">
                <a:solidFill>
                  <a:schemeClr val="dk1"/>
                </a:solidFill>
              </a:rPr>
              <a:t>H</a:t>
            </a:r>
            <a:r>
              <a:rPr lang="ja-JP" sz="1600">
                <a:solidFill>
                  <a:schemeClr val="dk1"/>
                </a:solidFill>
              </a:rPr>
              <a:t>）の選択肢を</a:t>
            </a:r>
            <a:r>
              <a:rPr lang="en-US" sz="1600">
                <a:solidFill>
                  <a:schemeClr val="dk1"/>
                </a:solidFill>
              </a:rPr>
              <a:t>8h</a:t>
            </a:r>
            <a:r>
              <a:rPr lang="ja-JP" sz="1600">
                <a:solidFill>
                  <a:schemeClr val="dk1"/>
                </a:solidFill>
              </a:rPr>
              <a:t>のみで最適化を行い、時間内に絶対制約違反を無くせなければ</a:t>
            </a:r>
            <a:r>
              <a:rPr lang="en-US" sz="1600">
                <a:solidFill>
                  <a:schemeClr val="dk1"/>
                </a:solidFill>
              </a:rPr>
              <a:t>10h</a:t>
            </a:r>
            <a:r>
              <a:rPr lang="ja-JP" sz="1600">
                <a:solidFill>
                  <a:schemeClr val="dk1"/>
                </a:solidFill>
              </a:rPr>
              <a:t>の選択肢を追加して再度最適化を行う。</a:t>
            </a:r>
            <a:endParaRPr/>
          </a:p>
          <a:p>
            <a:pPr marL="0" indent="0">
              <a:buFont typeface="Wingdings"/>
              <a:buNone/>
              <a:defRPr/>
            </a:pPr>
            <a:r>
              <a:rPr lang="ja-JP" sz="1600"/>
              <a:t>次の最適化でも絶対制約違反を無くせなければ</a:t>
            </a:r>
            <a:r>
              <a:rPr lang="en-US" sz="1600"/>
              <a:t>12h</a:t>
            </a:r>
            <a:r>
              <a:rPr lang="ja-JP" sz="1600"/>
              <a:t>を追加、として最大</a:t>
            </a:r>
            <a:r>
              <a:rPr lang="en-US" sz="1600"/>
              <a:t>3</a:t>
            </a:r>
            <a:r>
              <a:rPr lang="ja-JP" sz="1600"/>
              <a:t>回の最適化を行う。</a:t>
            </a:r>
            <a:endParaRPr lang="en-US" sz="1600"/>
          </a:p>
          <a:p>
            <a:pPr marL="0" indent="0">
              <a:buFont typeface="Wingdings"/>
              <a:buNone/>
              <a:defRPr/>
            </a:pPr>
            <a:r>
              <a:rPr lang="en-US" sz="1600"/>
              <a:t>※</a:t>
            </a:r>
            <a:r>
              <a:rPr lang="ja-JP" sz="1600"/>
              <a:t>最後まで絶対制約違反が無くせなければ、絶対制約違反も含んだ結果でステージ</a:t>
            </a:r>
            <a:r>
              <a:rPr lang="en-US" sz="1600"/>
              <a:t>2</a:t>
            </a:r>
            <a:r>
              <a:rPr lang="ja-JP" sz="1600"/>
              <a:t>に遷移</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2120379" name="タイトル 1"/>
          <p:cNvSpPr>
            <a:spLocks noGrp="1"/>
          </p:cNvSpPr>
          <p:nvPr>
            <p:ph type="title"/>
          </p:nvPr>
        </p:nvSpPr>
        <p:spPr bwMode="auto"/>
        <p:txBody>
          <a:bodyPr/>
          <a:lstStyle/>
          <a:p>
            <a:pPr>
              <a:defRPr/>
            </a:pPr>
            <a:r>
              <a:rPr lang="ja-JP"/>
              <a:t>作業ブロックでの</a:t>
            </a:r>
            <a:r>
              <a:rPr lang="en-US"/>
              <a:t>2</a:t>
            </a:r>
            <a:r>
              <a:rPr lang="ja-JP"/>
              <a:t>ステージ最適化</a:t>
            </a:r>
            <a:endParaRPr lang="ja-JP"/>
          </a:p>
        </p:txBody>
      </p:sp>
      <p:sp>
        <p:nvSpPr>
          <p:cNvPr id="711325795" name="フッター プレースホルダー 2"/>
          <p:cNvSpPr>
            <a:spLocks noGrp="1"/>
          </p:cNvSpPr>
          <p:nvPr>
            <p:ph type="ftr" sz="quarter" idx="11"/>
          </p:nvPr>
        </p:nvSpPr>
        <p:spPr bwMode="auto"/>
        <p:txBody>
          <a:bodyPr/>
          <a:lstStyle/>
          <a:p>
            <a:pPr>
              <a:defRPr/>
            </a:pPr>
            <a:endParaRPr lang="ja-JP"/>
          </a:p>
        </p:txBody>
      </p:sp>
      <p:sp>
        <p:nvSpPr>
          <p:cNvPr id="999641729" name="スライド番号プレースホルダー 3"/>
          <p:cNvSpPr>
            <a:spLocks noGrp="1"/>
          </p:cNvSpPr>
          <p:nvPr>
            <p:ph type="sldNum" sz="quarter" idx="12"/>
          </p:nvPr>
        </p:nvSpPr>
        <p:spPr bwMode="auto"/>
        <p:txBody>
          <a:bodyPr/>
          <a:lstStyle/>
          <a:p>
            <a:pPr>
              <a:defRPr/>
            </a:pPr>
            <a:fld id="{9EE375CF-DE78-44C2-B104-2824F80826E0}" type="slidenum">
              <a:rPr lang="ja-JP"/>
              <a:t>10</a:t>
            </a:fld>
            <a:endParaRPr lang="ja-JP"/>
          </a:p>
        </p:txBody>
      </p:sp>
      <p:sp>
        <p:nvSpPr>
          <p:cNvPr id="303629879" name="テキスト プレースホルダー 4"/>
          <p:cNvSpPr>
            <a:spLocks noGrp="1"/>
          </p:cNvSpPr>
          <p:nvPr>
            <p:ph type="body" sz="quarter" idx="16"/>
          </p:nvPr>
        </p:nvSpPr>
        <p:spPr bwMode="auto">
          <a:xfrm>
            <a:off x="513531" y="908366"/>
            <a:ext cx="11158111" cy="5371410"/>
          </a:xfrm>
        </p:spPr>
        <p:txBody>
          <a:bodyPr>
            <a:normAutofit/>
          </a:bodyPr>
          <a:lstStyle/>
          <a:p>
            <a:pPr>
              <a:defRPr/>
            </a:pPr>
            <a:r>
              <a:rPr lang="en-US"/>
              <a:t>2</a:t>
            </a:r>
            <a:r>
              <a:rPr lang="ja-JP"/>
              <a:t>ステージ化での改善</a:t>
            </a:r>
            <a:endParaRPr lang="en-US"/>
          </a:p>
          <a:p>
            <a:pPr marL="0" indent="0">
              <a:buNone/>
              <a:defRPr/>
            </a:pPr>
            <a:r>
              <a:rPr lang="ja-JP" sz="1600"/>
              <a:t>計画結果の実運用上問題となっていた点について改善が確認できた</a:t>
            </a:r>
            <a:endParaRPr lang="en-US" sz="1600"/>
          </a:p>
          <a:p>
            <a:pPr marL="0" indent="0">
              <a:buNone/>
              <a:defRPr/>
            </a:pPr>
            <a:endParaRPr lang="en-US" sz="1600"/>
          </a:p>
          <a:p>
            <a:pPr marL="0" indent="0">
              <a:buNone/>
              <a:defRPr/>
            </a:pPr>
            <a:endParaRPr lang="en-US"/>
          </a:p>
          <a:p>
            <a:pPr marL="0" indent="0">
              <a:buNone/>
              <a:defRPr/>
            </a:pPr>
            <a:endParaRPr lang="ja-JP"/>
          </a:p>
        </p:txBody>
      </p:sp>
      <p:graphicFrame>
        <p:nvGraphicFramePr>
          <p:cNvPr id="167493668" name="表 6"/>
          <p:cNvGraphicFramePr>
            <a:graphicFrameLocks xmlns:a="http://schemas.openxmlformats.org/drawingml/2006/main" noGrp="1"/>
          </p:cNvGraphicFramePr>
          <p:nvPr/>
        </p:nvGraphicFramePr>
        <p:xfrm>
          <a:off x="876299" y="1677174"/>
          <a:ext cx="9569451" cy="1483360"/>
        </p:xfrm>
        <a:graphic>
          <a:graphicData uri="http://schemas.openxmlformats.org/drawingml/2006/table">
            <a:tbl>
              <a:tblPr firstRow="1" firstCol="0" lastRow="0" lastCol="0" bandRow="1" bandCol="0">
                <a:tableStyleId>{5C22544A-7EE6-4342-B048-85BDC9FD1C3A}</a:tableStyleId>
              </a:tblPr>
              <a:tblGrid>
                <a:gridCol w="1987550"/>
                <a:gridCol w="3511550"/>
                <a:gridCol w="4070351"/>
              </a:tblGrid>
              <a:tr h="370840">
                <a:tc>
                  <a:txBody>
                    <a:bodyPr/>
                    <a:p>
                      <a:pPr>
                        <a:defRPr/>
                      </a:pPr>
                      <a:endParaRPr lang="ja-JP" sz="1600"/>
                    </a:p>
                  </a:txBody>
                  <a:tcPr/>
                </a:tc>
                <a:tc>
                  <a:txBody>
                    <a:bodyPr/>
                    <a:p>
                      <a:pPr>
                        <a:defRPr/>
                      </a:pPr>
                      <a:r>
                        <a:rPr lang="ja-JP" sz="1600"/>
                        <a:t>初期検証</a:t>
                      </a:r>
                      <a:endParaRPr/>
                    </a:p>
                  </a:txBody>
                  <a:tcPr/>
                </a:tc>
                <a:tc>
                  <a:txBody>
                    <a:bodyPr/>
                    <a:p>
                      <a:pPr>
                        <a:defRPr/>
                      </a:pPr>
                      <a:r>
                        <a:rPr lang="en-US" sz="1600"/>
                        <a:t>2</a:t>
                      </a:r>
                      <a:r>
                        <a:rPr lang="ja-JP" sz="1600"/>
                        <a:t>ステージ化</a:t>
                      </a:r>
                      <a:endParaRPr/>
                    </a:p>
                  </a:txBody>
                  <a:tcPr/>
                </a:tc>
              </a:tr>
              <a:tr h="370840">
                <a:tc>
                  <a:txBody>
                    <a:bodyPr/>
                    <a:p>
                      <a:pPr>
                        <a:defRPr/>
                      </a:pPr>
                      <a:r>
                        <a:rPr lang="ja-JP" sz="1600"/>
                        <a:t>作業者の連続</a:t>
                      </a:r>
                      <a:endParaRPr/>
                    </a:p>
                  </a:txBody>
                  <a:tcPr/>
                </a:tc>
                <a:tc>
                  <a:txBody>
                    <a:bodyPr/>
                    <a:p>
                      <a:pPr>
                        <a:defRPr/>
                      </a:pPr>
                      <a:r>
                        <a:rPr lang="ja-JP" sz="1600"/>
                        <a:t>日替わりで作業者が変わる</a:t>
                      </a:r>
                      <a:endParaRPr/>
                    </a:p>
                  </a:txBody>
                  <a:tcPr/>
                </a:tc>
                <a:tc>
                  <a:txBody>
                    <a:bodyPr/>
                    <a:p>
                      <a:pPr>
                        <a:defRPr/>
                      </a:pPr>
                      <a:r>
                        <a:rPr lang="ja-JP" sz="1600"/>
                        <a:t>同一の作業者が連続で</a:t>
                      </a:r>
                      <a:r>
                        <a:rPr lang="en-US" sz="1600"/>
                        <a:t>1</a:t>
                      </a:r>
                      <a:r>
                        <a:rPr lang="ja-JP" sz="1600"/>
                        <a:t>つの作業を行う</a:t>
                      </a:r>
                      <a:endParaRPr/>
                    </a:p>
                  </a:txBody>
                  <a:tcPr/>
                </a:tc>
              </a:tr>
              <a:tr h="370840">
                <a:tc>
                  <a:txBody>
                    <a:bodyPr/>
                    <a:p>
                      <a:pPr>
                        <a:defRPr/>
                      </a:pPr>
                      <a:r>
                        <a:rPr lang="ja-JP" sz="1600"/>
                        <a:t>作業空白日</a:t>
                      </a:r>
                      <a:endParaRPr/>
                    </a:p>
                  </a:txBody>
                  <a:tcPr/>
                </a:tc>
                <a:tc>
                  <a:txBody>
                    <a:bodyPr/>
                    <a:p>
                      <a:pPr>
                        <a:defRPr/>
                      </a:pPr>
                      <a:r>
                        <a:rPr lang="en-US" sz="1600"/>
                        <a:t>1</a:t>
                      </a:r>
                      <a:r>
                        <a:rPr lang="ja-JP" sz="1600"/>
                        <a:t>つの作業の期間内に空白日が存在</a:t>
                      </a:r>
                      <a:endParaRPr/>
                    </a:p>
                  </a:txBody>
                  <a:tcPr/>
                </a:tc>
                <a:tc>
                  <a:txBody>
                    <a:bodyPr/>
                    <a:p>
                      <a:pPr>
                        <a:defRPr/>
                      </a:pPr>
                      <a:r>
                        <a:rPr lang="ja-JP" sz="1600"/>
                        <a:t>作業開始から終了まで空白日無し</a:t>
                      </a:r>
                      <a:endParaRPr/>
                    </a:p>
                  </a:txBody>
                  <a:tcPr/>
                </a:tc>
              </a:tr>
              <a:tr h="370840">
                <a:tc>
                  <a:txBody>
                    <a:bodyPr/>
                    <a:p>
                      <a:pPr>
                        <a:defRPr/>
                      </a:pPr>
                      <a:r>
                        <a:rPr lang="ja-JP" sz="1600"/>
                        <a:t>残業の発生</a:t>
                      </a:r>
                      <a:endParaRPr/>
                    </a:p>
                  </a:txBody>
                  <a:tcPr/>
                </a:tc>
                <a:tc>
                  <a:txBody>
                    <a:bodyPr/>
                    <a:p>
                      <a:pPr>
                        <a:defRPr/>
                      </a:pPr>
                      <a:r>
                        <a:rPr lang="ja-JP" sz="1600"/>
                        <a:t>作業時間</a:t>
                      </a:r>
                      <a:r>
                        <a:rPr lang="en-US" sz="1600"/>
                        <a:t>12h</a:t>
                      </a:r>
                      <a:r>
                        <a:rPr lang="ja-JP" sz="1600"/>
                        <a:t>の作業日が多数存在</a:t>
                      </a:r>
                      <a:endParaRPr/>
                    </a:p>
                  </a:txBody>
                  <a:tcPr/>
                </a:tc>
                <a:tc>
                  <a:txBody>
                    <a:bodyPr/>
                    <a:p>
                      <a:pPr>
                        <a:defRPr/>
                      </a:pPr>
                      <a:r>
                        <a:rPr lang="ja-JP" sz="1600"/>
                        <a:t>作業時間は最大</a:t>
                      </a:r>
                      <a:r>
                        <a:rPr lang="en-US" sz="1600"/>
                        <a:t>10h</a:t>
                      </a:r>
                      <a:r>
                        <a:rPr lang="ja-JP" sz="1600"/>
                        <a:t>まで</a:t>
                      </a:r>
                      <a:endParaRPr/>
                    </a:p>
                  </a:txBody>
                  <a:tcPr/>
                </a:tc>
              </a:tr>
            </a:tbl>
          </a:graphicData>
        </a:graphic>
      </p:graphicFrame>
      <p:pic>
        <p:nvPicPr>
          <p:cNvPr id="1841792418" name="図 15" descr="カレンダー"/>
          <p:cNvPicPr>
            <a:picLocks noChangeAspect="1"/>
          </p:cNvPicPr>
          <p:nvPr/>
        </p:nvPicPr>
        <p:blipFill>
          <a:blip r:embed="rId3"/>
          <a:stretch/>
        </p:blipFill>
        <p:spPr bwMode="auto">
          <a:xfrm>
            <a:off x="2825750" y="3529607"/>
            <a:ext cx="7486650" cy="1490062"/>
          </a:xfrm>
          <a:prstGeom prst="rect">
            <a:avLst/>
          </a:prstGeom>
        </p:spPr>
      </p:pic>
      <p:pic>
        <p:nvPicPr>
          <p:cNvPr id="764591672" name="図 17" descr="テーブル&#10;&#10;AI 生成コンテンツは誤りを含む可能性があります。"/>
          <p:cNvPicPr>
            <a:picLocks noChangeAspect="1"/>
          </p:cNvPicPr>
          <p:nvPr/>
        </p:nvPicPr>
        <p:blipFill>
          <a:blip r:embed="rId4"/>
          <a:stretch/>
        </p:blipFill>
        <p:spPr bwMode="auto">
          <a:xfrm>
            <a:off x="2825750" y="5214809"/>
            <a:ext cx="7435851" cy="1160533"/>
          </a:xfrm>
          <a:prstGeom prst="rect">
            <a:avLst/>
          </a:prstGeom>
        </p:spPr>
      </p:pic>
      <p:sp>
        <p:nvSpPr>
          <p:cNvPr id="1642457234" name="テキスト ボックス 18"/>
          <p:cNvSpPr txBox="1"/>
          <p:nvPr/>
        </p:nvSpPr>
        <p:spPr bwMode="auto">
          <a:xfrm>
            <a:off x="1466508" y="4166157"/>
            <a:ext cx="1276350" cy="369332"/>
          </a:xfrm>
          <a:prstGeom prst="rect">
            <a:avLst/>
          </a:prstGeom>
          <a:noFill/>
        </p:spPr>
        <p:txBody>
          <a:bodyPr wrap="square" rtlCol="0">
            <a:spAutoFit/>
          </a:bodyPr>
          <a:lstStyle/>
          <a:p>
            <a:pPr>
              <a:defRPr/>
            </a:pPr>
            <a:r>
              <a:rPr lang="ja-JP"/>
              <a:t>初期検証</a:t>
            </a:r>
            <a:endParaRPr/>
          </a:p>
        </p:txBody>
      </p:sp>
      <p:sp>
        <p:nvSpPr>
          <p:cNvPr id="1387472876" name="テキスト ボックス 19"/>
          <p:cNvSpPr txBox="1"/>
          <p:nvPr/>
        </p:nvSpPr>
        <p:spPr bwMode="auto">
          <a:xfrm>
            <a:off x="1181099" y="5507735"/>
            <a:ext cx="1498600" cy="369332"/>
          </a:xfrm>
          <a:prstGeom prst="rect">
            <a:avLst/>
          </a:prstGeom>
          <a:noFill/>
        </p:spPr>
        <p:txBody>
          <a:bodyPr wrap="square" rtlCol="0">
            <a:spAutoFit/>
          </a:bodyPr>
          <a:lstStyle/>
          <a:p>
            <a:pPr>
              <a:defRPr/>
            </a:pPr>
            <a:r>
              <a:rPr lang="en-US"/>
              <a:t>2</a:t>
            </a:r>
            <a:r>
              <a:rPr lang="ja-JP"/>
              <a:t>ステージ化</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6237809" name="タイトル 1"/>
          <p:cNvSpPr>
            <a:spLocks noGrp="1"/>
          </p:cNvSpPr>
          <p:nvPr>
            <p:ph type="title"/>
          </p:nvPr>
        </p:nvSpPr>
        <p:spPr bwMode="auto"/>
        <p:txBody>
          <a:bodyPr/>
          <a:lstStyle/>
          <a:p>
            <a:pPr>
              <a:defRPr/>
            </a:pPr>
            <a:r>
              <a:rPr lang="ja-JP"/>
              <a:t>作業ブロックでの</a:t>
            </a:r>
            <a:r>
              <a:rPr lang="en-US"/>
              <a:t>2</a:t>
            </a:r>
            <a:r>
              <a:rPr lang="ja-JP"/>
              <a:t>ステージ最適化</a:t>
            </a:r>
            <a:endParaRPr lang="ja-JP"/>
          </a:p>
        </p:txBody>
      </p:sp>
      <p:sp>
        <p:nvSpPr>
          <p:cNvPr id="984677358" name="フッター プレースホルダー 2"/>
          <p:cNvSpPr>
            <a:spLocks noGrp="1"/>
          </p:cNvSpPr>
          <p:nvPr>
            <p:ph type="ftr" sz="quarter" idx="11"/>
          </p:nvPr>
        </p:nvSpPr>
        <p:spPr bwMode="auto"/>
        <p:txBody>
          <a:bodyPr/>
          <a:lstStyle/>
          <a:p>
            <a:pPr>
              <a:defRPr/>
            </a:pPr>
            <a:endParaRPr lang="ja-JP"/>
          </a:p>
        </p:txBody>
      </p:sp>
      <p:sp>
        <p:nvSpPr>
          <p:cNvPr id="1192877390" name="スライド番号プレースホルダー 3"/>
          <p:cNvSpPr>
            <a:spLocks noGrp="1"/>
          </p:cNvSpPr>
          <p:nvPr>
            <p:ph type="sldNum" sz="quarter" idx="12"/>
          </p:nvPr>
        </p:nvSpPr>
        <p:spPr bwMode="auto"/>
        <p:txBody>
          <a:bodyPr/>
          <a:lstStyle/>
          <a:p>
            <a:pPr>
              <a:defRPr/>
            </a:pPr>
            <a:fld id="{9EE375CF-DE78-44C2-B104-2824F80826E0}" type="slidenum">
              <a:rPr lang="ja-JP"/>
              <a:t>11</a:t>
            </a:fld>
            <a:endParaRPr lang="ja-JP"/>
          </a:p>
        </p:txBody>
      </p:sp>
      <p:sp>
        <p:nvSpPr>
          <p:cNvPr id="1608772793" name="テキスト プレースホルダー 4"/>
          <p:cNvSpPr>
            <a:spLocks noGrp="1"/>
          </p:cNvSpPr>
          <p:nvPr>
            <p:ph type="body" sz="quarter" idx="16"/>
          </p:nvPr>
        </p:nvSpPr>
        <p:spPr bwMode="auto">
          <a:xfrm>
            <a:off x="513531" y="908366"/>
            <a:ext cx="11158111" cy="1866584"/>
          </a:xfrm>
        </p:spPr>
        <p:txBody>
          <a:bodyPr>
            <a:normAutofit/>
          </a:bodyPr>
          <a:lstStyle/>
          <a:p>
            <a:pPr>
              <a:defRPr/>
            </a:pPr>
            <a:r>
              <a:rPr lang="ja-JP"/>
              <a:t>計算時間の増加</a:t>
            </a:r>
            <a:endParaRPr lang="en-US"/>
          </a:p>
          <a:p>
            <a:pPr marL="0" indent="0">
              <a:buNone/>
              <a:defRPr/>
            </a:pPr>
            <a:r>
              <a:rPr lang="en-US" sz="1800"/>
              <a:t>2</a:t>
            </a:r>
            <a:r>
              <a:rPr lang="ja-JP" sz="1800"/>
              <a:t>ステージ化とステージ</a:t>
            </a:r>
            <a:r>
              <a:rPr lang="en-US" sz="1800"/>
              <a:t>1</a:t>
            </a:r>
            <a:r>
              <a:rPr lang="ja-JP" sz="1800"/>
              <a:t>での作業時間の段階的開放で、</a:t>
            </a:r>
            <a:r>
              <a:rPr lang="en-US" sz="1800"/>
              <a:t>1</a:t>
            </a:r>
            <a:r>
              <a:rPr lang="ja-JP" sz="1800"/>
              <a:t>回の計画に複数の最適化が必要となる。</a:t>
            </a:r>
            <a:endParaRPr lang="en-US" sz="1800"/>
          </a:p>
          <a:p>
            <a:pPr marL="0" indent="0">
              <a:buNone/>
              <a:defRPr/>
            </a:pPr>
            <a:r>
              <a:rPr lang="ja-JP" sz="1800"/>
              <a:t>同規模の問題（製番数</a:t>
            </a:r>
            <a:r>
              <a:rPr lang="en-US" sz="1800"/>
              <a:t>30</a:t>
            </a:r>
            <a:r>
              <a:rPr lang="ja-JP" sz="1800"/>
              <a:t>、作業者数</a:t>
            </a:r>
            <a:r>
              <a:rPr lang="en-US" sz="1800"/>
              <a:t>80</a:t>
            </a:r>
            <a:r>
              <a:rPr lang="ja-JP" sz="1800"/>
              <a:t>）に対して、初期版では</a:t>
            </a:r>
            <a:r>
              <a:rPr lang="en-US" sz="1800"/>
              <a:t>35min</a:t>
            </a:r>
            <a:r>
              <a:rPr lang="ja-JP" sz="1800"/>
              <a:t>程度で計画を行うことができたが、</a:t>
            </a:r>
            <a:r>
              <a:rPr lang="en-US" sz="1800"/>
              <a:t>2</a:t>
            </a:r>
            <a:r>
              <a:rPr lang="ja-JP" sz="1800"/>
              <a:t>ステージ化では</a:t>
            </a:r>
            <a:r>
              <a:rPr lang="en-US" sz="1800"/>
              <a:t>90min</a:t>
            </a:r>
            <a:r>
              <a:rPr lang="ja-JP" sz="1800"/>
              <a:t>程度（ステージ</a:t>
            </a:r>
            <a:r>
              <a:rPr lang="en-US" sz="1800"/>
              <a:t>1:60min</a:t>
            </a:r>
            <a:r>
              <a:rPr lang="ja-JP" sz="1800"/>
              <a:t>、ステージ</a:t>
            </a:r>
            <a:r>
              <a:rPr lang="en-US" sz="1800"/>
              <a:t>2:30min</a:t>
            </a:r>
            <a:r>
              <a:rPr lang="ja-JP" sz="1800"/>
              <a:t>）の時間がかかった。</a:t>
            </a:r>
            <a:endParaRPr lang="en-US" sz="1800"/>
          </a:p>
          <a:p>
            <a:pPr marL="0" indent="0">
              <a:buNone/>
              <a:defRPr/>
            </a:pPr>
            <a:r>
              <a:rPr lang="ja-JP" sz="1800"/>
              <a:t>個々の最適化にかかる時間は同程度だが、複数回実行となることの負荷が大きい。</a:t>
            </a:r>
            <a:endParaRPr lang="en-US" sz="1800"/>
          </a:p>
          <a:p>
            <a:pPr marL="0" indent="0">
              <a:buNone/>
              <a:defRPr/>
            </a:pPr>
            <a:endParaRPr lang="en-US" sz="1800"/>
          </a:p>
          <a:p>
            <a:pPr marL="0" indent="0">
              <a:buNone/>
              <a:defRPr/>
            </a:pPr>
            <a:endParaRPr lang="ja-JP" sz="1800"/>
          </a:p>
        </p:txBody>
      </p:sp>
      <p:sp>
        <p:nvSpPr>
          <p:cNvPr id="357152345" name="テキスト プレースホルダー 4"/>
          <p:cNvSpPr txBox="1"/>
          <p:nvPr/>
        </p:nvSpPr>
        <p:spPr bwMode="auto">
          <a:xfrm>
            <a:off x="516944" y="3010216"/>
            <a:ext cx="11158111" cy="2590484"/>
          </a:xfrm>
          <a:prstGeom prst="rect">
            <a:avLst/>
          </a:prstGeom>
        </p:spPr>
        <p:txBody>
          <a:bodyPr vert="horz" lIns="91440" tIns="45720" rIns="91440" bIns="45720" rtlCol="0">
            <a:normAutofit/>
          </a:bodyPr>
          <a:lstStyle>
            <a:lvl1pPr marL="228600" indent="-228600" algn="l" defTabSz="914400">
              <a:lnSpc>
                <a:spcPct val="100000"/>
              </a:lnSpc>
              <a:spcBef>
                <a:spcPts val="0"/>
              </a:spcBef>
              <a:spcAft>
                <a:spcPts val="600"/>
              </a:spcAft>
              <a:buFont typeface="Wingdings"/>
              <a:buChar char="l"/>
              <a:defRPr sz="2000">
                <a:solidFill>
                  <a:schemeClr val="bg2">
                    <a:lumMod val="25000"/>
                  </a:schemeClr>
                </a:solidFill>
                <a:latin typeface="+mj-ea"/>
                <a:ea typeface="+mj-ea"/>
                <a:cs typeface="+mn-cs"/>
              </a:defRPr>
            </a:lvl1pPr>
            <a:lvl2pPr marL="540000" indent="-288000" algn="l" defTabSz="914400">
              <a:lnSpc>
                <a:spcPct val="100000"/>
              </a:lnSpc>
              <a:spcBef>
                <a:spcPts val="0"/>
              </a:spcBef>
              <a:spcAft>
                <a:spcPts val="600"/>
              </a:spcAft>
              <a:buClrTx/>
              <a:buFont typeface="ヒラギノ角ゴ ProN W3"/>
              <a:buChar char="―"/>
              <a:defRPr sz="1800">
                <a:solidFill>
                  <a:schemeClr val="bg2">
                    <a:lumMod val="25000"/>
                  </a:schemeClr>
                </a:solidFill>
                <a:latin typeface="ヒラギノ角ゴ ProN W3"/>
                <a:ea typeface="ヒラギノ角ゴ ProN W3"/>
                <a:cs typeface="+mn-cs"/>
              </a:defRPr>
            </a:lvl2pPr>
            <a:lvl3pPr marL="792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3pPr>
            <a:lvl4pPr marL="1044000" indent="-180000" algn="l" defTabSz="914400">
              <a:lnSpc>
                <a:spcPct val="100000"/>
              </a:lnSpc>
              <a:spcBef>
                <a:spcPts val="0"/>
              </a:spcBef>
              <a:spcAft>
                <a:spcPts val="600"/>
              </a:spcAft>
              <a:buFont typeface="Arial"/>
              <a:buChar char="•"/>
              <a:defRPr sz="1800">
                <a:solidFill>
                  <a:schemeClr val="bg2">
                    <a:lumMod val="25000"/>
                  </a:schemeClr>
                </a:solidFill>
                <a:latin typeface="ヒラギノ角ゴ ProN W3"/>
                <a:ea typeface="ヒラギノ角ゴ ProN W3"/>
                <a:cs typeface="+mn-cs"/>
              </a:defRPr>
            </a:lvl4pPr>
            <a:lvl5pPr marL="1332000" indent="-180000" algn="l" defTabSz="914400">
              <a:lnSpc>
                <a:spcPct val="100000"/>
              </a:lnSpc>
              <a:spcBef>
                <a:spcPts val="0"/>
              </a:spcBef>
              <a:spcAft>
                <a:spcPts val="600"/>
              </a:spcAft>
              <a:buFont typeface="Arial"/>
              <a:buChar char="•"/>
              <a:defRPr sz="1800">
                <a:solidFill>
                  <a:schemeClr val="bg2">
                    <a:lumMod val="50000"/>
                  </a:schemeClr>
                </a:solidFill>
                <a:latin typeface="Avenir Next LT Pro"/>
                <a:ea typeface="ヒラギノ角ゴ ProN W3"/>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defRPr/>
            </a:pPr>
            <a:r>
              <a:rPr lang="ja-JP"/>
              <a:t>改善方針</a:t>
            </a:r>
            <a:endParaRPr lang="en-US"/>
          </a:p>
          <a:p>
            <a:pPr marL="0" indent="0">
              <a:buFont typeface="Wingdings"/>
              <a:buNone/>
              <a:defRPr/>
            </a:pPr>
            <a:r>
              <a:rPr lang="ja-JP" sz="1800"/>
              <a:t>今後実用規模の問題に対応するために高速化が必要と考えられる。</a:t>
            </a:r>
            <a:endParaRPr lang="en-US" sz="1800"/>
          </a:p>
          <a:p>
            <a:pPr marL="0" indent="0">
              <a:buFont typeface="Wingdings"/>
              <a:buNone/>
              <a:defRPr/>
            </a:pPr>
            <a:r>
              <a:rPr lang="ja-JP" sz="1800"/>
              <a:t>ここまで</a:t>
            </a:r>
            <a:r>
              <a:rPr lang="en-US" sz="1800"/>
              <a:t>Python</a:t>
            </a:r>
            <a:r>
              <a:rPr lang="ja-JP" sz="1800"/>
              <a:t>版</a:t>
            </a:r>
            <a:r>
              <a:rPr lang="en-US" sz="1800"/>
              <a:t>Timefold</a:t>
            </a:r>
            <a:r>
              <a:rPr lang="ja-JP" sz="1800"/>
              <a:t>で開発したのは、検証を早期に行うための開発の容易さが理由だったので、</a:t>
            </a:r>
            <a:r>
              <a:rPr lang="en-US" sz="1800"/>
              <a:t>Java</a:t>
            </a:r>
            <a:r>
              <a:rPr lang="ja-JP" sz="1800"/>
              <a:t>版</a:t>
            </a:r>
            <a:r>
              <a:rPr lang="en-US" sz="1800"/>
              <a:t>Timefold</a:t>
            </a:r>
            <a:r>
              <a:rPr lang="ja-JP" sz="1800"/>
              <a:t>に移行することで性能向上が期待できる。</a:t>
            </a:r>
            <a:endParaRPr lang="en-US" sz="1800"/>
          </a:p>
          <a:p>
            <a:pPr marL="0" indent="0">
              <a:buFont typeface="Wingdings"/>
              <a:buNone/>
              <a:defRPr/>
            </a:pPr>
            <a:r>
              <a:rPr lang="ja-JP" sz="1800"/>
              <a:t>また</a:t>
            </a:r>
            <a:r>
              <a:rPr lang="en-US" sz="1800"/>
              <a:t>Timefold</a:t>
            </a:r>
            <a:r>
              <a:rPr lang="ja-JP" sz="1800"/>
              <a:t>公式は</a:t>
            </a:r>
            <a:r>
              <a:rPr lang="en-US" sz="1800"/>
              <a:t>Python</a:t>
            </a:r>
            <a:r>
              <a:rPr lang="ja-JP" sz="1800"/>
              <a:t>版</a:t>
            </a:r>
            <a:r>
              <a:rPr lang="en-US" sz="1800"/>
              <a:t>Timefold</a:t>
            </a:r>
            <a:r>
              <a:rPr lang="ja-JP" sz="1800"/>
              <a:t>のサポートを継続しない方針で、また</a:t>
            </a:r>
            <a:r>
              <a:rPr lang="en-US" sz="1800"/>
              <a:t>Java</a:t>
            </a:r>
            <a:r>
              <a:rPr lang="ja-JP" sz="1800"/>
              <a:t>版</a:t>
            </a:r>
            <a:r>
              <a:rPr lang="en-US" sz="1800"/>
              <a:t>Timefold</a:t>
            </a:r>
            <a:r>
              <a:rPr lang="ja-JP" sz="1800"/>
              <a:t>でのみ使用可能な機能も多々あるため、今後の新規制約の対応の面でも</a:t>
            </a:r>
            <a:r>
              <a:rPr lang="en-US" sz="1800"/>
              <a:t>Java</a:t>
            </a:r>
            <a:r>
              <a:rPr lang="ja-JP" sz="1800"/>
              <a:t>版への移行が望ましい。</a:t>
            </a:r>
            <a:endParaRPr lang="en-US" sz="1800"/>
          </a:p>
          <a:p>
            <a:pPr marL="0" indent="0">
              <a:buFont typeface="Wingdings"/>
              <a:buNone/>
              <a:defRPr/>
            </a:pPr>
            <a:r>
              <a:rPr lang="ja-JP" sz="1800"/>
              <a:t>現状のモデル化で一定の期待した計画結果が得られているため、</a:t>
            </a:r>
            <a:r>
              <a:rPr lang="en-US" sz="1800"/>
              <a:t>Java</a:t>
            </a:r>
            <a:r>
              <a:rPr lang="ja-JP" sz="1800"/>
              <a:t>への移植を行う。</a:t>
            </a:r>
            <a:endParaRPr lang="en-US" sz="1800"/>
          </a:p>
          <a:p>
            <a:pPr marL="0" indent="0">
              <a:buFont typeface="Wingdings"/>
              <a:buNone/>
              <a:defRPr/>
            </a:pPr>
            <a:endParaRPr lang="en-US" sz="1800"/>
          </a:p>
          <a:p>
            <a:pPr marL="0" indent="0">
              <a:buFont typeface="Wingdings"/>
              <a:buNone/>
              <a:defRPr/>
            </a:pPr>
            <a:endParaRPr lang="ja-JP"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5468679" name="タイトル 1"/>
          <p:cNvSpPr>
            <a:spLocks noGrp="1"/>
          </p:cNvSpPr>
          <p:nvPr>
            <p:ph type="title"/>
          </p:nvPr>
        </p:nvSpPr>
        <p:spPr bwMode="auto"/>
        <p:txBody>
          <a:bodyPr/>
          <a:lstStyle/>
          <a:p>
            <a:pPr>
              <a:defRPr/>
            </a:pPr>
            <a:endParaRPr lang="ja-JP"/>
          </a:p>
        </p:txBody>
      </p:sp>
      <p:sp>
        <p:nvSpPr>
          <p:cNvPr id="734339695" name="フッター プレースホルダー 2"/>
          <p:cNvSpPr>
            <a:spLocks noGrp="1"/>
          </p:cNvSpPr>
          <p:nvPr>
            <p:ph type="ftr" sz="quarter" idx="11"/>
          </p:nvPr>
        </p:nvSpPr>
        <p:spPr bwMode="auto"/>
        <p:txBody>
          <a:bodyPr/>
          <a:lstStyle/>
          <a:p>
            <a:pPr>
              <a:defRPr/>
            </a:pPr>
            <a:endParaRPr lang="ja-JP"/>
          </a:p>
        </p:txBody>
      </p:sp>
      <p:sp>
        <p:nvSpPr>
          <p:cNvPr id="940967815" name="スライド番号プレースホルダー 3"/>
          <p:cNvSpPr>
            <a:spLocks noGrp="1"/>
          </p:cNvSpPr>
          <p:nvPr>
            <p:ph type="sldNum" sz="quarter" idx="12"/>
          </p:nvPr>
        </p:nvSpPr>
        <p:spPr bwMode="auto"/>
        <p:txBody>
          <a:bodyPr/>
          <a:lstStyle/>
          <a:p>
            <a:pPr>
              <a:defRPr/>
            </a:pPr>
            <a:fld id="{9EE375CF-DE78-44C2-B104-2824F80826E0}" type="slidenum">
              <a:rPr lang="ja-JP"/>
              <a:t>6</a:t>
            </a:fld>
            <a:endParaRPr lang="ja-JP"/>
          </a:p>
        </p:txBody>
      </p:sp>
      <p:sp>
        <p:nvSpPr>
          <p:cNvPr id="728623444" name="テキスト プレースホルダー 4"/>
          <p:cNvSpPr>
            <a:spLocks noGrp="1"/>
          </p:cNvSpPr>
          <p:nvPr>
            <p:ph type="body" sz="quarter" idx="16"/>
          </p:nvPr>
        </p:nvSpPr>
        <p:spPr bwMode="auto">
          <a:xfrm>
            <a:off x="513531" y="908366"/>
            <a:ext cx="11158111" cy="5371410"/>
          </a:xfrm>
        </p:spPr>
        <p:txBody>
          <a:bodyPr>
            <a:normAutofit/>
          </a:bodyPr>
          <a:lstStyle/>
          <a:p>
            <a:pPr>
              <a:defRPr/>
            </a:pPr>
            <a:endParaRPr lang="ja-JP"/>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8290619" name="タイトル 1"/>
          <p:cNvSpPr>
            <a:spLocks noGrp="1"/>
          </p:cNvSpPr>
          <p:nvPr>
            <p:ph type="title"/>
          </p:nvPr>
        </p:nvSpPr>
        <p:spPr bwMode="auto"/>
        <p:txBody>
          <a:bodyPr/>
          <a:lstStyle/>
          <a:p>
            <a:pPr>
              <a:defRPr/>
            </a:pPr>
            <a:r>
              <a:rPr/>
              <a:t>1ステージ作業ブロック計画</a:t>
            </a:r>
            <a:endParaRPr/>
          </a:p>
        </p:txBody>
      </p:sp>
      <p:sp>
        <p:nvSpPr>
          <p:cNvPr id="1792396964" name="フッター プレースホルダー 2"/>
          <p:cNvSpPr>
            <a:spLocks noGrp="1"/>
          </p:cNvSpPr>
          <p:nvPr>
            <p:ph type="ftr" sz="quarter" idx="11"/>
          </p:nvPr>
        </p:nvSpPr>
        <p:spPr bwMode="auto"/>
        <p:txBody>
          <a:bodyPr/>
          <a:lstStyle/>
          <a:p>
            <a:pPr>
              <a:defRPr/>
            </a:pPr>
            <a:endParaRPr lang="ja-JP"/>
          </a:p>
        </p:txBody>
      </p:sp>
      <p:sp>
        <p:nvSpPr>
          <p:cNvPr id="573485296" name="スライド番号プレースホルダー 3"/>
          <p:cNvSpPr>
            <a:spLocks noGrp="1"/>
          </p:cNvSpPr>
          <p:nvPr>
            <p:ph type="sldNum" sz="quarter" idx="12"/>
          </p:nvPr>
        </p:nvSpPr>
        <p:spPr bwMode="auto"/>
        <p:txBody>
          <a:bodyPr/>
          <a:lstStyle/>
          <a:p>
            <a:pPr>
              <a:defRPr/>
            </a:pPr>
            <a:fld id="{46B09E5B-42BA-3401-C9F7-EE5229C1708B}" type="slidenum">
              <a:rPr lang="ja-JP"/>
              <a:t/>
            </a:fld>
            <a:endParaRPr lang="ja-JP"/>
          </a:p>
        </p:txBody>
      </p:sp>
      <p:sp>
        <p:nvSpPr>
          <p:cNvPr id="756366304" name="テキスト プレースホルダー 4"/>
          <p:cNvSpPr>
            <a:spLocks noGrp="1"/>
          </p:cNvSpPr>
          <p:nvPr>
            <p:ph type="body" sz="quarter" idx="16"/>
          </p:nvPr>
        </p:nvSpPr>
        <p:spPr bwMode="auto">
          <a:xfrm>
            <a:off x="513531" y="908365"/>
            <a:ext cx="11158111" cy="5371409"/>
          </a:xfrm>
        </p:spPr>
        <p:txBody>
          <a:bodyPr>
            <a:normAutofit/>
          </a:bodyPr>
          <a:lstStyle/>
          <a:p>
            <a:pPr>
              <a:defRPr/>
            </a:pPr>
            <a:r>
              <a:rPr lang="ja-JP"/>
              <a:t>検証概要</a:t>
            </a:r>
            <a:endParaRPr/>
          </a:p>
          <a:p>
            <a:pPr>
              <a:defRPr/>
            </a:pPr>
            <a:endParaRPr lang="ja-JP"/>
          </a:p>
        </p:txBody>
      </p:sp>
      <p:graphicFrame>
        <p:nvGraphicFramePr>
          <p:cNvPr id="2091071161" name="表 4"/>
          <p:cNvGraphicFramePr>
            <a:graphicFrameLocks xmlns:a="http://schemas.openxmlformats.org/drawingml/2006/main"/>
          </p:cNvGraphicFramePr>
          <p:nvPr/>
        </p:nvGraphicFramePr>
        <p:xfrm>
          <a:off x="645084" y="1376570"/>
          <a:ext cx="10731125" cy="4023360"/>
        </p:xfrm>
        <a:graphic>
          <a:graphicData uri="http://schemas.openxmlformats.org/drawingml/2006/table">
            <a:tbl>
              <a:tblPr firstRow="1" firstCol="0" lastRow="0" lastCol="0" bandRow="1" bandCol="0">
                <a:tableStyleId>{2D5ABB26-0587-4C30-8999-92F81FD0307C}</a:tableStyleId>
              </a:tblPr>
              <a:tblGrid>
                <a:gridCol w="840813"/>
                <a:gridCol w="9890310"/>
              </a:tblGrid>
              <a:tr h="370840">
                <a:tc>
                  <a:txBody>
                    <a:bodyPr/>
                    <a:p>
                      <a:pPr>
                        <a:defRPr/>
                      </a:pPr>
                      <a:r>
                        <a:rPr lang="ja-JP" sz="1600"/>
                        <a:t>目的：</a:t>
                      </a:r>
                      <a:endParaRPr/>
                    </a:p>
                  </a:txBody>
                  <a:tcPr/>
                </a:tc>
                <a:tc>
                  <a:txBody>
                    <a:bodyPr/>
                    <a:p>
                      <a:pPr>
                        <a:defRPr/>
                      </a:pPr>
                      <a:r>
                        <a:rPr lang="ja-JP" sz="1600" b="0" i="0" u="none" strike="noStrike" cap="none" spc="0">
                          <a:solidFill>
                            <a:schemeClr val="tx1"/>
                          </a:solidFill>
                          <a:latin typeface="Avenir Next LT Pro"/>
                          <a:ea typeface="Avenir Next LT Pro"/>
                          <a:cs typeface="Avenir Next LT Pro"/>
                        </a:rPr>
                        <a:t>作業ブロック計画と作業者割当を同時に最適化する、1ステージ作業ブロック計画を構築する。</a:t>
                      </a:r>
                      <a:endParaRPr lang="ja-JP" sz="1600" b="0" i="0" u="none" strike="noStrike" cap="none" spc="0">
                        <a:solidFill>
                          <a:schemeClr val="tx1"/>
                        </a:solidFill>
                        <a:latin typeface="Avenir Next LT Pro"/>
                        <a:cs typeface="Avenir Next LT Pro"/>
                      </a:endParaRPr>
                    </a:p>
                    <a:p>
                      <a:pPr>
                        <a:defRPr/>
                      </a:pPr>
                      <a:r>
                        <a:rPr lang="ja-JP" sz="1600" b="0" i="0" u="none" strike="noStrike" cap="none" spc="0">
                          <a:solidFill>
                            <a:schemeClr val="tx1"/>
                          </a:solidFill>
                          <a:latin typeface="Avenir Next LT Pro"/>
                          <a:ea typeface="Avenir Next LT Pro"/>
                          <a:cs typeface="Avenir Next LT Pro"/>
                        </a:rPr>
                        <a:t>これにより、ブロック計画時点で割当条件を含めて判断できる計画方式を実現するとともに、実行時間の短縮を図る。</a:t>
                      </a:r>
                      <a:endParaRPr sz="1600"/>
                    </a:p>
                  </a:txBody>
                  <a:tcPr/>
                </a:tc>
              </a:tr>
              <a:tr h="370840">
                <a:tc>
                  <a:txBody>
                    <a:bodyPr/>
                    <a:p>
                      <a:pPr>
                        <a:defRPr/>
                      </a:pPr>
                      <a:r>
                        <a:rPr lang="ja-JP" sz="1600"/>
                        <a:t>手法：</a:t>
                      </a:r>
                      <a:endParaRPr/>
                    </a:p>
                  </a:txBody>
                  <a:tcPr/>
                </a:tc>
                <a:tc>
                  <a:txBody>
                    <a:bodyPr/>
                    <a:p>
                      <a:pPr>
                        <a:defRPr/>
                      </a:pPr>
                      <a:r>
                        <a:rPr lang="ja-JP" sz="1600" b="0" i="0" u="none" strike="noStrike" cap="none" spc="0">
                          <a:solidFill>
                            <a:schemeClr val="tx1"/>
                          </a:solidFill>
                          <a:latin typeface="Avenir Next LT Pro"/>
                          <a:ea typeface="Avenir Next LT Pro"/>
                          <a:cs typeface="Avenir Next LT Pro"/>
                        </a:rPr>
                        <a:t>作業ブロックの開始時期、作業日数、作業時間の決定と、各作業への作業者割当を同一の最適化の中で扱う。</a:t>
                      </a:r>
                      <a:endParaRPr lang="ja-JP" sz="1600" b="0" i="0" u="none" strike="noStrike" cap="none" spc="0">
                        <a:solidFill>
                          <a:schemeClr val="tx1"/>
                        </a:solidFill>
                        <a:latin typeface="Avenir Next LT Pro"/>
                        <a:cs typeface="Avenir Next LT Pro"/>
                      </a:endParaRPr>
                    </a:p>
                    <a:p>
                      <a:pPr>
                        <a:defRPr/>
                      </a:pPr>
                      <a:r>
                        <a:rPr lang="ja-JP" sz="1600" b="0" i="0" u="none" strike="noStrike" cap="none" spc="0">
                          <a:solidFill>
                            <a:schemeClr val="tx1"/>
                          </a:solidFill>
                          <a:latin typeface="Avenir Next LT Pro"/>
                          <a:ea typeface="Avenir Next LT Pro"/>
                          <a:cs typeface="Avenir Next LT Pro"/>
                        </a:rPr>
                        <a:t>また、従来は制約で評価していた一部の条件について、作業者候補や作業時間の選択範囲の段階であらかじめ反映し、探索初期から不適切な候補を減らす構成とする。</a:t>
                      </a:r>
                      <a:endParaRPr sz="1600"/>
                    </a:p>
                  </a:txBody>
                  <a:tcPr/>
                </a:tc>
              </a:tr>
              <a:tr h="370840">
                <a:tc>
                  <a:txBody>
                    <a:bodyPr/>
                    <a:p>
                      <a:pPr>
                        <a:defRPr/>
                      </a:pPr>
                      <a:r>
                        <a:rPr lang="ja-JP" sz="1600"/>
                        <a:t>結果：</a:t>
                      </a:r>
                      <a:endParaRPr/>
                    </a:p>
                  </a:txBody>
                  <a:tcPr/>
                </a:tc>
                <a:tc>
                  <a:txBody>
                    <a:bodyPr/>
                    <a:p>
                      <a:pPr>
                        <a:defRPr/>
                      </a:pPr>
                      <a:r>
                        <a:rPr lang="ja-JP" sz="1600" b="0" i="0" u="none" strike="noStrike" cap="none" spc="0">
                          <a:solidFill>
                            <a:schemeClr val="tx1"/>
                          </a:solidFill>
                          <a:latin typeface="Avenir Next LT Pro"/>
                          <a:ea typeface="Avenir Next LT Pro"/>
                          <a:cs typeface="Avenir Next LT Pro"/>
                        </a:rPr>
                        <a:t>作業ブロック計画と作業者割当を同時に扱うことで、2ステージ方式では事前に扱いにくかった残業時間、滞在日数、移動日数などを計画時点で合わせて評価できるようになった。</a:t>
                      </a:r>
                      <a:endParaRPr lang="ja-JP" sz="1600" b="0" i="0" u="none" strike="noStrike" cap="none" spc="0">
                        <a:solidFill>
                          <a:schemeClr val="tx1"/>
                        </a:solidFill>
                        <a:latin typeface="Avenir Next LT Pro"/>
                        <a:cs typeface="Avenir Next LT Pro"/>
                      </a:endParaRPr>
                    </a:p>
                    <a:p>
                      <a:pPr>
                        <a:defRPr/>
                      </a:pPr>
                      <a:r>
                        <a:rPr lang="ja-JP" sz="1600" b="0" i="0" u="none" strike="noStrike" cap="none" spc="0">
                          <a:solidFill>
                            <a:schemeClr val="tx1"/>
                          </a:solidFill>
                          <a:latin typeface="Avenir Next LT Pro"/>
                          <a:ea typeface="Avenir Next LT Pro"/>
                          <a:cs typeface="Avenir Next LT Pro"/>
                        </a:rPr>
                        <a:t>また、ブロック作成と割当を別々に解く必要がなくなり、計算時間も短縮された。</a:t>
                      </a:r>
                      <a:endParaRPr sz="1600"/>
                    </a:p>
                  </a:txBody>
                  <a:tcPr/>
                </a:tc>
              </a:tr>
              <a:tr h="370840">
                <a:tc>
                  <a:txBody>
                    <a:bodyPr/>
                    <a:p>
                      <a:pPr>
                        <a:defRPr/>
                      </a:pPr>
                      <a:r>
                        <a:rPr lang="ja-JP" sz="1600"/>
                        <a:t>結語：</a:t>
                      </a:r>
                      <a:endParaRPr/>
                    </a:p>
                  </a:txBody>
                  <a:tcPr/>
                </a:tc>
                <a:tc>
                  <a:txBody>
                    <a:bodyPr/>
                    <a:p>
                      <a:pPr>
                        <a:defRPr/>
                      </a:pPr>
                      <a:r>
                        <a:rPr lang="ja-JP" sz="1800" b="0" i="0" u="none" strike="noStrike" cap="none" spc="0">
                          <a:solidFill>
                            <a:schemeClr val="tx1"/>
                          </a:solidFill>
                          <a:latin typeface="Avenir Next LT Pro"/>
                          <a:ea typeface="Avenir Next LT Pro"/>
                          <a:cs typeface="Avenir Next LT Pro"/>
                        </a:rPr>
                        <a:t>作業ブロック計画と作業者割当を分離せず一体で解くことで、2ステージ方式で課題だった予測の難しさと計算時間の増加を改善できる見通しが得られた。</a:t>
                      </a:r>
                      <a:endParaRPr lang="ja-JP" sz="1800" b="0" i="0" u="none" strike="noStrike" cap="none" spc="0">
                        <a:solidFill>
                          <a:schemeClr val="tx1"/>
                        </a:solidFill>
                        <a:latin typeface="Avenir Next LT Pro"/>
                        <a:cs typeface="Avenir Next LT Pro"/>
                      </a:endParaRPr>
                    </a:p>
                    <a:p>
                      <a:pPr>
                        <a:defRPr/>
                      </a:pPr>
                      <a:r>
                        <a:rPr lang="ja-JP" sz="1800" b="0" i="0" u="none" strike="noStrike" cap="none" spc="0">
                          <a:solidFill>
                            <a:schemeClr val="tx1"/>
                          </a:solidFill>
                          <a:latin typeface="Avenir Next LT Pro"/>
                          <a:ea typeface="Avenir Next LT Pro"/>
                          <a:cs typeface="Avenir Next LT Pro"/>
                        </a:rPr>
                        <a:t>今後の実データ計画に向けて、より多くの実務制約を直接扱いやすいモデルに移行できた。</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3986490" name="タイトル 1"/>
          <p:cNvSpPr>
            <a:spLocks noGrp="1"/>
          </p:cNvSpPr>
          <p:nvPr>
            <p:ph type="title"/>
          </p:nvPr>
        </p:nvSpPr>
        <p:spPr bwMode="auto"/>
        <p:txBody>
          <a:bodyPr/>
          <a:lstStyle/>
          <a:p>
            <a:pPr>
              <a:defRPr/>
            </a:pPr>
            <a:r>
              <a:rPr lang="ja-JP" sz="2400" b="0" i="0" u="none" strike="noStrike" cap="none" spc="0">
                <a:solidFill>
                  <a:schemeClr val="bg2">
                    <a:lumMod val="25000"/>
                  </a:schemeClr>
                </a:solidFill>
                <a:latin typeface="Avenir Next LT Pro Demi"/>
                <a:ea typeface="Avenir Next LT Pro Demi"/>
                <a:cs typeface="Avenir Next LT Pro Demi"/>
              </a:rPr>
              <a:t>1ステージ作業ブロック計画</a:t>
            </a:r>
            <a:endParaRPr lang="ja-JP"/>
          </a:p>
        </p:txBody>
      </p:sp>
      <p:sp>
        <p:nvSpPr>
          <p:cNvPr id="684923960" name="フッター プレースホルダー 2"/>
          <p:cNvSpPr>
            <a:spLocks noGrp="1"/>
          </p:cNvSpPr>
          <p:nvPr>
            <p:ph type="ftr" sz="quarter" idx="11"/>
          </p:nvPr>
        </p:nvSpPr>
        <p:spPr bwMode="auto"/>
        <p:txBody>
          <a:bodyPr/>
          <a:lstStyle/>
          <a:p>
            <a:pPr>
              <a:defRPr/>
            </a:pPr>
            <a:endParaRPr lang="ja-JP"/>
          </a:p>
        </p:txBody>
      </p:sp>
      <p:sp>
        <p:nvSpPr>
          <p:cNvPr id="959492457" name="スライド番号プレースホルダー 3"/>
          <p:cNvSpPr>
            <a:spLocks noGrp="1"/>
          </p:cNvSpPr>
          <p:nvPr>
            <p:ph type="sldNum" sz="quarter" idx="12"/>
          </p:nvPr>
        </p:nvSpPr>
        <p:spPr bwMode="auto"/>
        <p:txBody>
          <a:bodyPr/>
          <a:lstStyle/>
          <a:p>
            <a:pPr>
              <a:defRPr/>
            </a:pPr>
            <a:fld id="{20B0954E-E3E3-8CEC-D2A6-95C6C699CE67}" type="slidenum">
              <a:rPr lang="ja-JP"/>
              <a:t/>
            </a:fld>
            <a:endParaRPr lang="ja-JP"/>
          </a:p>
        </p:txBody>
      </p:sp>
      <p:sp>
        <p:nvSpPr>
          <p:cNvPr id="1635869188" name="テキスト プレースホルダー 4"/>
          <p:cNvSpPr>
            <a:spLocks noGrp="1"/>
          </p:cNvSpPr>
          <p:nvPr>
            <p:ph type="body" sz="quarter" idx="16"/>
          </p:nvPr>
        </p:nvSpPr>
        <p:spPr bwMode="auto">
          <a:xfrm>
            <a:off x="513531" y="908365"/>
            <a:ext cx="11158111" cy="5359083"/>
          </a:xfrm>
        </p:spPr>
        <p:txBody>
          <a:bodyPr vertOverflow="overflow" horzOverflow="overflow" vert="horz" wrap="square" lIns="91440" tIns="45720" rIns="91440" bIns="45720" numCol="1" spcCol="0" rtlCol="0" fromWordArt="0" anchor="t" anchorCtr="0" forceAA="0" upright="0" compatLnSpc="0">
            <a:normAutofit/>
          </a:bodyPr>
          <a:lstStyle/>
          <a:p>
            <a:pPr>
              <a:defRPr/>
            </a:pPr>
            <a:r>
              <a:rPr lang="ja-JP"/>
              <a:t>決定変数のモデル化</a:t>
            </a:r>
            <a:endParaRPr lang="en-US"/>
          </a:p>
          <a:p>
            <a:pPr marL="0" indent="0">
              <a:buFont typeface="Arial"/>
              <a:buNone/>
              <a:defRPr/>
            </a:pPr>
            <a:r>
              <a:rPr lang="en-US" sz="1600" b="0" i="0" u="none" strike="noStrike" cap="none" spc="0">
                <a:solidFill>
                  <a:schemeClr val="bg2">
                    <a:lumMod val="25000"/>
                  </a:schemeClr>
                </a:solidFill>
                <a:latin typeface="ヒラギノ角ゴ ProN W6"/>
                <a:ea typeface="ヒラギノ角ゴ ProN W6"/>
                <a:cs typeface="ヒラギノ角ゴ ProN W6"/>
              </a:rPr>
              <a:t>1ステージ方式では、作業ブロックの開始日・作業日数・作業時間の決定と、各作業者割当席への作業者配置を同時に最適化する。</a:t>
            </a:r>
            <a:endParaRPr lang="en-US" sz="1600" b="0" i="0" u="none" strike="noStrike" cap="none" spc="0">
              <a:solidFill>
                <a:schemeClr val="bg2">
                  <a:lumMod val="25000"/>
                </a:schemeClr>
              </a:solidFill>
              <a:latin typeface="ヒラギノ角ゴ ProN W6"/>
              <a:cs typeface="ヒラギノ角ゴ ProN W6"/>
            </a:endParaRPr>
          </a:p>
          <a:p>
            <a:pPr marL="0" indent="0">
              <a:buFont typeface="Arial"/>
              <a:buNone/>
              <a:defRPr/>
            </a:pPr>
            <a:r>
              <a:rPr lang="en-US" sz="1600" b="0" i="0" u="none" strike="noStrike" cap="none" spc="0">
                <a:solidFill>
                  <a:schemeClr val="bg2">
                    <a:lumMod val="25000"/>
                  </a:schemeClr>
                </a:solidFill>
                <a:latin typeface="ヒラギノ角ゴ ProN W6"/>
                <a:ea typeface="ヒラギノ角ゴ ProN W6"/>
                <a:cs typeface="ヒラギノ角ゴ ProN W6"/>
              </a:rPr>
              <a:t>各作業に対して、作業ブロックと作業者割当を一体の決定変数として持つ形に変更した。</a:t>
            </a:r>
            <a:endParaRPr lang="en-US" sz="1600" b="0" i="0" u="none" strike="noStrike" cap="none" spc="0">
              <a:solidFill>
                <a:schemeClr val="bg2">
                  <a:lumMod val="25000"/>
                </a:schemeClr>
              </a:solidFill>
              <a:latin typeface="ヒラギノ角ゴ ProN W6"/>
              <a:cs typeface="ヒラギノ角ゴ ProN W6"/>
            </a:endParaRPr>
          </a:p>
          <a:p>
            <a:pPr marL="0" indent="0">
              <a:buFont typeface="Arial"/>
              <a:buNone/>
              <a:defRPr/>
            </a:pPr>
            <a:endParaRPr lang="en-US" sz="1600" b="0" i="0" u="none" strike="noStrike" cap="none" spc="0">
              <a:solidFill>
                <a:schemeClr val="bg2">
                  <a:lumMod val="25000"/>
                </a:schemeClr>
              </a:solidFill>
              <a:latin typeface="ヒラギノ角ゴ ProN W6"/>
              <a:ea typeface="ヒラギノ角ゴ ProN W6"/>
              <a:cs typeface="ヒラギノ角ゴ ProN W6"/>
            </a:endParaRPr>
          </a:p>
          <a:p>
            <a:pPr marL="0" indent="0">
              <a:buFont typeface="Arial"/>
              <a:buNone/>
              <a:defRPr/>
            </a:pPr>
            <a:r>
              <a:rPr lang="en-US" sz="1600" b="0" i="0" u="none" strike="noStrike" cap="none" spc="0">
                <a:solidFill>
                  <a:schemeClr val="bg2">
                    <a:lumMod val="25000"/>
                  </a:schemeClr>
                </a:solidFill>
                <a:latin typeface="ヒラギノ角ゴ ProN W6"/>
                <a:ea typeface="ヒラギノ角ゴ ProN W6"/>
                <a:cs typeface="ヒラギノ角ゴ ProN W6"/>
              </a:rPr>
              <a:t>従来の作業ブロック計画は、各作業を</a:t>
            </a:r>
            <a:endParaRPr lang="en-US" sz="1600"/>
          </a:p>
          <a:p>
            <a:pPr marL="0" indent="0">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				Bi​=(Di​,Wi​,Hi​)</a:t>
            </a:r>
            <a:endParaRPr lang="ja-JP" sz="1600"/>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として表していた。</a:t>
            </a:r>
            <a:endParaRPr lang="ja-JP" sz="1600" b="0" i="0" u="none" strike="noStrike" cap="none" spc="0">
              <a:solidFill>
                <a:schemeClr val="bg2">
                  <a:lumMod val="25000"/>
                </a:schemeClr>
              </a:solidFill>
              <a:latin typeface="ヒラギノ角ゴ ProN W6"/>
              <a:cs typeface="ヒラギノ角ゴ ProN W6"/>
            </a:endParaRPr>
          </a:p>
          <a:p>
            <a:pPr marL="0" indent="0">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1ステージ方式では、これに作業者割当席を加え、各作業を</a:t>
            </a:r>
            <a:endParaRPr lang="ja-JP" sz="1600"/>
          </a:p>
          <a:p>
            <a:pPr marL="0" indent="0">
              <a:buNone/>
              <a:defRPr/>
            </a:pPr>
            <a:r>
              <a:rPr lang="ja-JP" sz="1600"/>
              <a:t>				</a:t>
            </a:r>
            <a:r>
              <a:rPr lang="ja-JP" sz="1600" b="0" i="0" u="none" strike="noStrike" cap="none" spc="0">
                <a:solidFill>
                  <a:schemeClr val="bg2">
                    <a:lumMod val="25000"/>
                  </a:schemeClr>
                </a:solidFill>
                <a:latin typeface="ヒラギノ角ゴ ProN W6"/>
                <a:ea typeface="ヒラギノ角ゴ ProN W6"/>
                <a:cs typeface="ヒラギノ角ゴ ProN W6"/>
              </a:rPr>
              <a:t>Xi​=(Di​,Wi​,Hi​,Ei,1​,Ei,2​,…,Ei,n​)</a:t>
            </a:r>
            <a:endParaRPr lang="ja-JP" sz="1600"/>
          </a:p>
          <a:p>
            <a:pPr marL="0" indent="0">
              <a:buFont typeface="Arial"/>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モデル変更のポイント</a:t>
            </a:r>
            <a:endParaRPr lang="ja-JP" sz="1600" b="0" i="0" u="none" strike="noStrike" cap="none" spc="0">
              <a:solidFill>
                <a:schemeClr val="bg2">
                  <a:lumMod val="25000"/>
                </a:schemeClr>
              </a:solidFill>
              <a:latin typeface="ヒラギノ角ゴ ProN W6"/>
              <a:cs typeface="ヒラギノ角ゴ ProN W6"/>
            </a:endParaRPr>
          </a:p>
          <a:p>
            <a:pPr>
              <a:buFont typeface="Arial"/>
              <a:buChar char="•"/>
              <a:defRPr/>
            </a:pPr>
            <a:r>
              <a:rPr lang="ja-JP" sz="1600" b="0" i="0" u="none" strike="noStrike" cap="none" spc="0">
                <a:solidFill>
                  <a:schemeClr val="bg2">
                    <a:lumMod val="25000"/>
                  </a:schemeClr>
                </a:solidFill>
                <a:latin typeface="ヒラギノ角ゴ ProN W6"/>
                <a:ea typeface="ヒラギノ角ゴ ProN W6"/>
                <a:cs typeface="ヒラギノ角ゴ ProN W6"/>
              </a:rPr>
              <a:t>作業ブロックのみを決定する形から、作業者割当席を含めて決定する形へ変更</a:t>
            </a:r>
            <a:endParaRPr lang="ja-JP" sz="1600" b="0" i="0" u="none" strike="noStrike" cap="none" spc="0">
              <a:solidFill>
                <a:schemeClr val="bg2">
                  <a:lumMod val="25000"/>
                </a:schemeClr>
              </a:solidFill>
              <a:latin typeface="ヒラギノ角ゴ ProN W6"/>
              <a:cs typeface="ヒラギノ角ゴ ProN W6"/>
            </a:endParaRPr>
          </a:p>
          <a:p>
            <a:pPr>
              <a:buFont typeface="Arial"/>
              <a:buChar char="•"/>
              <a:defRPr/>
            </a:pPr>
            <a:r>
              <a:rPr lang="ja-JP" sz="1600" b="0" i="0" u="none" strike="noStrike" cap="none" spc="0">
                <a:solidFill>
                  <a:schemeClr val="bg2">
                    <a:lumMod val="25000"/>
                  </a:schemeClr>
                </a:solidFill>
                <a:latin typeface="ヒラギノ角ゴ ProN W6"/>
                <a:ea typeface="ヒラギノ角ゴ ProN W6"/>
                <a:cs typeface="ヒラギノ角ゴ ProN W6"/>
              </a:rPr>
              <a:t>各席に配置する作業者を、計画と同時に扱う構成へ変更</a:t>
            </a:r>
            <a:endParaRPr lang="ja-JP" sz="1600" b="0" i="0" u="none" strike="noStrike" cap="none" spc="0">
              <a:solidFill>
                <a:schemeClr val="bg2">
                  <a:lumMod val="25000"/>
                </a:schemeClr>
              </a:solidFill>
              <a:latin typeface="ヒラギノ角ゴ ProN W6"/>
              <a:cs typeface="ヒラギノ角ゴ ProN W6"/>
            </a:endParaRPr>
          </a:p>
          <a:p>
            <a:pPr>
              <a:buFont typeface="Arial"/>
              <a:buChar char="•"/>
              <a:defRPr/>
            </a:pPr>
            <a:r>
              <a:rPr lang="ja-JP" sz="1600" b="0" i="0" u="none" strike="noStrike" cap="none" spc="0">
                <a:solidFill>
                  <a:schemeClr val="bg2">
                    <a:lumMod val="25000"/>
                  </a:schemeClr>
                </a:solidFill>
                <a:latin typeface="ヒラギノ角ゴ ProN W6"/>
                <a:ea typeface="ヒラギノ角ゴ ProN W6"/>
                <a:cs typeface="ヒラギノ角ゴ ProN W6"/>
              </a:rPr>
              <a:t>作業者条件を含めた形で計画できるモデルへ拡張</a:t>
            </a:r>
            <a:endParaRPr lang="ja-JP"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9454750" name="タイトル 1"/>
          <p:cNvSpPr>
            <a:spLocks noGrp="1"/>
          </p:cNvSpPr>
          <p:nvPr>
            <p:ph type="title"/>
          </p:nvPr>
        </p:nvSpPr>
        <p:spPr bwMode="auto"/>
        <p:txBody>
          <a:bodyPr/>
          <a:lstStyle/>
          <a:p>
            <a:pPr>
              <a:defRPr/>
            </a:pPr>
            <a:r>
              <a:rPr lang="ja-JP" sz="2400" b="0" i="0" u="none" strike="noStrike" cap="none" spc="0">
                <a:solidFill>
                  <a:schemeClr val="bg2">
                    <a:lumMod val="25000"/>
                  </a:schemeClr>
                </a:solidFill>
                <a:latin typeface="Avenir Next LT Pro Demi"/>
                <a:ea typeface="Avenir Next LT Pro Demi"/>
                <a:cs typeface="Avenir Next LT Pro Demi"/>
              </a:rPr>
              <a:t>1ステージ作業ブロック計画</a:t>
            </a:r>
            <a:endParaRPr lang="ja-JP"/>
          </a:p>
        </p:txBody>
      </p:sp>
      <p:sp>
        <p:nvSpPr>
          <p:cNvPr id="2420096" name="フッター プレースホルダー 2"/>
          <p:cNvSpPr>
            <a:spLocks noGrp="1"/>
          </p:cNvSpPr>
          <p:nvPr>
            <p:ph type="ftr" sz="quarter" idx="11"/>
          </p:nvPr>
        </p:nvSpPr>
        <p:spPr bwMode="auto"/>
        <p:txBody>
          <a:bodyPr/>
          <a:lstStyle/>
          <a:p>
            <a:pPr>
              <a:defRPr/>
            </a:pPr>
            <a:endParaRPr lang="ja-JP"/>
          </a:p>
        </p:txBody>
      </p:sp>
      <p:sp>
        <p:nvSpPr>
          <p:cNvPr id="1419859404" name="スライド番号プレースホルダー 3"/>
          <p:cNvSpPr>
            <a:spLocks noGrp="1"/>
          </p:cNvSpPr>
          <p:nvPr>
            <p:ph type="sldNum" sz="quarter" idx="12"/>
          </p:nvPr>
        </p:nvSpPr>
        <p:spPr bwMode="auto"/>
        <p:txBody>
          <a:bodyPr/>
          <a:lstStyle/>
          <a:p>
            <a:pPr>
              <a:defRPr/>
            </a:pPr>
            <a:fld id="{BDA6B76D-BC0B-9211-9710-2790242812B3}" type="slidenum">
              <a:rPr lang="ja-JP"/>
              <a:t/>
            </a:fld>
            <a:endParaRPr lang="ja-JP"/>
          </a:p>
        </p:txBody>
      </p:sp>
      <p:sp>
        <p:nvSpPr>
          <p:cNvPr id="1630350808" name="テキスト プレースホルダー 4"/>
          <p:cNvSpPr>
            <a:spLocks noGrp="1"/>
          </p:cNvSpPr>
          <p:nvPr>
            <p:ph type="body" sz="quarter" idx="16"/>
          </p:nvPr>
        </p:nvSpPr>
        <p:spPr bwMode="auto">
          <a:xfrm>
            <a:off x="513531" y="908365"/>
            <a:ext cx="11158111" cy="5359083"/>
          </a:xfrm>
        </p:spPr>
        <p:txBody>
          <a:bodyPr vertOverflow="overflow" horzOverflow="overflow" vert="horz" wrap="square" lIns="91440" tIns="45720" rIns="91440" bIns="45720" numCol="1" spcCol="0" rtlCol="0" fromWordArt="0" anchor="t" anchorCtr="0" forceAA="0" upright="0" compatLnSpc="0">
            <a:normAutofit/>
          </a:bodyPr>
          <a:lstStyle/>
          <a:p>
            <a:pPr>
              <a:defRPr/>
            </a:pPr>
            <a:r>
              <a:rPr lang="ja-JP" sz="1400" b="0" i="0" u="none" strike="noStrike" cap="none" spc="0">
                <a:solidFill>
                  <a:schemeClr val="bg2">
                    <a:lumMod val="25000"/>
                  </a:schemeClr>
                </a:solidFill>
                <a:latin typeface="ヒラギノ角ゴ ProN W6"/>
                <a:ea typeface="ヒラギノ角ゴ ProN W6"/>
                <a:cs typeface="ヒラギノ角ゴ ProN W6"/>
              </a:rPr>
              <a:t>Java版での実装改善</a:t>
            </a:r>
            <a:endParaRPr lang="ja-JP" sz="1400" b="0" i="0" u="none" strike="noStrike" cap="none" spc="0">
              <a:solidFill>
                <a:schemeClr val="bg2">
                  <a:lumMod val="25000"/>
                </a:schemeClr>
              </a:solidFill>
              <a:latin typeface="ヒラギノ角ゴ ProN W6"/>
              <a:cs typeface="ヒラギノ角ゴ ProN W6"/>
            </a:endParaRPr>
          </a:p>
          <a:p>
            <a:pPr marL="0" indent="0">
              <a:buFont typeface="Wingdings"/>
              <a:buNone/>
              <a:defRPr/>
            </a:pPr>
            <a:endParaRPr lang="ja-JP" sz="1400" b="0" i="0" u="none" strike="noStrike" cap="none" spc="0">
              <a:solidFill>
                <a:schemeClr val="bg2">
                  <a:lumMod val="25000"/>
                </a:schemeClr>
              </a:solidFill>
              <a:latin typeface="ヒラギノ角ゴ ProN W6"/>
              <a:cs typeface="ヒラギノ角ゴ ProN W6"/>
            </a:endParaRPr>
          </a:p>
          <a:p>
            <a:pPr>
              <a:buFont typeface="Arial"/>
              <a:buChar char="•"/>
              <a:defRPr/>
            </a:pPr>
            <a:r>
              <a:rPr lang="ja-JP" sz="1400" b="0" i="0" u="none" strike="noStrike" cap="none" spc="0">
                <a:solidFill>
                  <a:schemeClr val="bg2">
                    <a:lumMod val="25000"/>
                  </a:schemeClr>
                </a:solidFill>
                <a:latin typeface="ヒラギノ角ゴ ProN W6"/>
                <a:ea typeface="ヒラギノ角ゴ ProN W6"/>
                <a:cs typeface="ヒラギノ角ゴ ProN W6"/>
              </a:rPr>
              <a:t>値域設定による候補の整理</a:t>
            </a:r>
            <a:endParaRPr lang="ja-JP" sz="1400" b="0" i="0" u="none" strike="noStrike" cap="none" spc="0">
              <a:solidFill>
                <a:schemeClr val="bg2">
                  <a:lumMod val="25000"/>
                </a:schemeClr>
              </a:solidFill>
              <a:latin typeface="ヒラギノ角ゴ ProN W6"/>
              <a:cs typeface="ヒラギノ角ゴ ProN W6"/>
            </a:endParaRPr>
          </a:p>
          <a:p>
            <a:pPr marL="0" indent="0">
              <a:buFont typeface="Arial"/>
              <a:buNone/>
              <a:defRPr/>
            </a:pPr>
            <a:r>
              <a:rPr lang="ja-JP" sz="1400" b="0" i="0" u="none" strike="noStrike" cap="none" spc="0">
                <a:solidFill>
                  <a:schemeClr val="bg2">
                    <a:lumMod val="25000"/>
                  </a:schemeClr>
                </a:solidFill>
                <a:latin typeface="ヒラギノ角ゴ ProN W6"/>
                <a:ea typeface="ヒラギノ角ゴ ProN W6"/>
                <a:cs typeface="ヒラギノ角ゴ ProN W6"/>
              </a:rPr>
              <a:t>開始日・作業日数・作業時間を、あらかじめ許可された範囲に限定する。</a:t>
            </a:r>
            <a:endParaRPr lang="ja-JP" sz="1600" b="0" i="0" u="none" strike="noStrike" cap="none" spc="0">
              <a:solidFill>
                <a:schemeClr val="bg2">
                  <a:lumMod val="25000"/>
                </a:schemeClr>
              </a:solidFill>
              <a:latin typeface="ヒラギノ角ゴ ProN W6"/>
              <a:ea typeface="ヒラギノ角ゴ ProN W6"/>
              <a:cs typeface="ヒラギノ角ゴ ProN W6"/>
            </a:endParaRPr>
          </a:p>
          <a:p>
            <a:pPr marL="0" indent="0">
              <a:buFont typeface="Arial"/>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	Di​∈[開始可能日,終了可能日],Wi​∈[1,最大作業日数],Hi​∈{許可作業時間}</a:t>
            </a:r>
            <a:endParaRPr lang="ja-JP" sz="1600"/>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これにより、不要な候補を初期段階から減らせるようにした。</a:t>
            </a:r>
            <a:endParaRPr lang="ja-JP" sz="1600" b="0" i="0" u="none" strike="noStrike" cap="none" spc="0">
              <a:solidFill>
                <a:schemeClr val="bg2">
                  <a:lumMod val="25000"/>
                </a:schemeClr>
              </a:solidFill>
              <a:latin typeface="ヒラギノ角ゴ ProN W6"/>
              <a:ea typeface="ヒラギノ角ゴ ProN W6"/>
              <a:cs typeface="ヒラギノ角ゴ ProN W6"/>
            </a:endParaRPr>
          </a:p>
          <a:p>
            <a:pPr marL="0" indent="0">
              <a:buFont typeface="Wingdings"/>
              <a:buNone/>
              <a:defRPr/>
            </a:pPr>
            <a:endParaRPr lang="ja-JP" sz="1600" b="0" i="0" u="none" strike="noStrike" cap="none" spc="0">
              <a:solidFill>
                <a:schemeClr val="bg2">
                  <a:lumMod val="25000"/>
                </a:schemeClr>
              </a:solidFill>
              <a:latin typeface="ヒラギノ角ゴ ProN W6"/>
              <a:cs typeface="ヒラギノ角ゴ ProN W6"/>
            </a:endParaRPr>
          </a:p>
          <a:p>
            <a:pPr>
              <a:buFont typeface="Arial"/>
              <a:buChar char="•"/>
              <a:defRPr/>
            </a:pPr>
            <a:r>
              <a:rPr lang="ja-JP" sz="1600" b="0" i="0" u="none" strike="noStrike" cap="none" spc="0">
                <a:solidFill>
                  <a:schemeClr val="bg2">
                    <a:lumMod val="25000"/>
                  </a:schemeClr>
                </a:solidFill>
                <a:latin typeface="ヒラギノ角ゴ ProN W6"/>
                <a:ea typeface="ヒラギノ角ゴ ProN W6"/>
                <a:cs typeface="ヒラギノ角ゴ ProN W6"/>
              </a:rPr>
              <a:t>候補作業者の事前絞り込み</a:t>
            </a:r>
            <a:endParaRPr lang="ja-JP" sz="1600" b="0" i="0" u="none" strike="noStrike" cap="none" spc="0">
              <a:solidFill>
                <a:schemeClr val="bg2">
                  <a:lumMod val="25000"/>
                </a:schemeClr>
              </a:solidFill>
              <a:latin typeface="ヒラギノ角ゴ ProN W6"/>
              <a:cs typeface="ヒラギノ角ゴ ProN W6"/>
            </a:endParaRPr>
          </a:p>
          <a:p>
            <a:pPr marL="0" indent="0">
              <a:buFont typeface="Arial"/>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各作業者割当席ごとに候補作業者集合を持たせ、条件に合わない作業者を探索前に除外する。</a:t>
            </a:r>
            <a:endParaRPr lang="ja-JP" sz="1600"/>
          </a:p>
          <a:p>
            <a:pPr marL="0" indent="0">
              <a:buFont typeface="Arial"/>
              <a:buNone/>
              <a:defRPr/>
            </a:pPr>
            <a:r>
              <a:rPr lang="ja-JP" sz="1400" b="0" i="0" u="none" strike="noStrike" cap="none" spc="0">
                <a:solidFill>
                  <a:schemeClr val="bg2">
                    <a:lumMod val="25000"/>
                  </a:schemeClr>
                </a:solidFill>
                <a:latin typeface="ヒラギノ角ゴ ProN W6"/>
                <a:ea typeface="ヒラギノ角ゴ ProN W6"/>
                <a:cs typeface="ヒラギノ角ゴ ProN W6"/>
              </a:rPr>
              <a:t>			Ei,s​∈Ci,s​</a:t>
            </a:r>
            <a:endParaRPr lang="ja-JP" sz="1600"/>
          </a:p>
          <a:p>
            <a:pPr marL="0" indent="0">
              <a:buFont typeface="Arial"/>
              <a:buNone/>
              <a:defRPr/>
            </a:pPr>
            <a:r>
              <a:rPr lang="ja-JP" sz="1400" b="0" i="0" u="none" strike="noStrike" cap="none" spc="0">
                <a:solidFill>
                  <a:schemeClr val="bg2">
                    <a:lumMod val="25000"/>
                  </a:schemeClr>
                </a:solidFill>
                <a:latin typeface="ヒラギノ角ゴ ProN W6"/>
                <a:ea typeface="ヒラギノ角ゴ ProN W6"/>
                <a:cs typeface="ヒラギノ角ゴ ProN W6"/>
              </a:rPr>
              <a:t>これにより、制約違反となる割当を減らしながら探索できるようにした。</a:t>
            </a:r>
            <a:endParaRPr lang="ja-JP" sz="1600"/>
          </a:p>
          <a:p>
            <a:pPr marL="0" indent="0">
              <a:buFont typeface="Arial"/>
              <a:buNone/>
              <a:defRPr/>
            </a:pPr>
            <a:endParaRPr lang="ja-JP" sz="1600"/>
          </a:p>
          <a:p>
            <a:pPr>
              <a:buFont typeface="Arial"/>
              <a:buChar char="•"/>
              <a:defRPr/>
            </a:pPr>
            <a:r>
              <a:rPr lang="ja-JP" sz="1400" b="0" i="0" u="none" strike="noStrike" cap="none" spc="0">
                <a:solidFill>
                  <a:schemeClr val="bg2">
                    <a:lumMod val="25000"/>
                  </a:schemeClr>
                </a:solidFill>
                <a:latin typeface="ヒラギノ角ゴ ProN W6"/>
                <a:ea typeface="ヒラギノ角ゴ ProN W6"/>
                <a:cs typeface="ヒラギノ角ゴ ProN W6"/>
              </a:rPr>
              <a:t>優先順の導入</a:t>
            </a:r>
            <a:endParaRPr lang="ja-JP" sz="1600"/>
          </a:p>
          <a:p>
            <a:pPr marL="0" indent="0">
              <a:buFont typeface="Arial"/>
              <a:buNone/>
              <a:defRPr/>
            </a:pPr>
            <a:r>
              <a:rPr lang="ja-JP" sz="1300" b="0" i="0" u="none" strike="noStrike" cap="none" spc="0">
                <a:solidFill>
                  <a:schemeClr val="bg2">
                    <a:lumMod val="25000"/>
                  </a:schemeClr>
                </a:solidFill>
                <a:latin typeface="ヒラギノ角ゴ ProN W6"/>
                <a:ea typeface="ヒラギノ角ゴ ProN W6"/>
                <a:cs typeface="ヒラギノ角ゴ ProN W6"/>
              </a:rPr>
              <a:t>候補の中でも、開始日は早い日、作業時間は短い時間を優先して探索する。</a:t>
            </a:r>
            <a:endParaRPr lang="ja-JP" sz="1600"/>
          </a:p>
          <a:p>
            <a:pPr marL="0" indent="0">
              <a:buFont typeface="Arial"/>
              <a:buNone/>
              <a:defRPr/>
            </a:pPr>
            <a:r>
              <a:rPr sz="1200" b="0" i="0" u="none">
                <a:solidFill>
                  <a:srgbClr val="000000"/>
                </a:solidFill>
                <a:latin typeface="Times New Roman"/>
                <a:ea typeface="Times New Roman"/>
                <a:cs typeface="Times New Roman"/>
              </a:rPr>
              <a:t>			8</a:t>
            </a:r>
            <a:r>
              <a:rPr sz="1200" b="0" i="0" u="none">
                <a:solidFill>
                  <a:srgbClr val="000000"/>
                </a:solidFill>
                <a:latin typeface="Times New Roman"/>
                <a:ea typeface="Times New Roman"/>
                <a:cs typeface="Times New Roman"/>
              </a:rPr>
              <a:t>h</a:t>
            </a:r>
            <a:r>
              <a:rPr sz="1200" b="0" i="0" u="none">
                <a:solidFill>
                  <a:srgbClr val="000000"/>
                </a:solidFill>
                <a:latin typeface="Times New Roman"/>
                <a:ea typeface="Times New Roman"/>
                <a:cs typeface="Times New Roman"/>
              </a:rPr>
              <a:t>&gt;</a:t>
            </a:r>
            <a:r>
              <a:rPr sz="1200" b="0" i="0" u="none">
                <a:solidFill>
                  <a:srgbClr val="000000"/>
                </a:solidFill>
                <a:latin typeface="Times New Roman"/>
                <a:ea typeface="Times New Roman"/>
                <a:cs typeface="Times New Roman"/>
              </a:rPr>
              <a:t>10</a:t>
            </a:r>
            <a:r>
              <a:rPr sz="1200" b="0" i="0" u="none">
                <a:solidFill>
                  <a:srgbClr val="000000"/>
                </a:solidFill>
                <a:latin typeface="Times New Roman"/>
                <a:ea typeface="Times New Roman"/>
                <a:cs typeface="Times New Roman"/>
              </a:rPr>
              <a:t>h</a:t>
            </a:r>
            <a:r>
              <a:rPr sz="1200" b="0" i="0" u="none">
                <a:solidFill>
                  <a:srgbClr val="000000"/>
                </a:solidFill>
                <a:latin typeface="Times New Roman"/>
                <a:ea typeface="Times New Roman"/>
                <a:cs typeface="Times New Roman"/>
              </a:rPr>
              <a:t>&gt;</a:t>
            </a:r>
            <a:r>
              <a:rPr sz="1200" b="0" i="0" u="none">
                <a:solidFill>
                  <a:srgbClr val="000000"/>
                </a:solidFill>
                <a:latin typeface="Times New Roman"/>
                <a:ea typeface="Times New Roman"/>
                <a:cs typeface="Times New Roman"/>
              </a:rPr>
              <a:t>12</a:t>
            </a:r>
            <a:r>
              <a:rPr sz="1200" b="0" i="0" u="none">
                <a:solidFill>
                  <a:srgbClr val="000000"/>
                </a:solidFill>
                <a:latin typeface="Times New Roman"/>
                <a:ea typeface="Times New Roman"/>
                <a:cs typeface="Times New Roman"/>
              </a:rPr>
              <a:t>h</a:t>
            </a:r>
            <a:r>
              <a:rPr sz="1200" b="0" i="0" u="none">
                <a:solidFill>
                  <a:srgbClr val="000000"/>
                </a:solidFill>
                <a:latin typeface="Times New Roman"/>
                <a:ea typeface="Times New Roman"/>
                <a:cs typeface="Times New Roman"/>
              </a:rPr>
              <a:t>,</a:t>
            </a:r>
            <a:r>
              <a:rPr sz="1200" b="0" i="0" u="none">
                <a:solidFill>
                  <a:srgbClr val="000000"/>
                </a:solidFill>
                <a:latin typeface="Times New Roman"/>
                <a:ea typeface="Times New Roman"/>
                <a:cs typeface="Times New Roman"/>
              </a:rPr>
              <a:t>d</a:t>
            </a:r>
            <a:r>
              <a:rPr sz="1200" b="0" i="0" u="none">
                <a:solidFill>
                  <a:srgbClr val="000000"/>
                </a:solidFill>
                <a:latin typeface="Times New Roman"/>
                <a:ea typeface="Times New Roman"/>
                <a:cs typeface="Times New Roman"/>
              </a:rPr>
              <a:t>a</a:t>
            </a:r>
            <a:r>
              <a:rPr sz="1200" b="0" i="0" u="none">
                <a:solidFill>
                  <a:srgbClr val="000000"/>
                </a:solidFill>
                <a:latin typeface="Times New Roman"/>
                <a:ea typeface="Times New Roman"/>
                <a:cs typeface="Times New Roman"/>
              </a:rPr>
              <a:t>y</a:t>
            </a:r>
            <a:r>
              <a:rPr sz="1200" b="0" i="0" u="none">
                <a:solidFill>
                  <a:srgbClr val="000000"/>
                </a:solidFill>
                <a:latin typeface="Times New Roman"/>
                <a:ea typeface="Times New Roman"/>
                <a:cs typeface="Times New Roman"/>
              </a:rPr>
              <a:t>I</a:t>
            </a:r>
            <a:r>
              <a:rPr sz="1200" b="0" i="0" u="none">
                <a:solidFill>
                  <a:srgbClr val="000000"/>
                </a:solidFill>
                <a:latin typeface="Times New Roman"/>
                <a:ea typeface="Times New Roman"/>
                <a:cs typeface="Times New Roman"/>
              </a:rPr>
              <a:t>d</a:t>
            </a:r>
            <a:r>
              <a:rPr sz="1200" b="0" i="0" u="none">
                <a:solidFill>
                  <a:srgbClr val="000000"/>
                </a:solidFill>
                <a:latin typeface="Times New Roman"/>
                <a:ea typeface="Times New Roman"/>
                <a:cs typeface="Times New Roman"/>
              </a:rPr>
              <a:t>1</a:t>
            </a:r>
            <a:r>
              <a:rPr sz="1200" b="0" i="0" u="none">
                <a:solidFill>
                  <a:srgbClr val="000000"/>
                </a:solidFill>
                <a:latin typeface="Times New Roman"/>
                <a:ea typeface="Times New Roman"/>
                <a:cs typeface="Times New Roman"/>
              </a:rPr>
              <a:t>&gt;</a:t>
            </a:r>
            <a:r>
              <a:rPr sz="1200" b="0" i="0" u="none">
                <a:solidFill>
                  <a:srgbClr val="000000"/>
                </a:solidFill>
                <a:latin typeface="Times New Roman"/>
                <a:ea typeface="Times New Roman"/>
                <a:cs typeface="Times New Roman"/>
              </a:rPr>
              <a:t>d</a:t>
            </a:r>
            <a:r>
              <a:rPr sz="1200" b="0" i="0" u="none">
                <a:solidFill>
                  <a:srgbClr val="000000"/>
                </a:solidFill>
                <a:latin typeface="Times New Roman"/>
                <a:ea typeface="Times New Roman"/>
                <a:cs typeface="Times New Roman"/>
              </a:rPr>
              <a:t>a</a:t>
            </a:r>
            <a:r>
              <a:rPr sz="1200" b="0" i="0" u="none">
                <a:solidFill>
                  <a:srgbClr val="000000"/>
                </a:solidFill>
                <a:latin typeface="Times New Roman"/>
                <a:ea typeface="Times New Roman"/>
                <a:cs typeface="Times New Roman"/>
              </a:rPr>
              <a:t>y</a:t>
            </a:r>
            <a:r>
              <a:rPr sz="1200" b="0" i="0" u="none">
                <a:solidFill>
                  <a:srgbClr val="000000"/>
                </a:solidFill>
                <a:latin typeface="Times New Roman"/>
                <a:ea typeface="Times New Roman"/>
                <a:cs typeface="Times New Roman"/>
              </a:rPr>
              <a:t>I</a:t>
            </a:r>
            <a:r>
              <a:rPr sz="1200" b="0" i="0" u="none">
                <a:solidFill>
                  <a:srgbClr val="000000"/>
                </a:solidFill>
                <a:latin typeface="Times New Roman"/>
                <a:ea typeface="Times New Roman"/>
                <a:cs typeface="Times New Roman"/>
              </a:rPr>
              <a:t>d</a:t>
            </a:r>
            <a:r>
              <a:rPr sz="1200" b="0" i="0" u="none">
                <a:solidFill>
                  <a:srgbClr val="000000"/>
                </a:solidFill>
                <a:latin typeface="Times New Roman"/>
                <a:ea typeface="Times New Roman"/>
                <a:cs typeface="Times New Roman"/>
              </a:rPr>
              <a:t>2</a:t>
            </a:r>
            <a:endParaRPr lang="ja-JP" sz="1600"/>
          </a:p>
          <a:p>
            <a:pPr marL="0" indent="0">
              <a:buFont typeface="Arial"/>
              <a:buNone/>
              <a:defRPr/>
            </a:pPr>
            <a:r>
              <a:rPr lang="ja-JP" sz="1200" b="0" i="0" u="none" strike="noStrike" cap="none" spc="0">
                <a:solidFill>
                  <a:schemeClr val="bg2">
                    <a:lumMod val="25000"/>
                  </a:schemeClr>
                </a:solidFill>
                <a:latin typeface="ヒラギノ角ゴ ProN W6"/>
                <a:ea typeface="ヒラギノ角ゴ ProN W6"/>
                <a:cs typeface="ヒラギノ角ゴ ProN W6"/>
              </a:rPr>
              <a:t>これにより、Timefold は合法な候補の中から、より望ましい値を先に選びやすくなる。</a:t>
            </a:r>
            <a:endParaRPr lang="ja-JP" sz="1600"/>
          </a:p>
          <a:p>
            <a:pPr marL="0" indent="0">
              <a:buFont typeface="Arial"/>
              <a:buNone/>
              <a:defRPr/>
            </a:pPr>
            <a:endParaRPr lang="ja-JP"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620728" name="タイトル 1"/>
          <p:cNvSpPr>
            <a:spLocks noGrp="1"/>
          </p:cNvSpPr>
          <p:nvPr>
            <p:ph type="title"/>
          </p:nvPr>
        </p:nvSpPr>
        <p:spPr bwMode="auto"/>
        <p:txBody>
          <a:bodyPr/>
          <a:lstStyle/>
          <a:p>
            <a:pPr>
              <a:defRPr/>
            </a:pPr>
            <a:r>
              <a:rPr lang="ja-JP" sz="2400" b="0" i="0" u="none" strike="noStrike" cap="none" spc="0">
                <a:solidFill>
                  <a:schemeClr val="bg2">
                    <a:lumMod val="25000"/>
                  </a:schemeClr>
                </a:solidFill>
                <a:latin typeface="Avenir Next LT Pro Demi"/>
                <a:ea typeface="Avenir Next LT Pro Demi"/>
                <a:cs typeface="Avenir Next LT Pro Demi"/>
              </a:rPr>
              <a:t>1ステージ作業ブロック計画</a:t>
            </a:r>
            <a:endParaRPr lang="ja-JP"/>
          </a:p>
        </p:txBody>
      </p:sp>
      <p:sp>
        <p:nvSpPr>
          <p:cNvPr id="1451477111" name="フッター プレースホルダー 2"/>
          <p:cNvSpPr>
            <a:spLocks noGrp="1"/>
          </p:cNvSpPr>
          <p:nvPr>
            <p:ph type="ftr" sz="quarter" idx="11"/>
          </p:nvPr>
        </p:nvSpPr>
        <p:spPr bwMode="auto"/>
        <p:txBody>
          <a:bodyPr/>
          <a:lstStyle/>
          <a:p>
            <a:pPr>
              <a:defRPr/>
            </a:pPr>
            <a:endParaRPr lang="ja-JP"/>
          </a:p>
        </p:txBody>
      </p:sp>
      <p:sp>
        <p:nvSpPr>
          <p:cNvPr id="1434260587" name="スライド番号プレースホルダー 3"/>
          <p:cNvSpPr>
            <a:spLocks noGrp="1"/>
          </p:cNvSpPr>
          <p:nvPr>
            <p:ph type="sldNum" sz="quarter" idx="12"/>
          </p:nvPr>
        </p:nvSpPr>
        <p:spPr bwMode="auto"/>
        <p:txBody>
          <a:bodyPr/>
          <a:lstStyle/>
          <a:p>
            <a:pPr>
              <a:defRPr/>
            </a:pPr>
            <a:fld id="{B613D3B9-2EC1-C8EB-1439-593C2EB45AD9}" type="slidenum">
              <a:rPr lang="ja-JP"/>
              <a:t/>
            </a:fld>
            <a:endParaRPr lang="ja-JP"/>
          </a:p>
        </p:txBody>
      </p:sp>
      <p:sp>
        <p:nvSpPr>
          <p:cNvPr id="557407476" name="テキスト プレースホルダー 4"/>
          <p:cNvSpPr>
            <a:spLocks noGrp="1"/>
          </p:cNvSpPr>
          <p:nvPr>
            <p:ph type="body" sz="quarter" idx="16"/>
          </p:nvPr>
        </p:nvSpPr>
        <p:spPr bwMode="auto">
          <a:xfrm>
            <a:off x="513531" y="908365"/>
            <a:ext cx="11158111" cy="5359083"/>
          </a:xfrm>
        </p:spPr>
        <p:txBody>
          <a:bodyPr vertOverflow="overflow" horzOverflow="overflow" vert="horz" wrap="square" lIns="91440" tIns="45720" rIns="91440" bIns="45720" numCol="1" spcCol="0" rtlCol="0" fromWordArt="0" anchor="t" anchorCtr="0" forceAA="0" upright="0" compatLnSpc="0">
            <a:normAutofit/>
          </a:bodyPr>
          <a:lstStyle/>
          <a:p>
            <a:pPr>
              <a:defRPr/>
            </a:pPr>
            <a:r>
              <a:rPr lang="ja-JP" sz="1600" b="0" i="0" u="none" strike="noStrike" cap="none" spc="0">
                <a:solidFill>
                  <a:schemeClr val="bg2">
                    <a:lumMod val="25000"/>
                  </a:schemeClr>
                </a:solidFill>
                <a:latin typeface="ヒラギノ角ゴ ProN W6"/>
                <a:ea typeface="ヒラギノ角ゴ ProN W6"/>
                <a:cs typeface="ヒラギノ角ゴ ProN W6"/>
              </a:rPr>
              <a:t>比較結果</a:t>
            </a:r>
            <a:endParaRPr lang="ja-JP"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比較項目	2ステージ方式	1ステージ方式</a:t>
            </a:r>
            <a:endParaRPr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計算時間	複数回の最適化が必要	単一探索で短縮</a:t>
            </a:r>
            <a:endParaRPr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Hard score	後段依存の条件を前段で扱いにくい	割当込みで同時評価可能</a:t>
            </a:r>
            <a:endParaRPr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Soft score	全体調整がしにくい	計画と割当を合わせて調整可能</a:t>
            </a:r>
            <a:endParaRPr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割当可能性	近似的に評価	直接評価可能</a:t>
            </a:r>
            <a:endParaRPr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残業条件	前段で反映しにくい	計画時点で評価可能</a:t>
            </a:r>
            <a:endParaRPr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滞在・移動条件	前段で反映しにくい	計画時点で評価可能</a:t>
            </a:r>
            <a:endParaRPr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endParaRPr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比較結果の要点</a:t>
            </a:r>
            <a:endParaRPr sz="1600" b="0" i="0" u="none" strike="noStrike" cap="none" spc="0">
              <a:solidFill>
                <a:schemeClr val="bg2">
                  <a:lumMod val="25000"/>
                </a:schemeClr>
              </a:solidFill>
              <a:latin typeface="ヒラギノ角ゴ ProN W6"/>
              <a:cs typeface="ヒラギノ角ゴ ProN W6"/>
            </a:endParaRPr>
          </a:p>
          <a:p>
            <a:pPr marL="0" indent="0">
              <a:buFont typeface="Wingdings"/>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1ステージ方式では、計画と割当を同時に扱うことで、2ステージ方式で扱いにくかった条件を直接評価できるようになった。</a:t>
            </a:r>
            <a:endParaRPr lang="ja-JP" sz="1600" b="0" i="0" u="none" strike="noStrike" cap="none" spc="0">
              <a:solidFill>
                <a:schemeClr val="bg2">
                  <a:lumMod val="25000"/>
                </a:schemeClr>
              </a:solidFill>
              <a:latin typeface="ヒラギノ角ゴ ProN W6"/>
              <a:cs typeface="ヒラギノ角ゴ ProN W6"/>
            </a:endParaRPr>
          </a:p>
          <a:p>
            <a:pPr marL="0" indent="0">
              <a:buFont typeface="Arial"/>
              <a:buNone/>
              <a:defRPr/>
            </a:pPr>
            <a:r>
              <a:rPr lang="ja-JP" sz="1600" b="0" i="0" u="none" strike="noStrike" cap="none" spc="0">
                <a:solidFill>
                  <a:schemeClr val="bg2">
                    <a:lumMod val="25000"/>
                  </a:schemeClr>
                </a:solidFill>
                <a:latin typeface="ヒラギノ角ゴ ProN W6"/>
                <a:ea typeface="ヒラギノ角ゴ ProN W6"/>
                <a:cs typeface="ヒラギノ角ゴ ProN W6"/>
              </a:rPr>
              <a:t>その結果、実行時間、割当精度、制約反映の面で改善しやすい構成となった。</a:t>
            </a:r>
            <a:endParaRPr lang="ja-JP" sz="1600"/>
          </a:p>
          <a:p>
            <a:pPr marL="0" indent="0">
              <a:buFont typeface="Arial"/>
              <a:buNone/>
              <a:defRPr/>
            </a:pPr>
            <a:endParaRPr lang="ja-JP"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013796" name="タイトル 1"/>
          <p:cNvSpPr>
            <a:spLocks noGrp="1"/>
          </p:cNvSpPr>
          <p:nvPr>
            <p:ph type="title"/>
          </p:nvPr>
        </p:nvSpPr>
        <p:spPr bwMode="auto"/>
        <p:txBody>
          <a:bodyPr/>
          <a:lstStyle/>
          <a:p>
            <a:pPr>
              <a:defRPr/>
            </a:pPr>
            <a:r>
              <a:rPr lang="ja-JP"/>
              <a:t>作業ブロックでの</a:t>
            </a:r>
            <a:r>
              <a:rPr lang="en-US"/>
              <a:t>2</a:t>
            </a:r>
            <a:r>
              <a:rPr lang="ja-JP"/>
              <a:t>ステージ最適化</a:t>
            </a:r>
            <a:endParaRPr lang="ja-JP"/>
          </a:p>
        </p:txBody>
      </p:sp>
      <p:sp>
        <p:nvSpPr>
          <p:cNvPr id="199965198" name="フッター プレースホルダー 2"/>
          <p:cNvSpPr>
            <a:spLocks noGrp="1"/>
          </p:cNvSpPr>
          <p:nvPr>
            <p:ph type="ftr" sz="quarter" idx="11"/>
          </p:nvPr>
        </p:nvSpPr>
        <p:spPr bwMode="auto"/>
        <p:txBody>
          <a:bodyPr/>
          <a:lstStyle/>
          <a:p>
            <a:pPr>
              <a:defRPr/>
            </a:pPr>
            <a:endParaRPr lang="ja-JP"/>
          </a:p>
        </p:txBody>
      </p:sp>
      <p:sp>
        <p:nvSpPr>
          <p:cNvPr id="1011425013" name="スライド番号プレースホルダー 3"/>
          <p:cNvSpPr>
            <a:spLocks noGrp="1"/>
          </p:cNvSpPr>
          <p:nvPr>
            <p:ph type="sldNum" sz="quarter" idx="12"/>
          </p:nvPr>
        </p:nvSpPr>
        <p:spPr bwMode="auto"/>
        <p:txBody>
          <a:bodyPr/>
          <a:lstStyle/>
          <a:p>
            <a:pPr>
              <a:defRPr/>
            </a:pPr>
            <a:fld id="{1BFAB33E-743E-48E7-D1B4-DEAAC8B2D414}" type="slidenum">
              <a:rPr lang="ja-JP"/>
              <a:t/>
            </a:fld>
            <a:endParaRPr lang="ja-JP"/>
          </a:p>
        </p:txBody>
      </p:sp>
      <p:sp>
        <p:nvSpPr>
          <p:cNvPr id="2062665663" name="テキスト プレースホルダー 4"/>
          <p:cNvSpPr txBox="1"/>
          <p:nvPr/>
        </p:nvSpPr>
        <p:spPr bwMode="auto">
          <a:xfrm>
            <a:off x="516943" y="3010215"/>
            <a:ext cx="11158111" cy="2590483"/>
          </a:xfrm>
          <a:prstGeom prst="rect">
            <a:avLst/>
          </a:prstGeom>
        </p:spPr>
        <p:txBody>
          <a:bodyPr vert="horz" lIns="91440" tIns="45720" rIns="91440" bIns="45720" rtlCol="0">
            <a:normAutofit/>
          </a:bodyPr>
          <a:lstStyle>
            <a:lvl1pPr marL="228600" indent="-228600" algn="l" defTabSz="914400">
              <a:lnSpc>
                <a:spcPct val="100000"/>
              </a:lnSpc>
              <a:spcBef>
                <a:spcPts val="0"/>
              </a:spcBef>
              <a:spcAft>
                <a:spcPts val="599"/>
              </a:spcAft>
              <a:buFont typeface="Wingdings"/>
              <a:buChar char="l"/>
              <a:defRPr sz="2000">
                <a:solidFill>
                  <a:schemeClr val="bg2">
                    <a:lumMod val="25000"/>
                  </a:schemeClr>
                </a:solidFill>
                <a:latin typeface="+mj-ea"/>
                <a:ea typeface="+mj-ea"/>
                <a:cs typeface="+mn-cs"/>
              </a:defRPr>
            </a:lvl1pPr>
            <a:lvl2pPr marL="540000" indent="-288000" algn="l" defTabSz="914400">
              <a:lnSpc>
                <a:spcPct val="100000"/>
              </a:lnSpc>
              <a:spcBef>
                <a:spcPts val="0"/>
              </a:spcBef>
              <a:spcAft>
                <a:spcPts val="599"/>
              </a:spcAft>
              <a:buClrTx/>
              <a:buFont typeface="ヒラギノ角ゴ ProN W3"/>
              <a:buChar char="―"/>
              <a:defRPr sz="1800">
                <a:solidFill>
                  <a:schemeClr val="bg2">
                    <a:lumMod val="25000"/>
                  </a:schemeClr>
                </a:solidFill>
                <a:latin typeface="ヒラギノ角ゴ ProN W3"/>
                <a:ea typeface="ヒラギノ角ゴ ProN W3"/>
                <a:cs typeface="+mn-cs"/>
              </a:defRPr>
            </a:lvl2pPr>
            <a:lvl3pPr marL="792000" indent="-180000" algn="l" defTabSz="914400">
              <a:lnSpc>
                <a:spcPct val="100000"/>
              </a:lnSpc>
              <a:spcBef>
                <a:spcPts val="0"/>
              </a:spcBef>
              <a:spcAft>
                <a:spcPts val="599"/>
              </a:spcAft>
              <a:buFont typeface="Arial"/>
              <a:buChar char="•"/>
              <a:defRPr sz="1800">
                <a:solidFill>
                  <a:schemeClr val="bg2">
                    <a:lumMod val="25000"/>
                  </a:schemeClr>
                </a:solidFill>
                <a:latin typeface="ヒラギノ角ゴ ProN W3"/>
                <a:ea typeface="ヒラギノ角ゴ ProN W3"/>
                <a:cs typeface="+mn-cs"/>
              </a:defRPr>
            </a:lvl3pPr>
            <a:lvl4pPr marL="1044000" indent="-180000" algn="l" defTabSz="914400">
              <a:lnSpc>
                <a:spcPct val="100000"/>
              </a:lnSpc>
              <a:spcBef>
                <a:spcPts val="0"/>
              </a:spcBef>
              <a:spcAft>
                <a:spcPts val="599"/>
              </a:spcAft>
              <a:buFont typeface="Arial"/>
              <a:buChar char="•"/>
              <a:defRPr sz="1800">
                <a:solidFill>
                  <a:schemeClr val="bg2">
                    <a:lumMod val="25000"/>
                  </a:schemeClr>
                </a:solidFill>
                <a:latin typeface="ヒラギノ角ゴ ProN W3"/>
                <a:ea typeface="ヒラギノ角ゴ ProN W3"/>
                <a:cs typeface="+mn-cs"/>
              </a:defRPr>
            </a:lvl4pPr>
            <a:lvl5pPr marL="1332000" indent="-180000" algn="l" defTabSz="914400">
              <a:lnSpc>
                <a:spcPct val="100000"/>
              </a:lnSpc>
              <a:spcBef>
                <a:spcPts val="0"/>
              </a:spcBef>
              <a:spcAft>
                <a:spcPts val="599"/>
              </a:spcAft>
              <a:buFont typeface="Arial"/>
              <a:buChar char="•"/>
              <a:defRPr sz="1800">
                <a:solidFill>
                  <a:schemeClr val="bg2">
                    <a:lumMod val="50000"/>
                  </a:schemeClr>
                </a:solidFill>
                <a:latin typeface="Avenir Next LT Pro"/>
                <a:ea typeface="ヒラギノ角ゴ ProN W3"/>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a:defRPr/>
            </a:pPr>
            <a:r>
              <a:rPr lang="ja-JP"/>
              <a:t>改善方針</a:t>
            </a:r>
            <a:endParaRPr lang="en-US"/>
          </a:p>
          <a:p>
            <a:pPr marL="0" indent="0">
              <a:buFont typeface="Wingdings"/>
              <a:buNone/>
              <a:defRPr/>
            </a:pPr>
            <a:r>
              <a:rPr lang="ja-JP" sz="1800" b="0" i="0" u="none" strike="noStrike" cap="none" spc="0">
                <a:solidFill>
                  <a:schemeClr val="bg2">
                    <a:lumMod val="25000"/>
                  </a:schemeClr>
                </a:solidFill>
                <a:latin typeface="ヒラギノ角ゴ ProN W6"/>
                <a:ea typeface="ヒラギノ角ゴ ProN W6"/>
                <a:cs typeface="ヒラギノ角ゴ ProN W6"/>
              </a:rPr>
              <a:t>検証用データを用いた確認により、1ステージ方式でも各制約が意図した通りに機能し、計画と割当を一体で扱った場合でも一定の満足できる計画結果が得られることを確認した。これにより、基本的なモデル構成と制約設計の妥当性が確認できたため、次の段階では実データ計画への適用を進め、実際の運用条件やデータ特性に合わせた制約調整とモデル改善を行うことで、より実用的な計画方式へ発展させる。</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テーマ">
  <a:themeElements>
    <a:clrScheme name="SCREEN">
      <a:dk1>
        <a:srgbClr val="262626"/>
      </a:dk1>
      <a:lt1>
        <a:srgbClr val="FFFFFF"/>
      </a:lt1>
      <a:dk2>
        <a:srgbClr val="06457E"/>
      </a:dk2>
      <a:lt2>
        <a:srgbClr val="CCCCCC"/>
      </a:lt2>
      <a:accent1>
        <a:srgbClr val="095CA8"/>
      </a:accent1>
      <a:accent2>
        <a:srgbClr val="0099DA"/>
      </a:accent2>
      <a:accent3>
        <a:srgbClr val="EE9D19"/>
      </a:accent3>
      <a:accent4>
        <a:srgbClr val="7BAA17"/>
      </a:accent4>
      <a:accent5>
        <a:srgbClr val="A663B1"/>
      </a:accent5>
      <a:accent6>
        <a:srgbClr val="FF5050"/>
      </a:accent6>
      <a:hlink>
        <a:srgbClr val="00B0F0"/>
      </a:hlink>
      <a:folHlink>
        <a:srgbClr val="06457E"/>
      </a:folHlink>
    </a:clrScheme>
    <a:fontScheme name="SCREEN標準">
      <a:majorFont>
        <a:latin typeface="Avenir Next LT Pro Demi"/>
        <a:ea typeface="ヒラギノ角ゴ ProN W6"/>
        <a:cs typeface="Arial"/>
      </a:majorFont>
      <a:minorFont>
        <a:latin typeface="Avenir Next LT Pro"/>
        <a:ea typeface="ヒラギノ角ゴ ProN W6"/>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Arial"/>
        <a:cs typeface="Arial"/>
      </a:majorFont>
      <a:minorFont>
        <a:latin typeface="游ゴシック"/>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50CA462766AC884B9B9C6320819173E0" ma:contentTypeVersion="4" ma:contentTypeDescription="新しいドキュメントを作成します。" ma:contentTypeScope="" ma:versionID="3e39cc8b265e9b3d20c1b3f4964d7cf8">
  <xsd:schema xmlns:xsd="http://www.w3.org/2001/XMLSchema" xmlns:xs="http://www.w3.org/2001/XMLSchema" xmlns:p="http://schemas.microsoft.com/office/2006/metadata/properties" xmlns:ns2="d8474445-1fbc-4080-9220-d336ae930e1d" targetNamespace="http://schemas.microsoft.com/office/2006/metadata/properties" ma:root="true" ma:fieldsID="6384a323899c5070be8805008e96ace8" ns2:_="">
    <xsd:import namespace="d8474445-1fbc-4080-9220-d336ae930e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474445-1fbc-4080-9220-d336ae930e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A365C7-38A3-496D-95E4-700ADD7E395B}">
  <ds:schemaRefs>
    <ds:schemaRef ds:uri="http://schemas.microsoft.com/sharepoint/v3/contenttype/forms"/>
  </ds:schemaRefs>
</ds:datastoreItem>
</file>

<file path=customXml/itemProps2.xml><?xml version="1.0" encoding="utf-8"?>
<ds:datastoreItem xmlns:ds="http://schemas.openxmlformats.org/officeDocument/2006/customXml" ds:itemID="{022052C7-04F5-4279-870E-05E7B2EFB76C}">
  <ds:schemaRefs>
    <ds:schemaRef ds:uri="d8474445-1fbc-4080-9220-d336ae930e1d"/>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4C60037C-8D31-45B0-BD53-685C93CFE2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474445-1fbc-4080-9220-d336ae930e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0</Words>
  <Application>ONLYOFFICE/8.3.3.21</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AIQプロジェクト月次報告  AI and Quantum-computing Project</dc:title>
  <cp:lastModifiedBy/>
  <cp:revision>192</cp:revision>
  <dcterms:created xsi:type="dcterms:W3CDTF">2024-04-16T08:23:37Z</dcterms:created>
  <dcterms:modified xsi:type="dcterms:W3CDTF">2026-03-27T06:30:54Z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0x01010050CA462766AC884B9B9C6320819173E0</vt:lpwstr>
  </property>
</Properties>
</file>