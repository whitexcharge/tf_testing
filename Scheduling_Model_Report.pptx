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4.png"/><Relationship Id="rId5" Type="http://schemas.openxmlformats.org/officeDocument/2006/relationships/image" Target="../media/image-10-5.svg"/><Relationship Id="rId6" Type="http://schemas.openxmlformats.org/officeDocument/2006/relationships/image" Target="../media/image-10-6.png"/><Relationship Id="rId7" Type="http://schemas.openxmlformats.org/officeDocument/2006/relationships/image" Target="../media/image-10-7.svg"/><Relationship Id="rId8" Type="http://schemas.openxmlformats.org/officeDocument/2006/relationships/image" Target="../media/image-10-8.png"/><Relationship Id="rId9" Type="http://schemas.openxmlformats.org/officeDocument/2006/relationships/image" Target="../media/image-10-9.svg"/><Relationship Id="rId10" Type="http://schemas.openxmlformats.org/officeDocument/2006/relationships/image" Target="../media/image-10-10.png"/><Relationship Id="rId11" Type="http://schemas.openxmlformats.org/officeDocument/2006/relationships/image" Target="../media/image-10-11.svg"/><Relationship Id="rId12" Type="http://schemas.openxmlformats.org/officeDocument/2006/relationships/slideLayout" Target="../slideLayouts/slideLayout1.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svg"/><Relationship Id="rId4" Type="http://schemas.openxmlformats.org/officeDocument/2006/relationships/image" Target="../media/image-12-4.png"/><Relationship Id="rId5" Type="http://schemas.openxmlformats.org/officeDocument/2006/relationships/image" Target="../media/image-12-5.svg"/><Relationship Id="rId6" Type="http://schemas.openxmlformats.org/officeDocument/2006/relationships/image" Target="../media/image-12-6.png"/><Relationship Id="rId7" Type="http://schemas.openxmlformats.org/officeDocument/2006/relationships/image" Target="../media/image-12-7.sv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sv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sv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sv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sv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sv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sv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sv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sv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svg"/><Relationship Id="rId4" Type="http://schemas.openxmlformats.org/officeDocument/2006/relationships/image" Target="../media/image-22-4.png"/><Relationship Id="rId5" Type="http://schemas.openxmlformats.org/officeDocument/2006/relationships/image" Target="../media/image-22-5.sv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sv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svg"/><Relationship Id="rId4" Type="http://schemas.openxmlformats.org/officeDocument/2006/relationships/image" Target="../media/image-25-4.png"/><Relationship Id="rId5" Type="http://schemas.openxmlformats.org/officeDocument/2006/relationships/image" Target="../media/image-25-5.sv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sv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svg"/><Relationship Id="rId4" Type="http://schemas.openxmlformats.org/officeDocument/2006/relationships/image" Target="../media/image-27-4.png"/><Relationship Id="rId5" Type="http://schemas.openxmlformats.org/officeDocument/2006/relationships/image" Target="../media/image-27-5.svg"/><Relationship Id="rId6" Type="http://schemas.openxmlformats.org/officeDocument/2006/relationships/image" Target="../media/image-27-6.png"/><Relationship Id="rId7" Type="http://schemas.openxmlformats.org/officeDocument/2006/relationships/image" Target="../media/image-27-7.svg"/><Relationship Id="rId8" Type="http://schemas.openxmlformats.org/officeDocument/2006/relationships/slideLayout" Target="../slideLayouts/slideLayout1.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svg"/><Relationship Id="rId4" Type="http://schemas.openxmlformats.org/officeDocument/2006/relationships/image" Target="../media/image-28-4.png"/><Relationship Id="rId5" Type="http://schemas.openxmlformats.org/officeDocument/2006/relationships/image" Target="../media/image-28-5.sv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svg"/><Relationship Id="rId4" Type="http://schemas.openxmlformats.org/officeDocument/2006/relationships/image" Target="../media/image-29-4.png"/><Relationship Id="rId5" Type="http://schemas.openxmlformats.org/officeDocument/2006/relationships/image" Target="../media/image-29-5.sv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sv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svg"/><Relationship Id="rId4" Type="http://schemas.openxmlformats.org/officeDocument/2006/relationships/image" Target="../media/image-31-4.png"/><Relationship Id="rId5" Type="http://schemas.openxmlformats.org/officeDocument/2006/relationships/image" Target="../media/image-31-5.svg"/><Relationship Id="rId6" Type="http://schemas.openxmlformats.org/officeDocument/2006/relationships/image" Target="../media/image-31-6.png"/><Relationship Id="rId7" Type="http://schemas.openxmlformats.org/officeDocument/2006/relationships/image" Target="../media/image-31-7.svg"/><Relationship Id="rId8" Type="http://schemas.openxmlformats.org/officeDocument/2006/relationships/image" Target="../media/image-31-8.png"/><Relationship Id="rId9" Type="http://schemas.openxmlformats.org/officeDocument/2006/relationships/image" Target="../media/image-31-9.svg"/><Relationship Id="rId10" Type="http://schemas.openxmlformats.org/officeDocument/2006/relationships/image" Target="../media/image-31-10.png"/><Relationship Id="rId11" Type="http://schemas.openxmlformats.org/officeDocument/2006/relationships/image" Target="../media/image-31-11.svg"/><Relationship Id="rId12" Type="http://schemas.openxmlformats.org/officeDocument/2006/relationships/slideLayout" Target="../slideLayouts/slideLayout1.xml"/><Relationship Id="rId1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svg"/><Relationship Id="rId4" Type="http://schemas.openxmlformats.org/officeDocument/2006/relationships/image" Target="../media/image-32-4.png"/><Relationship Id="rId5" Type="http://schemas.openxmlformats.org/officeDocument/2006/relationships/image" Target="../media/image-32-5.svg"/><Relationship Id="rId6" Type="http://schemas.openxmlformats.org/officeDocument/2006/relationships/image" Target="../media/image-32-6.png"/><Relationship Id="rId7" Type="http://schemas.openxmlformats.org/officeDocument/2006/relationships/image" Target="../media/image-32-7.svg"/><Relationship Id="rId8" Type="http://schemas.openxmlformats.org/officeDocument/2006/relationships/image" Target="../media/image-32-8.png"/><Relationship Id="rId9" Type="http://schemas.openxmlformats.org/officeDocument/2006/relationships/image" Target="../media/image-32-9.svg"/><Relationship Id="rId10" Type="http://schemas.openxmlformats.org/officeDocument/2006/relationships/image" Target="../media/image-32-10.png"/><Relationship Id="rId11" Type="http://schemas.openxmlformats.org/officeDocument/2006/relationships/image" Target="../media/image-32-11.svg"/><Relationship Id="rId12" Type="http://schemas.openxmlformats.org/officeDocument/2006/relationships/slideLayout" Target="../slideLayouts/slideLayout1.xml"/><Relationship Id="rId1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sv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svg"/><Relationship Id="rId4" Type="http://schemas.openxmlformats.org/officeDocument/2006/relationships/slideLayout" Target="../slideLayouts/slideLayout1.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svg"/><Relationship Id="rId4" Type="http://schemas.openxmlformats.org/officeDocument/2006/relationships/image" Target="../media/image-35-4.png"/><Relationship Id="rId5" Type="http://schemas.openxmlformats.org/officeDocument/2006/relationships/image" Target="../media/image-35-5.svg"/><Relationship Id="rId6" Type="http://schemas.openxmlformats.org/officeDocument/2006/relationships/image" Target="../media/image-35-6.png"/><Relationship Id="rId7" Type="http://schemas.openxmlformats.org/officeDocument/2006/relationships/image" Target="../media/image-35-7.svg"/><Relationship Id="rId8" Type="http://schemas.openxmlformats.org/officeDocument/2006/relationships/image" Target="../media/image-35-8.png"/><Relationship Id="rId9" Type="http://schemas.openxmlformats.org/officeDocument/2006/relationships/image" Target="../media/image-35-9.svg"/><Relationship Id="rId10" Type="http://schemas.openxmlformats.org/officeDocument/2006/relationships/slideLayout" Target="../slideLayouts/slideLayout1.xml"/><Relationship Id="rId11"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sv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svg"/><Relationship Id="rId4" Type="http://schemas.openxmlformats.org/officeDocument/2006/relationships/slideLayout" Target="../slideLayouts/slideLayout1.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svg"/><Relationship Id="rId4" Type="http://schemas.openxmlformats.org/officeDocument/2006/relationships/image" Target="../media/image-38-4.png"/><Relationship Id="rId5" Type="http://schemas.openxmlformats.org/officeDocument/2006/relationships/image" Target="../media/image-38-5.sv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sv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svg"/><Relationship Id="rId4" Type="http://schemas.openxmlformats.org/officeDocument/2006/relationships/image" Target="../media/image-40-4.png"/><Relationship Id="rId5" Type="http://schemas.openxmlformats.org/officeDocument/2006/relationships/image" Target="../media/image-40-5.svg"/><Relationship Id="rId6" Type="http://schemas.openxmlformats.org/officeDocument/2006/relationships/image" Target="../media/image-40-6.png"/><Relationship Id="rId7" Type="http://schemas.openxmlformats.org/officeDocument/2006/relationships/image" Target="../media/image-40-7.svg"/><Relationship Id="rId8" Type="http://schemas.openxmlformats.org/officeDocument/2006/relationships/image" Target="../media/image-40-8.png"/><Relationship Id="rId9" Type="http://schemas.openxmlformats.org/officeDocument/2006/relationships/image" Target="../media/image-40-9.svg"/><Relationship Id="rId10" Type="http://schemas.openxmlformats.org/officeDocument/2006/relationships/slideLayout" Target="../slideLayouts/slideLayout1.xml"/><Relationship Id="rId11"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svg"/><Relationship Id="rId4" Type="http://schemas.openxmlformats.org/officeDocument/2006/relationships/image" Target="../media/image-41-4.png"/><Relationship Id="rId5" Type="http://schemas.openxmlformats.org/officeDocument/2006/relationships/image" Target="../media/image-41-5.svg"/><Relationship Id="rId6" Type="http://schemas.openxmlformats.org/officeDocument/2006/relationships/image" Target="../media/image-41-6.png"/><Relationship Id="rId7" Type="http://schemas.openxmlformats.org/officeDocument/2006/relationships/image" Target="../media/image-41-7.svg"/><Relationship Id="rId8" Type="http://schemas.openxmlformats.org/officeDocument/2006/relationships/slideLayout" Target="../slideLayouts/slideLayout1.xml"/><Relationship Id="rId9"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svg"/><Relationship Id="rId4" Type="http://schemas.openxmlformats.org/officeDocument/2006/relationships/slideLayout" Target="../slideLayouts/slideLayout1.xml"/><Relationship Id="rId5"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1</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AI and Quantum-computing Project</a:t>
            </a:r>
            <a:endParaRPr lang="en-US" sz="2200" dirty="0"/>
          </a:p>
        </p:txBody>
      </p:sp>
      <p:sp>
        <p:nvSpPr>
          <p:cNvPr id="6" name="Text 3"/>
          <p:cNvSpPr/>
          <p:nvPr/>
        </p:nvSpPr>
        <p:spPr>
          <a:xfrm>
            <a:off x="731520" y="1234440"/>
            <a:ext cx="6583680" cy="548640"/>
          </a:xfrm>
          <a:prstGeom prst="rect">
            <a:avLst/>
          </a:prstGeom>
          <a:noFill/>
          <a:ln/>
        </p:spPr>
        <p:txBody>
          <a:bodyPr wrap="square" lIns="0" tIns="0" rIns="0" bIns="0" rtlCol="0" anchor="ctr"/>
          <a:lstStyle/>
          <a:p>
            <a:pPr indent="0" marL="0">
              <a:buNone/>
            </a:pPr>
            <a:r>
              <a:rPr lang="en-US" sz="2800" b="1" dirty="0">
                <a:solidFill>
                  <a:srgbClr val="1F1F1F"/>
                </a:solidFill>
                <a:latin typeface="Arial" pitchFamily="34" charset="0"/>
                <a:ea typeface="Arial" pitchFamily="34" charset="-122"/>
                <a:cs typeface="Arial" pitchFamily="34" charset="-120"/>
              </a:rPr>
              <a:t>スケジューリングモデル定式化</a:t>
            </a:r>
            <a:endParaRPr lang="en-US" sz="2800" dirty="0"/>
          </a:p>
        </p:txBody>
      </p:sp>
      <p:sp>
        <p:nvSpPr>
          <p:cNvPr id="7" name="Text 4"/>
          <p:cNvSpPr/>
          <p:nvPr/>
        </p:nvSpPr>
        <p:spPr>
          <a:xfrm>
            <a:off x="731520" y="1874520"/>
            <a:ext cx="6217920" cy="320040"/>
          </a:xfrm>
          <a:prstGeom prst="rect">
            <a:avLst/>
          </a:prstGeom>
          <a:noFill/>
          <a:ln/>
        </p:spPr>
        <p:txBody>
          <a:bodyPr wrap="square" lIns="0" tIns="0" rIns="0" bIns="0" rtlCol="0" anchor="ctr"/>
          <a:lstStyle/>
          <a:p>
            <a:pPr indent="0" marL="0">
              <a:buNone/>
            </a:pPr>
            <a:r>
              <a:rPr lang="en-US" sz="1800" dirty="0">
                <a:solidFill>
                  <a:srgbClr val="404040"/>
                </a:solidFill>
                <a:latin typeface="Arial" pitchFamily="34" charset="0"/>
                <a:ea typeface="Arial" pitchFamily="34" charset="-122"/>
                <a:cs typeface="Arial" pitchFamily="34" charset="-120"/>
              </a:rPr>
              <a:t>対象要件・モデル化・制約の定式化</a:t>
            </a:r>
            <a:endParaRPr lang="en-US" sz="1800" dirty="0"/>
          </a:p>
        </p:txBody>
      </p:sp>
      <p:sp>
        <p:nvSpPr>
          <p:cNvPr id="8" name="Text 5"/>
          <p:cNvSpPr/>
          <p:nvPr/>
        </p:nvSpPr>
        <p:spPr>
          <a:xfrm>
            <a:off x="731520" y="5669280"/>
            <a:ext cx="5669280" cy="201168"/>
          </a:xfrm>
          <a:prstGeom prst="rect">
            <a:avLst/>
          </a:prstGeom>
          <a:noFill/>
          <a:ln/>
        </p:spPr>
        <p:txBody>
          <a:bodyPr wrap="square" lIns="0" tIns="0" rIns="0" bIns="0" rtlCol="0" anchor="ctr"/>
          <a:lstStyle/>
          <a:p>
            <a:pPr indent="0" marL="0">
              <a:buNone/>
            </a:pPr>
            <a:r>
              <a:rPr lang="en-US" sz="1000" i="1" dirty="0">
                <a:solidFill>
                  <a:srgbClr val="7A7A7A"/>
                </a:solidFill>
                <a:latin typeface="Arial" pitchFamily="34" charset="0"/>
                <a:ea typeface="Arial" pitchFamily="34" charset="-122"/>
                <a:cs typeface="Arial" pitchFamily="34" charset="-120"/>
              </a:rPr>
              <a:t>Source: user-provided Markdown and PowerPoint template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2</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対象要件：絶対制約 (1/2)</a:t>
            </a:r>
            <a:endParaRPr lang="en-US" sz="2200" dirty="0"/>
          </a:p>
        </p:txBody>
      </p:sp>
      <p:sp>
        <p:nvSpPr>
          <p:cNvPr id="6" name="Text 3"/>
          <p:cNvSpPr/>
          <p:nvPr/>
        </p:nvSpPr>
        <p:spPr>
          <a:xfrm>
            <a:off x="713232" y="868680"/>
            <a:ext cx="10789920" cy="219456"/>
          </a:xfrm>
          <a:prstGeom prst="rect">
            <a:avLst/>
          </a:prstGeom>
          <a:noFill/>
          <a:ln/>
        </p:spPr>
        <p:txBody>
          <a:bodyPr wrap="square" lIns="0" tIns="0" rIns="0" bIns="0" rtlCol="0" anchor="ctr"/>
          <a:lstStyle/>
          <a:p>
            <a:pPr indent="0" marL="0">
              <a:buNone/>
            </a:pPr>
            <a:r>
              <a:rPr lang="en-US" sz="1100" dirty="0">
                <a:solidFill>
                  <a:srgbClr val="666666"/>
                </a:solidFill>
              </a:rPr>
              <a:t>スケジュールが必ず満たす必要がある条件</a:t>
            </a:r>
            <a:endParaRPr lang="en-US" sz="1100" dirty="0"/>
          </a:p>
        </p:txBody>
      </p:sp>
      <p:pic>
        <p:nvPicPr>
          <p:cNvPr id="7" name="Image 1" descr="/mnt/data/slide_work/abs1.png">    </p:cNvPr>
          <p:cNvPicPr>
            <a:picLocks noChangeAspect="1"/>
          </p:cNvPicPr>
          <p:nvPr/>
        </p:nvPicPr>
        <p:blipFill>
          <a:blip r:embed="rId2"/>
          <a:stretch>
            <a:fillRect/>
          </a:stretch>
        </p:blipFill>
        <p:spPr>
          <a:xfrm>
            <a:off x="749808" y="1170432"/>
            <a:ext cx="10058400" cy="44805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3</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対象要件：絶対制約 (2/2)</a:t>
            </a:r>
            <a:endParaRPr lang="en-US" sz="2200" dirty="0"/>
          </a:p>
        </p:txBody>
      </p:sp>
      <p:sp>
        <p:nvSpPr>
          <p:cNvPr id="6" name="Text 3"/>
          <p:cNvSpPr/>
          <p:nvPr/>
        </p:nvSpPr>
        <p:spPr>
          <a:xfrm>
            <a:off x="713232" y="868680"/>
            <a:ext cx="10789920" cy="219456"/>
          </a:xfrm>
          <a:prstGeom prst="rect">
            <a:avLst/>
          </a:prstGeom>
          <a:noFill/>
          <a:ln/>
        </p:spPr>
        <p:txBody>
          <a:bodyPr wrap="square" lIns="0" tIns="0" rIns="0" bIns="0" rtlCol="0" anchor="ctr"/>
          <a:lstStyle/>
          <a:p>
            <a:pPr indent="0" marL="0">
              <a:buNone/>
            </a:pPr>
            <a:r>
              <a:rPr lang="en-US" sz="1100" dirty="0">
                <a:solidFill>
                  <a:srgbClr val="666666"/>
                </a:solidFill>
              </a:rPr>
              <a:t>スケジュールが必ず満たす必要がある条件</a:t>
            </a:r>
            <a:endParaRPr lang="en-US" sz="1100" dirty="0"/>
          </a:p>
        </p:txBody>
      </p:sp>
      <p:pic>
        <p:nvPicPr>
          <p:cNvPr id="7" name="Image 1" descr="/mnt/data/slide_work/abs2.png">    </p:cNvPr>
          <p:cNvPicPr>
            <a:picLocks noChangeAspect="1"/>
          </p:cNvPicPr>
          <p:nvPr/>
        </p:nvPicPr>
        <p:blipFill>
          <a:blip r:embed="rId2"/>
          <a:stretch>
            <a:fillRect/>
          </a:stretch>
        </p:blipFill>
        <p:spPr>
          <a:xfrm>
            <a:off x="749808" y="1170432"/>
            <a:ext cx="10058400" cy="44805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4</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対象要件：考慮制約</a:t>
            </a:r>
            <a:endParaRPr lang="en-US" sz="2200" dirty="0"/>
          </a:p>
        </p:txBody>
      </p:sp>
      <p:sp>
        <p:nvSpPr>
          <p:cNvPr id="6" name="Text 3"/>
          <p:cNvSpPr/>
          <p:nvPr/>
        </p:nvSpPr>
        <p:spPr>
          <a:xfrm>
            <a:off x="713232" y="868680"/>
            <a:ext cx="10789920" cy="219456"/>
          </a:xfrm>
          <a:prstGeom prst="rect">
            <a:avLst/>
          </a:prstGeom>
          <a:noFill/>
          <a:ln/>
        </p:spPr>
        <p:txBody>
          <a:bodyPr wrap="square" lIns="0" tIns="0" rIns="0" bIns="0" rtlCol="0" anchor="ctr"/>
          <a:lstStyle/>
          <a:p>
            <a:pPr indent="0" marL="0">
              <a:buNone/>
            </a:pPr>
            <a:r>
              <a:rPr lang="en-US" sz="1100" dirty="0">
                <a:solidFill>
                  <a:srgbClr val="666666"/>
                </a:solidFill>
              </a:rPr>
              <a:t>最適化時に優先度付きで考慮する条件</a:t>
            </a:r>
            <a:endParaRPr lang="en-US" sz="1100" dirty="0"/>
          </a:p>
        </p:txBody>
      </p:sp>
      <p:pic>
        <p:nvPicPr>
          <p:cNvPr id="7" name="Image 1" descr="/mnt/data/slide_work/soft.png">    </p:cNvPr>
          <p:cNvPicPr>
            <a:picLocks noChangeAspect="1"/>
          </p:cNvPicPr>
          <p:nvPr/>
        </p:nvPicPr>
        <p:blipFill>
          <a:blip r:embed="rId2"/>
          <a:stretch>
            <a:fillRect/>
          </a:stretch>
        </p:blipFill>
        <p:spPr>
          <a:xfrm>
            <a:off x="749808" y="1170432"/>
            <a:ext cx="10058400" cy="4800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5</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モデル化：パラメータ (1/3)</a:t>
            </a:r>
            <a:endParaRPr lang="en-US" sz="2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49808" y="1188720"/>
          <a:ext cx="9966960" cy="5029200"/>
        </p:xfrm>
        <a:graphic>
          <a:graphicData uri="http://schemas.openxmlformats.org/drawingml/2006/table">
            <a:tbl>
              <a:tblPr/>
              <a:tblGrid>
                <a:gridCol w="2011680"/>
                <a:gridCol w="5120640"/>
                <a:gridCol w="2468880"/>
              </a:tblGrid>
              <a:tr h="301752">
                <a:tc>
                  <a:txBody>
                    <a:bodyPr/>
                    <a:lstStyle/>
                    <a:p>
                      <a:pPr algn="l" indent="0" marL="0">
                        <a:buNone/>
                      </a:pPr>
                      <a:r>
                        <a:rPr lang="en-US" sz="1000" b="1" dirty="0">
                          <a:solidFill>
                            <a:srgbClr val="1F1F1F"/>
                          </a:solidFill>
                          <a:latin typeface="Arial" pitchFamily="34" charset="0"/>
                          <a:ea typeface="Arial" pitchFamily="34" charset="-122"/>
                          <a:cs typeface="Arial" pitchFamily="34" charset="-120"/>
                        </a:rPr>
                        <a:t>パラメータ名</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F1F1F"/>
                          </a:solidFill>
                          <a:latin typeface="Arial" pitchFamily="34" charset="0"/>
                          <a:ea typeface="Arial" pitchFamily="34" charset="-122"/>
                          <a:cs typeface="Arial" pitchFamily="34" charset="-120"/>
                        </a:rPr>
                        <a:t>内容</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F1F1F"/>
                          </a:solidFill>
                          <a:latin typeface="Arial" pitchFamily="34" charset="0"/>
                          <a:ea typeface="Arial" pitchFamily="34" charset="-122"/>
                          <a:cs typeface="Arial" pitchFamily="34" charset="-120"/>
                        </a:rPr>
                        <a:t>主な出所</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EmployeeFact.wid</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作業者 ID</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EnvConfig worker_list.id</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EmployeeFact.name</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作業者名</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EnvConfig worker_list.name</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EmployeeFact.skills</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作業者の タスク 別スキルレベル</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EnvConfig worker_list.skill_map</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EmployeeFact.isManager</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管理者かどうか</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EnvConfig worker_list.is_manager</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EmployeeFact.workerCompany</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作業者所属会社 ID</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EnvConfig worker_list.worker_company</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EmployeeFact.regionPreference</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作業者の地域適性スコア</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EnvConfig fab_suitability_map (region)</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EmployeeFact.customerPreference</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作業者の顧客適性スコア</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EnvConfig fab_suitability_map (customer_company)</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TaskWindow.module</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作業対象 module / 製番 ID</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Schedule</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TaskWindow.factory</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対象 factory</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Schedule</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TaskWindow.phaseNum</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module 内での工程順序番号</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内部算出</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TaskWindow.opId</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operation 識別子</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Schedule</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TaskWindow.startDayId</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元の開始日 dayId</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Schedule</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6</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モデル化：パラメータ (2/3)</a:t>
            </a:r>
            <a:endParaRPr lang="en-US" sz="2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49808" y="1188720"/>
          <a:ext cx="9966960" cy="5029200"/>
        </p:xfrm>
        <a:graphic>
          <a:graphicData uri="http://schemas.openxmlformats.org/drawingml/2006/table">
            <a:tbl>
              <a:tblPr/>
              <a:tblGrid>
                <a:gridCol w="2011680"/>
                <a:gridCol w="5120640"/>
                <a:gridCol w="2468880"/>
              </a:tblGrid>
              <a:tr h="301752">
                <a:tc>
                  <a:txBody>
                    <a:bodyPr/>
                    <a:lstStyle/>
                    <a:p>
                      <a:pPr algn="l" indent="0" marL="0">
                        <a:buNone/>
                      </a:pPr>
                      <a:r>
                        <a:rPr lang="en-US" sz="1000" b="1" dirty="0">
                          <a:solidFill>
                            <a:srgbClr val="1F1F1F"/>
                          </a:solidFill>
                          <a:latin typeface="Arial" pitchFamily="34" charset="0"/>
                          <a:ea typeface="Arial" pitchFamily="34" charset="-122"/>
                          <a:cs typeface="Arial" pitchFamily="34" charset="-120"/>
                        </a:rPr>
                        <a:t>パラメータ名</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F1F1F"/>
                          </a:solidFill>
                          <a:latin typeface="Arial" pitchFamily="34" charset="0"/>
                          <a:ea typeface="Arial" pitchFamily="34" charset="-122"/>
                          <a:cs typeface="Arial" pitchFamily="34" charset="-120"/>
                        </a:rPr>
                        <a:t>内容</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F1F1F"/>
                          </a:solidFill>
                          <a:latin typeface="Arial" pitchFamily="34" charset="0"/>
                          <a:ea typeface="Arial" pitchFamily="34" charset="-122"/>
                          <a:cs typeface="Arial" pitchFamily="34" charset="-120"/>
                        </a:rPr>
                        <a:t>主な出所</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TaskWindow.endDayId</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元の終了日 dayId</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Schedule</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TaskWindow.allowedHours</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選択可能な 1 日作業時間集合</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EnvConfig / Schedule</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TaskWindow.workloadDays</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workload-day 単位の必要作業量</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Schedule</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TaskWindow.minHeads</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最小必要人数</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Schedule</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TaskWindow.maxHeads</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最大人数（seat 上限）</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Schedule</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TaskWindow.recMin</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推奨最小人数</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Schedule</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TaskWindow.recMax</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推奨最大人数</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Schedule</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BlockDecision.startDay</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ブロック開始日 dayId</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Planning Variable</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BlockDecision.days</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ブロック継続日数</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Planning Variable</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BlockDecision.hours</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1 日あたり作業時間</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Planning Variable</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BlockDecision.requiredHours</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固定実績差引後の必要作業時間</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workloadDays + fixed</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CrewSeat.employee</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座席に割当てられた作業者</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Planning Variable</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7</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モデル化：パラメータ (3/3)</a:t>
            </a:r>
            <a:endParaRPr lang="en-US" sz="2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49808" y="1188720"/>
          <a:ext cx="9966960" cy="5029200"/>
        </p:xfrm>
        <a:graphic>
          <a:graphicData uri="http://schemas.openxmlformats.org/drawingml/2006/table">
            <a:tbl>
              <a:tblPr/>
              <a:tblGrid>
                <a:gridCol w="2011680"/>
                <a:gridCol w="5120640"/>
                <a:gridCol w="2468880"/>
              </a:tblGrid>
              <a:tr h="301752">
                <a:tc>
                  <a:txBody>
                    <a:bodyPr/>
                    <a:lstStyle/>
                    <a:p>
                      <a:pPr algn="l" indent="0" marL="0">
                        <a:buNone/>
                      </a:pPr>
                      <a:r>
                        <a:rPr lang="en-US" sz="1000" b="1" dirty="0">
                          <a:solidFill>
                            <a:srgbClr val="1F1F1F"/>
                          </a:solidFill>
                          <a:latin typeface="Arial" pitchFamily="34" charset="0"/>
                          <a:ea typeface="Arial" pitchFamily="34" charset="-122"/>
                          <a:cs typeface="Arial" pitchFamily="34" charset="-120"/>
                        </a:rPr>
                        <a:t>パラメータ名</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F1F1F"/>
                          </a:solidFill>
                          <a:latin typeface="Arial" pitchFamily="34" charset="0"/>
                          <a:ea typeface="Arial" pitchFamily="34" charset="-122"/>
                          <a:cs typeface="Arial" pitchFamily="34" charset="-120"/>
                        </a:rPr>
                        <a:t>内容</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F1F1F"/>
                          </a:solidFill>
                          <a:latin typeface="Arial" pitchFamily="34" charset="0"/>
                          <a:ea typeface="Arial" pitchFamily="34" charset="-122"/>
                          <a:cs typeface="Arial" pitchFamily="34" charset="-120"/>
                        </a:rPr>
                        <a:t>主な出所</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workerOffByWid(wid)</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作業者個人の作業不可日集合</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EnvConfig</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transitDays(r₁,r₂)</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地域間移動に必要な日数</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EnvConfig</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maxStayOn(region)</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地域連続滞在上限日数</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EnvConfig</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maxAnnualStay(region)</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地域年間滞在上限</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EnvConfig</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monthlyOt</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月次残業上限</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EnvConfig</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annualOt</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年次残業上限</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EnvConfig</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8</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モデル化：最適化変数</a:t>
            </a:r>
            <a:endParaRPr lang="en-US" sz="2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49808" y="1188720"/>
          <a:ext cx="9966960" cy="5029200"/>
        </p:xfrm>
        <a:graphic>
          <a:graphicData uri="http://schemas.openxmlformats.org/drawingml/2006/table">
            <a:tbl>
              <a:tblPr/>
              <a:tblGrid>
                <a:gridCol w="2011680"/>
                <a:gridCol w="5120640"/>
                <a:gridCol w="2468880"/>
              </a:tblGrid>
              <a:tr h="301752">
                <a:tc>
                  <a:txBody>
                    <a:bodyPr/>
                    <a:lstStyle/>
                    <a:p>
                      <a:pPr algn="l" indent="0" marL="0">
                        <a:buNone/>
                      </a:pPr>
                      <a:r>
                        <a:rPr lang="en-US" sz="1000" b="1" dirty="0">
                          <a:solidFill>
                            <a:srgbClr val="1F1F1F"/>
                          </a:solidFill>
                          <a:latin typeface="Arial" pitchFamily="34" charset="0"/>
                          <a:ea typeface="Arial" pitchFamily="34" charset="-122"/>
                          <a:cs typeface="Arial" pitchFamily="34" charset="-120"/>
                        </a:rPr>
                        <a:t>要素</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F1F1F"/>
                          </a:solidFill>
                          <a:latin typeface="Arial" pitchFamily="34" charset="0"/>
                          <a:ea typeface="Arial" pitchFamily="34" charset="-122"/>
                          <a:cs typeface="Arial" pitchFamily="34" charset="-120"/>
                        </a:rPr>
                        <a:t>種別</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F1F1F"/>
                          </a:solidFill>
                          <a:latin typeface="Arial" pitchFamily="34" charset="0"/>
                          <a:ea typeface="Arial" pitchFamily="34" charset="-122"/>
                          <a:cs typeface="Arial" pitchFamily="34" charset="-120"/>
                        </a:rPr>
                        <a:t>内容</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BlockDecision</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Planning Entity</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各作業ブロックの計画決定単位</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BlockDecision.startDay</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Planning Variable</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ブロック開始日</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BlockDecision.days</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Planning Variable</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ブロック継続日数</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BlockDecision.hours</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Planning Variable</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1日あたり作業時間</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CrewSeat</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Planning Entity</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ブロック配下の作業者割当席</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CrewSeat.employee</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Planning Variable</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latin typeface="Arial" pitchFamily="34" charset="0"/>
                          <a:ea typeface="Arial" pitchFamily="34" charset="-122"/>
                          <a:cs typeface="Arial" pitchFamily="34" charset="-120"/>
                        </a:rPr>
                        <a:t>その席に割り当てる作業者</a:t>
                      </a:r>
                      <a:endParaRPr lang="en-US" sz="1000" dirty="0">
                        <a:latin typeface="Arial" charset="0"/>
                        <a:ea typeface="Arial" charset="0"/>
                        <a:cs typeface="Arial" charset="0"/>
                      </a:endParaRPr>
                    </a:p>
                  </a:txBody>
                  <a:tcPr marL="54864" marR="54864" marT="54864" marB="54864" anchor="mid">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9</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モデル化：モデル構造</a:t>
            </a:r>
            <a:endParaRPr lang="en-US" sz="2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49808" y="868680"/>
          <a:ext cx="10012680" cy="914400"/>
        </p:xfrm>
        <a:graphic>
          <a:graphicData uri="http://schemas.openxmlformats.org/drawingml/2006/table">
            <a:tbl>
              <a:tblPr/>
              <a:tblGrid>
                <a:gridCol w="3017520"/>
                <a:gridCol w="6583680"/>
              </a:tblGrid>
              <a:tr h="274320">
                <a:tc>
                  <a:txBody>
                    <a:bodyPr/>
                    <a:lstStyle/>
                    <a:p>
                      <a:pPr indent="0" marL="0">
                        <a:buNone/>
                      </a:pPr>
                      <a:r>
                        <a:rPr lang="en-US" sz="950" b="1" dirty="0">
                          <a:solidFill>
                            <a:srgbClr val="404040"/>
                          </a:solidFill>
                          <a:latin typeface="Arial" pitchFamily="34" charset="0"/>
                          <a:ea typeface="Arial" pitchFamily="34" charset="-122"/>
                          <a:cs typeface="Arial" pitchFamily="34" charset="-120"/>
                        </a:rPr>
                        <a:t>関係</a:t>
                      </a:r>
                      <a:endParaRPr lang="en-US" sz="950" dirty="0">
                        <a:latin typeface="Arial" charset="0"/>
                        <a:ea typeface="Arial" charset="0"/>
                        <a:cs typeface="Arial" charset="0"/>
                      </a:endParaRPr>
                    </a:p>
                  </a:txBody>
                  <a:tcPr marL="36576" marR="36576" marT="36576" marB="36576">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950" b="1" dirty="0">
                          <a:solidFill>
                            <a:srgbClr val="404040"/>
                          </a:solidFill>
                          <a:latin typeface="Arial" pitchFamily="34" charset="0"/>
                          <a:ea typeface="Arial" pitchFamily="34" charset="-122"/>
                          <a:cs typeface="Arial" pitchFamily="34" charset="-120"/>
                        </a:rPr>
                        <a:t>内容</a:t>
                      </a:r>
                      <a:endParaRPr lang="en-US" sz="950" dirty="0">
                        <a:latin typeface="Arial" charset="0"/>
                        <a:ea typeface="Arial" charset="0"/>
                        <a:cs typeface="Arial" charset="0"/>
                      </a:endParaRPr>
                    </a:p>
                  </a:txBody>
                  <a:tcPr marL="36576" marR="36576" marT="36576" marB="36576">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274320">
                <a:tc>
                  <a:txBody>
                    <a:bodyPr/>
                    <a:lstStyle/>
                    <a:p>
                      <a:pPr indent="0" marL="0">
                        <a:buNone/>
                      </a:pPr>
                      <a:endParaRPr lang="en-US" sz="950" dirty="0">
                        <a:latin typeface="Arial" charset="0"/>
                        <a:ea typeface="Arial" charset="0"/>
                        <a:cs typeface="Arial" charset="0"/>
                      </a:endParaRPr>
                    </a:p>
                  </a:txBody>
                  <a:tcPr marL="36576" marR="36576" marT="36576" marB="36576">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950" dirty="0">
                          <a:solidFill>
                            <a:srgbClr val="404040"/>
                          </a:solidFill>
                          <a:latin typeface="Arial" pitchFamily="34" charset="0"/>
                          <a:ea typeface="Arial" pitchFamily="34" charset="-122"/>
                          <a:cs typeface="Arial" pitchFamily="34" charset="-120"/>
                        </a:rPr>
                        <a:t>DaySlot の集合</a:t>
                      </a:r>
                      <a:endParaRPr lang="en-US" sz="950" dirty="0">
                        <a:latin typeface="Arial" charset="0"/>
                        <a:ea typeface="Arial" charset="0"/>
                        <a:cs typeface="Arial" charset="0"/>
                      </a:endParaRPr>
                    </a:p>
                  </a:txBody>
                  <a:tcPr marL="36576" marR="36576" marT="36576" marB="36576">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274320">
                <a:tc>
                  <a:txBody>
                    <a:bodyPr/>
                    <a:lstStyle/>
                    <a:p>
                      <a:pPr indent="0" marL="0">
                        <a:buNone/>
                      </a:pPr>
                      <a:endParaRPr lang="en-US" sz="950" dirty="0">
                        <a:latin typeface="Arial" charset="0"/>
                        <a:ea typeface="Arial" charset="0"/>
                        <a:cs typeface="Arial" charset="0"/>
                      </a:endParaRPr>
                    </a:p>
                  </a:txBody>
                  <a:tcPr marL="36576" marR="36576" marT="36576" marB="36576">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950" dirty="0">
                          <a:solidFill>
                            <a:srgbClr val="404040"/>
                          </a:solidFill>
                          <a:latin typeface="Arial" pitchFamily="34" charset="0"/>
                          <a:ea typeface="Arial" pitchFamily="34" charset="-122"/>
                          <a:cs typeface="Arial" pitchFamily="34" charset="-120"/>
                        </a:rPr>
                        <a:t>EmployeeFact の集合</a:t>
                      </a:r>
                      <a:endParaRPr lang="en-US" sz="950" dirty="0">
                        <a:latin typeface="Arial" charset="0"/>
                        <a:ea typeface="Arial" charset="0"/>
                        <a:cs typeface="Arial" charset="0"/>
                      </a:endParaRPr>
                    </a:p>
                  </a:txBody>
                  <a:tcPr marL="36576" marR="36576" marT="36576" marB="36576">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274320">
                <a:tc>
                  <a:txBody>
                    <a:bodyPr/>
                    <a:lstStyle/>
                    <a:p>
                      <a:pPr indent="0" marL="0">
                        <a:buNone/>
                      </a:pPr>
                      <a:endParaRPr lang="en-US" sz="950" dirty="0">
                        <a:latin typeface="Arial" charset="0"/>
                        <a:ea typeface="Arial" charset="0"/>
                        <a:cs typeface="Arial" charset="0"/>
                      </a:endParaRPr>
                    </a:p>
                  </a:txBody>
                  <a:tcPr marL="36576" marR="36576" marT="36576" marB="36576">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950" dirty="0">
                          <a:solidFill>
                            <a:srgbClr val="404040"/>
                          </a:solidFill>
                          <a:latin typeface="Arial" pitchFamily="34" charset="0"/>
                          <a:ea typeface="Arial" pitchFamily="34" charset="-122"/>
                          <a:cs typeface="Arial" pitchFamily="34" charset="-120"/>
                        </a:rPr>
                        <a:t>TaskWindow の集合</a:t>
                      </a:r>
                      <a:endParaRPr lang="en-US" sz="950" dirty="0">
                        <a:latin typeface="Arial" charset="0"/>
                        <a:ea typeface="Arial" charset="0"/>
                        <a:cs typeface="Arial" charset="0"/>
                      </a:endParaRPr>
                    </a:p>
                  </a:txBody>
                  <a:tcPr marL="36576" marR="36576" marT="36576" marB="36576">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274320">
                <a:tc>
                  <a:txBody>
                    <a:bodyPr/>
                    <a:lstStyle/>
                    <a:p>
                      <a:pPr indent="0" marL="0">
                        <a:buNone/>
                      </a:pPr>
                      <a:endParaRPr lang="en-US" sz="950" dirty="0">
                        <a:latin typeface="Arial" charset="0"/>
                        <a:ea typeface="Arial" charset="0"/>
                        <a:cs typeface="Arial" charset="0"/>
                      </a:endParaRPr>
                    </a:p>
                  </a:txBody>
                  <a:tcPr marL="36576" marR="36576" marT="36576" marB="36576">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950" dirty="0">
                          <a:solidFill>
                            <a:srgbClr val="404040"/>
                          </a:solidFill>
                          <a:latin typeface="Arial" pitchFamily="34" charset="0"/>
                          <a:ea typeface="Arial" pitchFamily="34" charset="-122"/>
                          <a:cs typeface="Arial" pitchFamily="34" charset="-120"/>
                        </a:rPr>
                        <a:t>BlockDecision の集合</a:t>
                      </a:r>
                      <a:endParaRPr lang="en-US" sz="950" dirty="0">
                        <a:latin typeface="Arial" charset="0"/>
                        <a:ea typeface="Arial" charset="0"/>
                        <a:cs typeface="Arial" charset="0"/>
                      </a:endParaRPr>
                    </a:p>
                  </a:txBody>
                  <a:tcPr marL="36576" marR="36576" marT="36576" marB="36576">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r h="274320">
                <a:tc>
                  <a:txBody>
                    <a:bodyPr/>
                    <a:lstStyle/>
                    <a:p>
                      <a:pPr indent="0" marL="0">
                        <a:buNone/>
                      </a:pPr>
                      <a:endParaRPr lang="en-US" sz="950" dirty="0">
                        <a:latin typeface="Arial" charset="0"/>
                        <a:ea typeface="Arial" charset="0"/>
                        <a:cs typeface="Arial" charset="0"/>
                      </a:endParaRPr>
                    </a:p>
                  </a:txBody>
                  <a:tcPr marL="36576" marR="36576" marT="36576" marB="36576">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950" dirty="0">
                          <a:solidFill>
                            <a:srgbClr val="404040"/>
                          </a:solidFill>
                          <a:latin typeface="Arial" pitchFamily="34" charset="0"/>
                          <a:ea typeface="Arial" pitchFamily="34" charset="-122"/>
                          <a:cs typeface="Arial" pitchFamily="34" charset="-120"/>
                        </a:rPr>
                        <a:t>CrewSeat の集合</a:t>
                      </a:r>
                      <a:endParaRPr lang="en-US" sz="950" dirty="0">
                        <a:latin typeface="Arial" charset="0"/>
                        <a:ea typeface="Arial" charset="0"/>
                        <a:cs typeface="Arial" charset="0"/>
                      </a:endParaRPr>
                    </a:p>
                  </a:txBody>
                  <a:tcPr marL="36576" marR="36576" marT="36576" marB="36576">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10</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モデル化：モデル構造 (2)</a:t>
            </a:r>
            <a:endParaRPr lang="en-US" sz="2200" dirty="0"/>
          </a:p>
        </p:txBody>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868680"/>
            <a:ext cx="2926080" cy="502920"/>
          </a:xfrm>
          <a:prstGeom prst="rect">
            <a:avLst/>
          </a:prstGeom>
        </p:spPr>
      </p:pic>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6968" y="1444752"/>
            <a:ext cx="2926080" cy="502920"/>
          </a:xfrm>
          <a:prstGeom prst="rect">
            <a:avLst/>
          </a:prstGeom>
        </p:spPr>
      </p:pic>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86968" y="2020824"/>
            <a:ext cx="2926080" cy="502920"/>
          </a:xfrm>
          <a:prstGeom prst="rect">
            <a:avLst/>
          </a:prstGeom>
        </p:spPr>
      </p:pic>
      <p:pic>
        <p:nvPicPr>
          <p:cNvPr id="9"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86968" y="2596896"/>
            <a:ext cx="2926080" cy="502920"/>
          </a:xfrm>
          <a:prstGeom prst="rect">
            <a:avLst/>
          </a:prstGeom>
        </p:spPr>
      </p:pic>
      <p:pic>
        <p:nvPicPr>
          <p:cNvPr id="10"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86968" y="3172968"/>
            <a:ext cx="3438144" cy="640080"/>
          </a:xfrm>
          <a:prstGeom prst="rect">
            <a:avLst/>
          </a:prstGeom>
        </p:spPr>
      </p:pic>
      <p:sp>
        <p:nvSpPr>
          <p:cNvPr id="11" name="Text 3"/>
          <p:cNvSpPr/>
          <p:nvPr/>
        </p:nvSpPr>
        <p:spPr>
          <a:xfrm>
            <a:off x="749808" y="3886200"/>
            <a:ext cx="10561320" cy="210312"/>
          </a:xfrm>
          <a:prstGeom prst="rect">
            <a:avLst/>
          </a:prstGeom>
          <a:noFill/>
          <a:ln/>
        </p:spPr>
        <p:txBody>
          <a:bodyPr wrap="square" lIns="0" tIns="0" rIns="0" bIns="0" rtlCol="0" anchor="ctr"/>
          <a:lstStyle/>
          <a:p>
            <a:pPr indent="0" marL="0">
              <a:buNone/>
            </a:pPr>
            <a:r>
              <a:rPr lang="en-US" sz="1200" dirty="0">
                <a:solidFill>
                  <a:srgbClr val="404040"/>
                </a:solidFill>
                <a:latin typeface="Arial" pitchFamily="34" charset="0"/>
                <a:ea typeface="Arial" pitchFamily="34" charset="-122"/>
                <a:cs typeface="Arial" pitchFamily="34" charset="-120"/>
              </a:rPr>
              <a:t>意味としては、</a:t>
            </a:r>
            <a:endParaRPr lang="en-US" sz="1200" dirty="0"/>
          </a:p>
        </p:txBody>
      </p:sp>
      <p:sp>
        <p:nvSpPr>
          <p:cNvPr id="12" name="Text 4"/>
          <p:cNvSpPr/>
          <p:nvPr/>
        </p:nvSpPr>
        <p:spPr>
          <a:xfrm>
            <a:off x="749808" y="4169664"/>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TaskWindow が元の作業枠を定義し、</a:t>
            </a:r>
            <a:endParaRPr lang="en-US" sz="1200" dirty="0"/>
          </a:p>
        </p:txBody>
      </p:sp>
      <p:sp>
        <p:nvSpPr>
          <p:cNvPr id="13" name="Text 5"/>
          <p:cNvSpPr/>
          <p:nvPr/>
        </p:nvSpPr>
        <p:spPr>
          <a:xfrm>
            <a:off x="749808" y="4425696"/>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BlockDecision がその作業枠に対する実際の計画値を持ち、</a:t>
            </a:r>
            <a:endParaRPr lang="en-US" sz="1200" dirty="0"/>
          </a:p>
        </p:txBody>
      </p:sp>
      <p:sp>
        <p:nvSpPr>
          <p:cNvPr id="14" name="Text 6"/>
          <p:cNvSpPr/>
          <p:nvPr/>
        </p:nvSpPr>
        <p:spPr>
          <a:xfrm>
            <a:off x="749808" y="4681728"/>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CrewSeat がそのブロックに誰を割り当てるかを表す。</a:t>
            </a:r>
            <a:endParaRPr lang="en-US" sz="1200" dirty="0"/>
          </a:p>
        </p:txBody>
      </p:sp>
      <p:sp>
        <p:nvSpPr>
          <p:cNvPr id="15" name="Text 7"/>
          <p:cNvSpPr/>
          <p:nvPr/>
        </p:nvSpPr>
        <p:spPr>
          <a:xfrm>
            <a:off x="749808" y="4937760"/>
            <a:ext cx="10561320" cy="384048"/>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TaskWindow と BlockDecision は 1 対 1 の関係であり、各作業枠に対して対応する計画ブロックは常に 1 つである。</a:t>
            </a:r>
            <a:endParaRPr lang="en-US" sz="1200" dirty="0"/>
          </a:p>
        </p:txBody>
      </p:sp>
      <p:sp>
        <p:nvSpPr>
          <p:cNvPr id="16" name="Text 8"/>
          <p:cNvSpPr/>
          <p:nvPr/>
        </p:nvSpPr>
        <p:spPr>
          <a:xfrm>
            <a:off x="749808" y="5367528"/>
            <a:ext cx="10561320" cy="384048"/>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BlockDecision と CrewSeat は 1 対多の関係で、1 つの計画ブロックに対して複数の割当席が紐づく</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11</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モデル化：適用技術</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HardScore / MediumScore / SoftScore</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dirty="0">
                <a:solidFill>
                  <a:srgbClr val="404040"/>
                </a:solidFill>
                <a:latin typeface="Arial" pitchFamily="34" charset="0"/>
                <a:ea typeface="Arial" pitchFamily="34" charset="-122"/>
                <a:cs typeface="Arial" pitchFamily="34" charset="-120"/>
              </a:rPr>
              <a:t>計画結果として成立しているか、またはどれだけ望ましいかを</a:t>
            </a:r>
            <a:endParaRPr lang="en-US" sz="1200" dirty="0"/>
          </a:p>
        </p:txBody>
      </p:sp>
      <p:sp>
        <p:nvSpPr>
          <p:cNvPr id="8" name="Text 5"/>
          <p:cNvSpPr/>
          <p:nvPr/>
        </p:nvSpPr>
        <p:spPr>
          <a:xfrm>
            <a:off x="749808" y="1408176"/>
            <a:ext cx="10561320" cy="210312"/>
          </a:xfrm>
          <a:prstGeom prst="rect">
            <a:avLst/>
          </a:prstGeom>
          <a:noFill/>
          <a:ln/>
        </p:spPr>
        <p:txBody>
          <a:bodyPr wrap="square" lIns="0" tIns="0" rIns="0" bIns="0" rtlCol="0" anchor="ctr"/>
          <a:lstStyle/>
          <a:p>
            <a:pPr indent="0" marL="0">
              <a:buNone/>
            </a:pPr>
            <a:r>
              <a:rPr lang="en-US" sz="1200" dirty="0">
                <a:solidFill>
                  <a:srgbClr val="404040"/>
                </a:solidFill>
                <a:latin typeface="Arial" pitchFamily="34" charset="0"/>
                <a:ea typeface="Arial" pitchFamily="34" charset="-122"/>
                <a:cs typeface="Arial" pitchFamily="34" charset="-120"/>
              </a:rPr>
              <a:t>割当結果に基づいて評価 するための技術。</a:t>
            </a:r>
            <a:endParaRPr lang="en-US" sz="1200" dirty="0"/>
          </a:p>
        </p:txBody>
      </p:sp>
      <p:sp>
        <p:nvSpPr>
          <p:cNvPr id="9" name="Text 6"/>
          <p:cNvSpPr/>
          <p:nvPr/>
        </p:nvSpPr>
        <p:spPr>
          <a:xfrm>
            <a:off x="749808" y="1691640"/>
            <a:ext cx="10561320" cy="210312"/>
          </a:xfrm>
          <a:prstGeom prst="rect">
            <a:avLst/>
          </a:prstGeom>
          <a:noFill/>
          <a:ln/>
        </p:spPr>
        <p:txBody>
          <a:bodyPr wrap="square" lIns="0" tIns="0" rIns="0" bIns="0" rtlCol="0" anchor="ctr"/>
          <a:lstStyle/>
          <a:p>
            <a:pPr indent="0" marL="0">
              <a:buNone/>
            </a:pPr>
            <a:r>
              <a:rPr lang="en-US" sz="1200" dirty="0">
                <a:solidFill>
                  <a:srgbClr val="404040"/>
                </a:solidFill>
                <a:latin typeface="Arial" pitchFamily="34" charset="0"/>
                <a:ea typeface="Arial" pitchFamily="34" charset="-122"/>
                <a:cs typeface="Arial" pitchFamily="34" charset="-120"/>
              </a:rPr>
              <a:t>複数変数の組み合わせや全体集計が必要な制約は Score として定式化する。</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12</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制約：工程間順序</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適用技術：HardScore</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同一 module 内では、後続フェーズは先行フェーズの終了前に開始できない</a:t>
            </a:r>
            <a:endParaRPr lang="en-US" sz="1200" dirty="0"/>
          </a:p>
        </p:txBody>
      </p:sp>
      <p:sp>
        <p:nvSpPr>
          <p:cNvPr id="8" name="Text 5"/>
          <p:cNvSpPr/>
          <p:nvPr/>
        </p:nvSpPr>
        <p:spPr>
          <a:xfrm>
            <a:off x="749808" y="1380744"/>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636776"/>
            <a:ext cx="2926080" cy="502920"/>
          </a:xfrm>
          <a:prstGeom prst="rect">
            <a:avLst/>
          </a:prstGeom>
        </p:spPr>
      </p:pic>
      <p:pic>
        <p:nvPicPr>
          <p:cNvPr id="10"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6968" y="2212848"/>
            <a:ext cx="4279392" cy="640080"/>
          </a:xfrm>
          <a:prstGeom prst="rect">
            <a:avLst/>
          </a:prstGeom>
        </p:spPr>
      </p:pic>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86968" y="2926080"/>
            <a:ext cx="3584448" cy="640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13</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制約：作業時間</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適用技術：ValueRangeProvider</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BlockDecision.hours は allowedHours の離散集合から選ぶ</a:t>
            </a:r>
            <a:endParaRPr lang="en-US" sz="1200" dirty="0"/>
          </a:p>
        </p:txBody>
      </p:sp>
      <p:sp>
        <p:nvSpPr>
          <p:cNvPr id="8" name="Text 5"/>
          <p:cNvSpPr/>
          <p:nvPr/>
        </p:nvSpPr>
        <p:spPr>
          <a:xfrm>
            <a:off x="749808" y="1380744"/>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636776"/>
            <a:ext cx="2926080" cy="5029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14</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制約：継続日数候補</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適用技術：ValueRangeFactory</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BlockDecision.days は 1 日以上、ウィンドウ長以下</a:t>
            </a:r>
            <a:endParaRPr lang="en-US" sz="1200" dirty="0"/>
          </a:p>
        </p:txBody>
      </p:sp>
      <p:sp>
        <p:nvSpPr>
          <p:cNvPr id="8" name="Text 5"/>
          <p:cNvSpPr/>
          <p:nvPr/>
        </p:nvSpPr>
        <p:spPr>
          <a:xfrm>
            <a:off x="749808" y="1380744"/>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636776"/>
            <a:ext cx="3730752" cy="6400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15</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制約：工程開始日・終了日</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適用技術：HardScore</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ブロック終了日が作業可能期間の終了を超えてはならない</a:t>
            </a:r>
            <a:endParaRPr lang="en-US" sz="1200" dirty="0"/>
          </a:p>
        </p:txBody>
      </p:sp>
      <p:sp>
        <p:nvSpPr>
          <p:cNvPr id="8" name="Text 5"/>
          <p:cNvSpPr/>
          <p:nvPr/>
        </p:nvSpPr>
        <p:spPr>
          <a:xfrm>
            <a:off x="749808" y="1380744"/>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636776"/>
            <a:ext cx="4206240" cy="6400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16</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制約：初工程開始日固定制約</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適用技術：ValueRangeFactory</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初工程の作業は、あらかじめ定義された開始日から必ず開始する。</a:t>
            </a:r>
            <a:endParaRPr lang="en-US" sz="1200" dirty="0"/>
          </a:p>
        </p:txBody>
      </p:sp>
      <p:sp>
        <p:nvSpPr>
          <p:cNvPr id="8" name="Text 5"/>
          <p:cNvSpPr/>
          <p:nvPr/>
        </p:nvSpPr>
        <p:spPr>
          <a:xfrm>
            <a:off x="749808" y="1380744"/>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636776"/>
            <a:ext cx="3182112" cy="6400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17</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制約：工程開始日選択制約</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適用技術：ValueRangeFactory</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第2工程以降の作業は、作業可能期間内で開始日を調整できる。</a:t>
            </a:r>
            <a:endParaRPr lang="en-US" sz="1200" dirty="0"/>
          </a:p>
        </p:txBody>
      </p:sp>
      <p:sp>
        <p:nvSpPr>
          <p:cNvPr id="8" name="Text 5"/>
          <p:cNvSpPr/>
          <p:nvPr/>
        </p:nvSpPr>
        <p:spPr>
          <a:xfrm>
            <a:off x="749808" y="1380744"/>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636776"/>
            <a:ext cx="4645152" cy="6400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18</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制約：作業不可日制約</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適用技術：Calendar filtering</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作業不可日はスコア計算の対象とはせず、作業日計算や各種集計から除外する</a:t>
            </a:r>
            <a:endParaRPr lang="en-US" sz="1200" dirty="0"/>
          </a:p>
        </p:txBody>
      </p:sp>
      <p:sp>
        <p:nvSpPr>
          <p:cNvPr id="8" name="Text 5"/>
          <p:cNvSpPr/>
          <p:nvPr/>
        </p:nvSpPr>
        <p:spPr>
          <a:xfrm>
            <a:off x="749808" y="1380744"/>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636776"/>
            <a:ext cx="6620256" cy="777240"/>
          </a:xfrm>
          <a:prstGeom prst="rect">
            <a:avLst/>
          </a:prstGeom>
        </p:spPr>
      </p:pic>
      <p:sp>
        <p:nvSpPr>
          <p:cNvPr id="10" name="Text 6"/>
          <p:cNvSpPr/>
          <p:nvPr/>
        </p:nvSpPr>
        <p:spPr>
          <a:xfrm>
            <a:off x="749808" y="2487168"/>
            <a:ext cx="10561320" cy="210312"/>
          </a:xfrm>
          <a:prstGeom prst="rect">
            <a:avLst/>
          </a:prstGeom>
          <a:noFill/>
          <a:ln/>
        </p:spPr>
        <p:txBody>
          <a:bodyPr wrap="square" lIns="0" tIns="0" rIns="0" bIns="0" rtlCol="0" anchor="ctr"/>
          <a:lstStyle/>
          <a:p>
            <a:pPr indent="0" marL="0">
              <a:buNone/>
            </a:pPr>
            <a:r>
              <a:rPr lang="en-US" sz="1200" dirty="0">
                <a:solidFill>
                  <a:srgbClr val="404040"/>
                </a:solidFill>
                <a:latin typeface="Arial" pitchFamily="34" charset="0"/>
                <a:ea typeface="Arial" pitchFamily="34" charset="-122"/>
                <a:cs typeface="Arial" pitchFamily="34" charset="-120"/>
              </a:rPr>
              <a:t>この制約により、作業不可日は 実生産時間の計算や日別集計の対象外として扱われる。</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19</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制約：必要作業量</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適用技術：HardScore</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各作業ブロックにおいて、実生産時間は必要作業量を下回ってはならず、また過剰な投入も一定範囲内に制限する。</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20</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制約：実作業時間の定義</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124712"/>
            <a:ext cx="3950208" cy="640080"/>
          </a:xfrm>
          <a:prstGeom prst="rect">
            <a:avLst/>
          </a:prstGeom>
        </p:spPr>
      </p:pic>
      <p:sp>
        <p:nvSpPr>
          <p:cNvPr id="8" name="Text 4"/>
          <p:cNvSpPr/>
          <p:nvPr/>
        </p:nvSpPr>
        <p:spPr>
          <a:xfrm>
            <a:off x="749808" y="1837944"/>
            <a:ext cx="10561320" cy="384048"/>
          </a:xfrm>
          <a:prstGeom prst="rect">
            <a:avLst/>
          </a:prstGeom>
          <a:noFill/>
          <a:ln/>
        </p:spPr>
        <p:txBody>
          <a:bodyPr wrap="square" lIns="0" tIns="0" rIns="0" bIns="0" rtlCol="0" anchor="ctr"/>
          <a:lstStyle/>
          <a:p>
            <a:pPr indent="0" marL="0">
              <a:buNone/>
            </a:pPr>
            <a:r>
              <a:rPr lang="en-US" sz="1200" dirty="0">
                <a:solidFill>
                  <a:srgbClr val="404040"/>
                </a:solidFill>
                <a:latin typeface="Arial" pitchFamily="34" charset="0"/>
                <a:ea typeface="Arial" pitchFamily="34" charset="-122"/>
                <a:cs typeface="Arial" pitchFamily="34" charset="-120"/>
              </a:rPr>
              <a:t>ここで ( W(b,s) ) は、  ブロック期間内かつ工場・地域・顧客カレンダおよび個人作業不可日を除外した有効作業日の集合を表す。</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21</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制約：必要作業量下限</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124712"/>
            <a:ext cx="3145536" cy="64008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22</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制約：過剰投入上限</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124712"/>
            <a:ext cx="3621024" cy="640080"/>
          </a:xfrm>
          <a:prstGeom prst="rect">
            <a:avLst/>
          </a:prstGeom>
        </p:spPr>
      </p:pic>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6968" y="1837944"/>
            <a:ext cx="4535424" cy="64008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23</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制約：同一日作業重複禁止制約</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適用技術：HardScore</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固定実績を含め、同一作業者が同一日に担当する作業は 1 件までとする</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24</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制約：複数作業不可</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同一作業者が同一日に担当できる作業は 1 件までとする</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8"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380744"/>
            <a:ext cx="2926080" cy="502920"/>
          </a:xfrm>
          <a:prstGeom prst="rect">
            <a:avLst/>
          </a:prstGeom>
        </p:spPr>
      </p:pic>
      <p:sp>
        <p:nvSpPr>
          <p:cNvPr id="9" name="Text 5"/>
          <p:cNvSpPr/>
          <p:nvPr/>
        </p:nvSpPr>
        <p:spPr>
          <a:xfrm>
            <a:off x="749808" y="1956816"/>
            <a:ext cx="10561320" cy="210312"/>
          </a:xfrm>
          <a:prstGeom prst="rect">
            <a:avLst/>
          </a:prstGeom>
          <a:noFill/>
          <a:ln/>
        </p:spPr>
        <p:txBody>
          <a:bodyPr wrap="square" lIns="0" tIns="0" rIns="0" bIns="0" rtlCol="0" anchor="ctr"/>
          <a:lstStyle/>
          <a:p>
            <a:pPr indent="0" marL="0">
              <a:buNone/>
            </a:pPr>
            <a:r>
              <a:rPr lang="en-US" sz="1200" dirty="0">
                <a:solidFill>
                  <a:srgbClr val="404040"/>
                </a:solidFill>
                <a:latin typeface="Arial" pitchFamily="34" charset="0"/>
                <a:ea typeface="Arial" pitchFamily="34" charset="-122"/>
                <a:cs typeface="Arial" pitchFamily="34" charset="-120"/>
              </a:rPr>
              <a:t>固定実績として計上されている作業件数も合算した上で判定する。</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25</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制約：同一日複数工場不可</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1人の作業者が同日に複数工場へ入ることを禁止する制約</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8"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380744"/>
            <a:ext cx="2926080" cy="502920"/>
          </a:xfrm>
          <a:prstGeom prst="rect">
            <a:avLst/>
          </a:prstGeom>
        </p:spPr>
      </p:pic>
      <p:pic>
        <p:nvPicPr>
          <p:cNvPr id="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6968" y="1956816"/>
            <a:ext cx="2926080" cy="50292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26</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制約：1日作業時間上限</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同一作業者・同一日における総作業時間は、定められた 1 日の上限時間を超えてはならない</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8"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380744"/>
            <a:ext cx="2926080" cy="502920"/>
          </a:xfrm>
          <a:prstGeom prst="rect">
            <a:avLst/>
          </a:prstGeom>
        </p:spPr>
      </p:pic>
      <p:sp>
        <p:nvSpPr>
          <p:cNvPr id="9" name="Text 5"/>
          <p:cNvSpPr/>
          <p:nvPr/>
        </p:nvSpPr>
        <p:spPr>
          <a:xfrm>
            <a:off x="749808" y="1956816"/>
            <a:ext cx="10561320" cy="210312"/>
          </a:xfrm>
          <a:prstGeom prst="rect">
            <a:avLst/>
          </a:prstGeom>
          <a:noFill/>
          <a:ln/>
        </p:spPr>
        <p:txBody>
          <a:bodyPr wrap="square" lIns="0" tIns="0" rIns="0" bIns="0" rtlCol="0" anchor="ctr"/>
          <a:lstStyle/>
          <a:p>
            <a:pPr indent="0" marL="0">
              <a:buNone/>
            </a:pPr>
            <a:r>
              <a:rPr lang="en-US" sz="1200" dirty="0">
                <a:solidFill>
                  <a:srgbClr val="404040"/>
                </a:solidFill>
                <a:latin typeface="Arial" pitchFamily="34" charset="0"/>
                <a:ea typeface="Arial" pitchFamily="34" charset="-122"/>
                <a:cs typeface="Arial" pitchFamily="34" charset="-120"/>
              </a:rPr>
              <a:t>※ 動的に割り当てられた作業時間と、事前に確定している作業時間の合計に対して判定を行う。</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27</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制約：移動日制約</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適用技術：HardScore</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異なる地域間で連続作業する場合、地域間移動日数を満たす必要がある</a:t>
            </a:r>
            <a:endParaRPr lang="en-US" sz="1200" dirty="0"/>
          </a:p>
        </p:txBody>
      </p:sp>
      <p:sp>
        <p:nvSpPr>
          <p:cNvPr id="8" name="Text 5"/>
          <p:cNvSpPr/>
          <p:nvPr/>
        </p:nvSpPr>
        <p:spPr>
          <a:xfrm>
            <a:off x="749808" y="1380744"/>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636776"/>
            <a:ext cx="2926080" cy="502920"/>
          </a:xfrm>
          <a:prstGeom prst="rect">
            <a:avLst/>
          </a:prstGeom>
        </p:spPr>
      </p:pic>
      <p:pic>
        <p:nvPicPr>
          <p:cNvPr id="10"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6968" y="2212848"/>
            <a:ext cx="2926080" cy="502920"/>
          </a:xfrm>
          <a:prstGeom prst="rect">
            <a:avLst/>
          </a:prstGeom>
        </p:spPr>
      </p:pic>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86968" y="2788920"/>
            <a:ext cx="3401568" cy="640080"/>
          </a:xfrm>
          <a:prstGeom prst="rect">
            <a:avLst/>
          </a:prstGeom>
        </p:spPr>
      </p:pic>
      <p:sp>
        <p:nvSpPr>
          <p:cNvPr id="12" name="Text 6"/>
          <p:cNvSpPr/>
          <p:nvPr/>
        </p:nvSpPr>
        <p:spPr>
          <a:xfrm>
            <a:off x="749808" y="3502152"/>
            <a:ext cx="10561320" cy="210312"/>
          </a:xfrm>
          <a:prstGeom prst="rect">
            <a:avLst/>
          </a:prstGeom>
          <a:noFill/>
          <a:ln/>
        </p:spPr>
        <p:txBody>
          <a:bodyPr wrap="square" lIns="0" tIns="0" rIns="0" bIns="0" rtlCol="0" anchor="ctr"/>
          <a:lstStyle/>
          <a:p>
            <a:pPr indent="0" marL="0">
              <a:buNone/>
            </a:pPr>
            <a:r>
              <a:rPr lang="en-US" sz="1200" dirty="0">
                <a:solidFill>
                  <a:srgbClr val="404040"/>
                </a:solidFill>
                <a:latin typeface="Arial" pitchFamily="34" charset="0"/>
                <a:ea typeface="Arial" pitchFamily="34" charset="-122"/>
                <a:cs typeface="Arial" pitchFamily="34" charset="-120"/>
              </a:rPr>
              <a:t>隣接する異地域作業日に対し、日付差が必要移動日数より小さい場合を違反とする。</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28</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制約：作業責任者制約</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適用技術：ValueRangeFactory</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管理者席には管理者のみ割当可能</a:t>
            </a:r>
            <a:endParaRPr lang="en-US" sz="1200" dirty="0"/>
          </a:p>
        </p:txBody>
      </p:sp>
      <p:sp>
        <p:nvSpPr>
          <p:cNvPr id="8" name="Text 5"/>
          <p:cNvSpPr/>
          <p:nvPr/>
        </p:nvSpPr>
        <p:spPr>
          <a:xfrm>
            <a:off x="749808" y="1380744"/>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636776"/>
            <a:ext cx="3986784" cy="640080"/>
          </a:xfrm>
          <a:prstGeom prst="rect">
            <a:avLst/>
          </a:prstGeom>
        </p:spPr>
      </p:pic>
      <p:pic>
        <p:nvPicPr>
          <p:cNvPr id="10"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6968" y="2350008"/>
            <a:ext cx="3657600" cy="640080"/>
          </a:xfrm>
          <a:prstGeom prst="rect">
            <a:avLst/>
          </a:prstGeom>
        </p:spPr>
      </p:pic>
      <p:sp>
        <p:nvSpPr>
          <p:cNvPr id="11" name="Text 6"/>
          <p:cNvSpPr/>
          <p:nvPr/>
        </p:nvSpPr>
        <p:spPr>
          <a:xfrm>
            <a:off x="749808" y="3063240"/>
            <a:ext cx="10561320" cy="210312"/>
          </a:xfrm>
          <a:prstGeom prst="rect">
            <a:avLst/>
          </a:prstGeom>
          <a:noFill/>
          <a:ln/>
        </p:spPr>
        <p:txBody>
          <a:bodyPr wrap="square" lIns="0" tIns="0" rIns="0" bIns="0" rtlCol="0" anchor="ctr"/>
          <a:lstStyle/>
          <a:p>
            <a:pPr indent="0" marL="0">
              <a:buNone/>
            </a:pPr>
            <a:r>
              <a:rPr lang="en-US" sz="1200" dirty="0">
                <a:solidFill>
                  <a:srgbClr val="404040"/>
                </a:solidFill>
                <a:latin typeface="Arial" pitchFamily="34" charset="0"/>
                <a:ea typeface="Arial" pitchFamily="34" charset="-122"/>
                <a:cs typeface="Arial" pitchFamily="34" charset="-120"/>
              </a:rPr>
              <a:t>非管理者席では UNASSIGNED を候補に含めるが、管理者席では含めない。</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29</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制約：スキルマップ</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適用技術：ValueRangeFactory</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必要スキルを満たす作業者のみを CrewSeat の候補集合に含める</a:t>
            </a:r>
            <a:endParaRPr lang="en-US" sz="1200" dirty="0"/>
          </a:p>
        </p:txBody>
      </p:sp>
      <p:sp>
        <p:nvSpPr>
          <p:cNvPr id="8" name="Text 5"/>
          <p:cNvSpPr/>
          <p:nvPr/>
        </p:nvSpPr>
        <p:spPr>
          <a:xfrm>
            <a:off x="749808" y="1380744"/>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636776"/>
            <a:ext cx="3767328" cy="640080"/>
          </a:xfrm>
          <a:prstGeom prst="rect">
            <a:avLst/>
          </a:prstGeom>
        </p:spPr>
      </p:pic>
      <p:pic>
        <p:nvPicPr>
          <p:cNvPr id="10"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6968" y="2350008"/>
            <a:ext cx="2926080" cy="502920"/>
          </a:xfrm>
          <a:prstGeom prst="rect">
            <a:avLst/>
          </a:prstGeom>
        </p:spPr>
      </p:pic>
      <p:sp>
        <p:nvSpPr>
          <p:cNvPr id="11" name="Text 6"/>
          <p:cNvSpPr/>
          <p:nvPr/>
        </p:nvSpPr>
        <p:spPr>
          <a:xfrm>
            <a:off x="749808" y="2926080"/>
            <a:ext cx="10561320" cy="384048"/>
          </a:xfrm>
          <a:prstGeom prst="rect">
            <a:avLst/>
          </a:prstGeom>
          <a:noFill/>
          <a:ln/>
        </p:spPr>
        <p:txBody>
          <a:bodyPr wrap="square" lIns="0" tIns="0" rIns="0" bIns="0" rtlCol="0" anchor="ctr"/>
          <a:lstStyle/>
          <a:p>
            <a:pPr indent="0" marL="0">
              <a:buNone/>
            </a:pPr>
            <a:r>
              <a:rPr lang="en-US" sz="1200" dirty="0">
                <a:solidFill>
                  <a:srgbClr val="404040"/>
                </a:solidFill>
                <a:latin typeface="Arial" pitchFamily="34" charset="0"/>
                <a:ea typeface="Arial" pitchFamily="34" charset="-122"/>
                <a:cs typeface="Arial" pitchFamily="34" charset="-120"/>
              </a:rPr>
              <a:t>※ 本モデルでは、候補になり得ない作業者をあらかじめ除外した上で候補集合を定義しており、 スキル不足を違反と※して評価（HardScore）する方式は取っていない。</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30</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制約：最小・最大作業者数制約</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適用技術：ValueRangeFactory</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各作業に対して、配置可能な作業者数は、あらかじめ定義された最小人数および最大人数の範囲内で計画される。</a:t>
            </a:r>
            <a:endParaRPr lang="en-US" sz="1200" dirty="0"/>
          </a:p>
        </p:txBody>
      </p:sp>
      <p:sp>
        <p:nvSpPr>
          <p:cNvPr id="8" name="Text 5"/>
          <p:cNvSpPr/>
          <p:nvPr/>
        </p:nvSpPr>
        <p:spPr>
          <a:xfrm>
            <a:off x="749808" y="1380744"/>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636776"/>
            <a:ext cx="2926080" cy="50292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31</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制約：滞在期間制約</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適用技術：HardScore</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地域連続滞在日数、年間滞在日数の上限を超えない</a:t>
            </a:r>
            <a:endParaRPr lang="en-US" sz="1200" dirty="0"/>
          </a:p>
        </p:txBody>
      </p:sp>
      <p:sp>
        <p:nvSpPr>
          <p:cNvPr id="8" name="Text 5"/>
          <p:cNvSpPr/>
          <p:nvPr/>
        </p:nvSpPr>
        <p:spPr>
          <a:xfrm>
            <a:off x="749808" y="1380744"/>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636776"/>
            <a:ext cx="2926080" cy="502920"/>
          </a:xfrm>
          <a:prstGeom prst="rect">
            <a:avLst/>
          </a:prstGeom>
        </p:spPr>
      </p:pic>
      <p:pic>
        <p:nvPicPr>
          <p:cNvPr id="10"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6968" y="2212848"/>
            <a:ext cx="4242816" cy="640080"/>
          </a:xfrm>
          <a:prstGeom prst="rect">
            <a:avLst/>
          </a:prstGeom>
        </p:spPr>
      </p:pic>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86968" y="2926080"/>
            <a:ext cx="4133088" cy="640080"/>
          </a:xfrm>
          <a:prstGeom prst="rect">
            <a:avLst/>
          </a:prstGeom>
        </p:spPr>
      </p:pic>
      <p:pic>
        <p:nvPicPr>
          <p:cNvPr id="12"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86968" y="3639312"/>
            <a:ext cx="4572000" cy="640080"/>
          </a:xfrm>
          <a:prstGeom prst="rect">
            <a:avLst/>
          </a:prstGeom>
        </p:spPr>
      </p:pic>
      <p:pic>
        <p:nvPicPr>
          <p:cNvPr id="13"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86968" y="4352544"/>
            <a:ext cx="4681728" cy="640080"/>
          </a:xfrm>
          <a:prstGeom prst="rect">
            <a:avLst/>
          </a:prstGeom>
        </p:spPr>
      </p:pic>
      <p:sp>
        <p:nvSpPr>
          <p:cNvPr id="14" name="Text 6"/>
          <p:cNvSpPr/>
          <p:nvPr/>
        </p:nvSpPr>
        <p:spPr>
          <a:xfrm>
            <a:off x="749808" y="5065776"/>
            <a:ext cx="10561320" cy="210312"/>
          </a:xfrm>
          <a:prstGeom prst="rect">
            <a:avLst/>
          </a:prstGeom>
          <a:noFill/>
          <a:ln/>
        </p:spPr>
        <p:txBody>
          <a:bodyPr wrap="square" lIns="0" tIns="0" rIns="0" bIns="0" rtlCol="0" anchor="ctr"/>
          <a:lstStyle/>
          <a:p>
            <a:pPr indent="0" marL="0">
              <a:buNone/>
            </a:pPr>
            <a:r>
              <a:rPr lang="en-US" sz="1200" dirty="0">
                <a:solidFill>
                  <a:srgbClr val="404040"/>
                </a:solidFill>
                <a:latin typeface="Arial" pitchFamily="34" charset="0"/>
                <a:ea typeface="Arial" pitchFamily="34" charset="-122"/>
                <a:cs typeface="Arial" pitchFamily="34" charset="-120"/>
              </a:rPr>
              <a:t>※ 関連ロジックは実装されているが、現状は未有効。</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32</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制約：残業時間制約</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適用技術：HardScore</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月次・年次の残業時間累計が上限を超えない</a:t>
            </a:r>
            <a:endParaRPr lang="en-US" sz="1200" dirty="0"/>
          </a:p>
        </p:txBody>
      </p:sp>
      <p:sp>
        <p:nvSpPr>
          <p:cNvPr id="8" name="Text 5"/>
          <p:cNvSpPr/>
          <p:nvPr/>
        </p:nvSpPr>
        <p:spPr>
          <a:xfrm>
            <a:off x="749808" y="1380744"/>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636776"/>
            <a:ext cx="2962656" cy="640080"/>
          </a:xfrm>
          <a:prstGeom prst="rect">
            <a:avLst/>
          </a:prstGeom>
        </p:spPr>
      </p:pic>
      <p:pic>
        <p:nvPicPr>
          <p:cNvPr id="10"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6968" y="2350008"/>
            <a:ext cx="3145536" cy="640080"/>
          </a:xfrm>
          <a:prstGeom prst="rect">
            <a:avLst/>
          </a:prstGeom>
        </p:spPr>
      </p:pic>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86968" y="3063240"/>
            <a:ext cx="4572000" cy="640080"/>
          </a:xfrm>
          <a:prstGeom prst="rect">
            <a:avLst/>
          </a:prstGeom>
        </p:spPr>
      </p:pic>
      <p:pic>
        <p:nvPicPr>
          <p:cNvPr id="12"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86968" y="3776472"/>
            <a:ext cx="2926080" cy="502920"/>
          </a:xfrm>
          <a:prstGeom prst="rect">
            <a:avLst/>
          </a:prstGeom>
        </p:spPr>
      </p:pic>
      <p:pic>
        <p:nvPicPr>
          <p:cNvPr id="13"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86968" y="4352544"/>
            <a:ext cx="4389120" cy="640080"/>
          </a:xfrm>
          <a:prstGeom prst="rect">
            <a:avLst/>
          </a:prstGeom>
        </p:spPr>
      </p:pic>
      <p:sp>
        <p:nvSpPr>
          <p:cNvPr id="14" name="Text 6"/>
          <p:cNvSpPr/>
          <p:nvPr/>
        </p:nvSpPr>
        <p:spPr>
          <a:xfrm>
            <a:off x="749808" y="5065776"/>
            <a:ext cx="10561320" cy="210312"/>
          </a:xfrm>
          <a:prstGeom prst="rect">
            <a:avLst/>
          </a:prstGeom>
          <a:noFill/>
          <a:ln/>
        </p:spPr>
        <p:txBody>
          <a:bodyPr wrap="square" lIns="0" tIns="0" rIns="0" bIns="0" rtlCol="0" anchor="ctr"/>
          <a:lstStyle/>
          <a:p>
            <a:pPr indent="0" marL="0">
              <a:buNone/>
            </a:pPr>
            <a:r>
              <a:rPr lang="en-US" sz="1200" dirty="0">
                <a:solidFill>
                  <a:srgbClr val="404040"/>
                </a:solidFill>
                <a:latin typeface="Arial" pitchFamily="34" charset="0"/>
                <a:ea typeface="Arial" pitchFamily="34" charset="-122"/>
                <a:cs typeface="Arial" pitchFamily="34" charset="-120"/>
              </a:rPr>
              <a:t>※ 固定残業実績も合算する設計だが、現状は未有効。</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33</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制約：地域適性</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適用技術：ValueRangeFactory</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作業者ごとに、地域適性が 0 と定義されている地域では作業を行わない。</a:t>
            </a:r>
            <a:endParaRPr lang="en-US" sz="1200" dirty="0"/>
          </a:p>
        </p:txBody>
      </p:sp>
      <p:sp>
        <p:nvSpPr>
          <p:cNvPr id="8" name="Text 5"/>
          <p:cNvSpPr/>
          <p:nvPr/>
        </p:nvSpPr>
        <p:spPr>
          <a:xfrm>
            <a:off x="749808" y="1380744"/>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636776"/>
            <a:ext cx="6144768" cy="777240"/>
          </a:xfrm>
          <a:prstGeom prst="rect">
            <a:avLst/>
          </a:prstGeom>
        </p:spPr>
      </p:pic>
      <p:sp>
        <p:nvSpPr>
          <p:cNvPr id="10" name="Text 6"/>
          <p:cNvSpPr/>
          <p:nvPr/>
        </p:nvSpPr>
        <p:spPr>
          <a:xfrm>
            <a:off x="749808" y="2487168"/>
            <a:ext cx="10561320" cy="210312"/>
          </a:xfrm>
          <a:prstGeom prst="rect">
            <a:avLst/>
          </a:prstGeom>
          <a:noFill/>
          <a:ln/>
        </p:spPr>
        <p:txBody>
          <a:bodyPr wrap="square" lIns="0" tIns="0" rIns="0" bIns="0" rtlCol="0" anchor="ctr"/>
          <a:lstStyle/>
          <a:p>
            <a:pPr indent="0" marL="0">
              <a:buNone/>
            </a:pPr>
            <a:r>
              <a:rPr lang="en-US" sz="1200" dirty="0">
                <a:solidFill>
                  <a:srgbClr val="404040"/>
                </a:solidFill>
                <a:latin typeface="Arial" pitchFamily="34" charset="0"/>
                <a:ea typeface="Arial" pitchFamily="34" charset="-122"/>
                <a:cs typeface="Arial" pitchFamily="34" charset="-120"/>
              </a:rPr>
              <a:t>※ 関連ロジックは実装されているが、現状は未有効。</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34</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制約：企業適性</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適用技術：ValueRangeFactory</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作業者ごとに、顧客適性が 0 と定義されている顧客企業の作業は割り当てない。</a:t>
            </a:r>
            <a:endParaRPr lang="en-US" sz="1200" dirty="0"/>
          </a:p>
        </p:txBody>
      </p:sp>
      <p:sp>
        <p:nvSpPr>
          <p:cNvPr id="8" name="Text 5"/>
          <p:cNvSpPr/>
          <p:nvPr/>
        </p:nvSpPr>
        <p:spPr>
          <a:xfrm>
            <a:off x="749808" y="1380744"/>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636776"/>
            <a:ext cx="6291072" cy="777240"/>
          </a:xfrm>
          <a:prstGeom prst="rect">
            <a:avLst/>
          </a:prstGeom>
        </p:spPr>
      </p:pic>
      <p:sp>
        <p:nvSpPr>
          <p:cNvPr id="10" name="Text 6"/>
          <p:cNvSpPr/>
          <p:nvPr/>
        </p:nvSpPr>
        <p:spPr>
          <a:xfrm>
            <a:off x="749808" y="2487168"/>
            <a:ext cx="10561320" cy="210312"/>
          </a:xfrm>
          <a:prstGeom prst="rect">
            <a:avLst/>
          </a:prstGeom>
          <a:noFill/>
          <a:ln/>
        </p:spPr>
        <p:txBody>
          <a:bodyPr wrap="square" lIns="0" tIns="0" rIns="0" bIns="0" rtlCol="0" anchor="ctr"/>
          <a:lstStyle/>
          <a:p>
            <a:pPr indent="0" marL="0">
              <a:buNone/>
            </a:pPr>
            <a:r>
              <a:rPr lang="en-US" sz="1200" dirty="0">
                <a:solidFill>
                  <a:srgbClr val="404040"/>
                </a:solidFill>
                <a:latin typeface="Arial" pitchFamily="34" charset="0"/>
                <a:ea typeface="Arial" pitchFamily="34" charset="-122"/>
                <a:cs typeface="Arial" pitchFamily="34" charset="-120"/>
              </a:rPr>
              <a:t>※ 関連ロジックは実装されているが、現状は未有効。</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35</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制約：推奨人数帯</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適用技術：MediumScore</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各作業について、推奨最小人数から推奨最大人数の範囲に近い人員配置を優先し、推奨人数を超える追加配置は段階的に抑制する</a:t>
            </a:r>
            <a:endParaRPr lang="en-US" sz="1200" dirty="0"/>
          </a:p>
        </p:txBody>
      </p:sp>
      <p:sp>
        <p:nvSpPr>
          <p:cNvPr id="8" name="Text 5"/>
          <p:cNvSpPr/>
          <p:nvPr/>
        </p:nvSpPr>
        <p:spPr>
          <a:xfrm>
            <a:off x="749808" y="1380744"/>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sp>
        <p:nvSpPr>
          <p:cNvPr id="9" name="Text 6"/>
          <p:cNvSpPr/>
          <p:nvPr/>
        </p:nvSpPr>
        <p:spPr>
          <a:xfrm>
            <a:off x="749808" y="1636776"/>
            <a:ext cx="10561320" cy="210312"/>
          </a:xfrm>
          <a:prstGeom prst="rect">
            <a:avLst/>
          </a:prstGeom>
          <a:noFill/>
          <a:ln/>
        </p:spPr>
        <p:txBody>
          <a:bodyPr wrap="square" lIns="0" tIns="0" rIns="0" bIns="0" rtlCol="0" anchor="ctr"/>
          <a:lstStyle/>
          <a:p>
            <a:pPr indent="0" marL="0">
              <a:buNone/>
            </a:pPr>
            <a:r>
              <a:rPr lang="en-US" sz="1200" dirty="0">
                <a:solidFill>
                  <a:srgbClr val="404040"/>
                </a:solidFill>
                <a:latin typeface="Arial" pitchFamily="34" charset="0"/>
                <a:ea typeface="Arial" pitchFamily="34" charset="-122"/>
                <a:cs typeface="Arial" pitchFamily="34" charset="-120"/>
              </a:rPr>
              <a:t>※ 本制約は、以下の 2 つの制約を組み合わせて構成されている。</a:t>
            </a:r>
            <a:endParaRPr lang="en-US" sz="1200" dirty="0"/>
          </a:p>
        </p:txBody>
      </p:sp>
      <p:pic>
        <p:nvPicPr>
          <p:cNvPr id="10"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920240"/>
            <a:ext cx="3621024" cy="640080"/>
          </a:xfrm>
          <a:prstGeom prst="rect">
            <a:avLst/>
          </a:prstGeom>
        </p:spPr>
      </p:pic>
      <p:pic>
        <p:nvPicPr>
          <p:cNvPr id="11"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6968" y="2633472"/>
            <a:ext cx="7095744" cy="777240"/>
          </a:xfrm>
          <a:prstGeom prst="rect">
            <a:avLst/>
          </a:prstGeom>
        </p:spPr>
      </p:pic>
      <p:pic>
        <p:nvPicPr>
          <p:cNvPr id="12"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86968" y="3483864"/>
            <a:ext cx="2926080" cy="502920"/>
          </a:xfrm>
          <a:prstGeom prst="rect">
            <a:avLst/>
          </a:prstGeom>
        </p:spPr>
      </p:pic>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86968" y="4059936"/>
            <a:ext cx="8961120" cy="77724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36</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制約：Makespan最小化</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適用技術：SoftScore</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可能なら早く開始する</a:t>
            </a:r>
            <a:endParaRPr lang="en-US" sz="1200" dirty="0"/>
          </a:p>
        </p:txBody>
      </p:sp>
      <p:sp>
        <p:nvSpPr>
          <p:cNvPr id="8" name="Text 5"/>
          <p:cNvSpPr/>
          <p:nvPr/>
        </p:nvSpPr>
        <p:spPr>
          <a:xfrm>
            <a:off x="749808" y="1380744"/>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636776"/>
            <a:ext cx="3218688" cy="64008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37</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制約：残業時間の最小化</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適用技術：SoftScore</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作業量や工程完了を前提とした上で、可能な場合には残業が発生しにくい作業時間設定を優先する</a:t>
            </a:r>
            <a:endParaRPr lang="en-US" sz="1200" dirty="0"/>
          </a:p>
        </p:txBody>
      </p:sp>
      <p:sp>
        <p:nvSpPr>
          <p:cNvPr id="8" name="Text 5"/>
          <p:cNvSpPr/>
          <p:nvPr/>
        </p:nvSpPr>
        <p:spPr>
          <a:xfrm>
            <a:off x="749808" y="1380744"/>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636776"/>
            <a:ext cx="2926080" cy="50292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38</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制約：作業時間の平準化</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適用技術：SoftScore</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作業者ごとの総作業時間の偏りを抑える</a:t>
            </a:r>
            <a:endParaRPr lang="en-US" sz="1200" dirty="0"/>
          </a:p>
        </p:txBody>
      </p:sp>
      <p:sp>
        <p:nvSpPr>
          <p:cNvPr id="8" name="Text 5"/>
          <p:cNvSpPr/>
          <p:nvPr/>
        </p:nvSpPr>
        <p:spPr>
          <a:xfrm>
            <a:off x="749808" y="1380744"/>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636776"/>
            <a:ext cx="4059936" cy="640080"/>
          </a:xfrm>
          <a:prstGeom prst="rect">
            <a:avLst/>
          </a:prstGeom>
        </p:spPr>
      </p:pic>
      <p:pic>
        <p:nvPicPr>
          <p:cNvPr id="10"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6968" y="2350008"/>
            <a:ext cx="3182112" cy="64008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39</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制約：同一協力企業の組み合わせ</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適用技術：SoftScore</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同じ block 内で同一会社の組み合わせを優先する</a:t>
            </a:r>
            <a:endParaRPr lang="en-US" sz="1200" dirty="0"/>
          </a:p>
        </p:txBody>
      </p:sp>
      <p:sp>
        <p:nvSpPr>
          <p:cNvPr id="8" name="Text 5"/>
          <p:cNvSpPr/>
          <p:nvPr/>
        </p:nvSpPr>
        <p:spPr>
          <a:xfrm>
            <a:off x="749808" y="1380744"/>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636776"/>
            <a:ext cx="6181344" cy="77724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40</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制約：スキルレベルの平準化</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適用技術：SoftScore</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各作業において、全体として適切なスキルレベルを確保しつつ、特定のスキルレベルへの偏りを避けた配置を優先する。</a:t>
            </a:r>
            <a:endParaRPr lang="en-US" sz="1200" dirty="0"/>
          </a:p>
        </p:txBody>
      </p:sp>
      <p:sp>
        <p:nvSpPr>
          <p:cNvPr id="8" name="Text 5"/>
          <p:cNvSpPr/>
          <p:nvPr/>
        </p:nvSpPr>
        <p:spPr>
          <a:xfrm>
            <a:off x="749808" y="1380744"/>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636776"/>
            <a:ext cx="8961120" cy="777240"/>
          </a:xfrm>
          <a:prstGeom prst="rect">
            <a:avLst/>
          </a:prstGeom>
        </p:spPr>
      </p:pic>
      <p:pic>
        <p:nvPicPr>
          <p:cNvPr id="10"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6968" y="2487168"/>
            <a:ext cx="8961120" cy="777240"/>
          </a:xfrm>
          <a:prstGeom prst="rect">
            <a:avLst/>
          </a:prstGeom>
        </p:spPr>
      </p:pic>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86968" y="3337560"/>
            <a:ext cx="4498848" cy="640080"/>
          </a:xfrm>
          <a:prstGeom prst="rect">
            <a:avLst/>
          </a:prstGeom>
        </p:spPr>
      </p:pic>
      <p:sp>
        <p:nvSpPr>
          <p:cNvPr id="12" name="Text 6"/>
          <p:cNvSpPr/>
          <p:nvPr/>
        </p:nvSpPr>
        <p:spPr>
          <a:xfrm>
            <a:off x="749808" y="4050792"/>
            <a:ext cx="10561320" cy="210312"/>
          </a:xfrm>
          <a:prstGeom prst="rect">
            <a:avLst/>
          </a:prstGeom>
          <a:noFill/>
          <a:ln/>
        </p:spPr>
        <p:txBody>
          <a:bodyPr wrap="square" lIns="0" tIns="0" rIns="0" bIns="0" rtlCol="0" anchor="ctr"/>
          <a:lstStyle/>
          <a:p>
            <a:pPr indent="0" marL="0">
              <a:buNone/>
            </a:pPr>
            <a:r>
              <a:rPr lang="en-US" sz="1200" dirty="0">
                <a:solidFill>
                  <a:srgbClr val="404040"/>
                </a:solidFill>
                <a:latin typeface="Arial" pitchFamily="34" charset="0"/>
                <a:ea typeface="Arial" pitchFamily="34" charset="-122"/>
                <a:cs typeface="Arial" pitchFamily="34" charset="-120"/>
              </a:rPr>
              <a:t>※  同一作業内で、同じスキルレベルの作業者に過度に偏らない配置を優先する。</a:t>
            </a:r>
            <a:endParaRPr lang="en-US" sz="120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86968" y="4334256"/>
            <a:ext cx="8961120" cy="77724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41</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制約：地域適性・企業適性</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適用技術：SoftScore</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地域 preference と customer preference の高い作業者を優先する</a:t>
            </a:r>
            <a:endParaRPr lang="en-US" sz="1200" dirty="0"/>
          </a:p>
        </p:txBody>
      </p:sp>
      <p:sp>
        <p:nvSpPr>
          <p:cNvPr id="8" name="Text 5"/>
          <p:cNvSpPr/>
          <p:nvPr/>
        </p:nvSpPr>
        <p:spPr>
          <a:xfrm>
            <a:off x="749808" y="1380744"/>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636776"/>
            <a:ext cx="2926080" cy="502920"/>
          </a:xfrm>
          <a:prstGeom prst="rect">
            <a:avLst/>
          </a:prstGeom>
        </p:spPr>
      </p:pic>
      <p:pic>
        <p:nvPicPr>
          <p:cNvPr id="10"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6968" y="2212848"/>
            <a:ext cx="2926080" cy="502920"/>
          </a:xfrm>
          <a:prstGeom prst="rect">
            <a:avLst/>
          </a:prstGeom>
        </p:spPr>
      </p:pic>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86968" y="2788920"/>
            <a:ext cx="2926080" cy="502920"/>
          </a:xfrm>
          <a:prstGeom prst="rect">
            <a:avLst/>
          </a:prstGeom>
        </p:spPr>
      </p:pic>
      <p:sp>
        <p:nvSpPr>
          <p:cNvPr id="12" name="Text 6"/>
          <p:cNvSpPr/>
          <p:nvPr/>
        </p:nvSpPr>
        <p:spPr>
          <a:xfrm>
            <a:off x="749808" y="3364992"/>
            <a:ext cx="10561320" cy="210312"/>
          </a:xfrm>
          <a:prstGeom prst="rect">
            <a:avLst/>
          </a:prstGeom>
          <a:noFill/>
          <a:ln/>
        </p:spPr>
        <p:txBody>
          <a:bodyPr wrap="square" lIns="0" tIns="0" rIns="0" bIns="0" rtlCol="0" anchor="ctr"/>
          <a:lstStyle/>
          <a:p>
            <a:pPr indent="0" marL="0">
              <a:buNone/>
            </a:pPr>
            <a:r>
              <a:rPr lang="en-US" sz="1200" dirty="0">
                <a:solidFill>
                  <a:srgbClr val="404040"/>
                </a:solidFill>
                <a:latin typeface="Arial" pitchFamily="34" charset="0"/>
                <a:ea typeface="Arial" pitchFamily="34" charset="-122"/>
                <a:cs typeface="Arial" pitchFamily="34" charset="-120"/>
              </a:rPr>
              <a:t>※実装はあるが、現状は未有効。</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3F3F3"/>
        </a:solidFill>
      </p:bgPr>
    </p:bg>
    <p:spTree>
      <p:nvGrpSpPr>
        <p:cNvPr id="1" name=""/>
        <p:cNvGrpSpPr/>
        <p:nvPr/>
      </p:nvGrpSpPr>
      <p:grpSpPr>
        <a:xfrm>
          <a:off x="0" y="0"/>
          <a:ext cx="0" cy="0"/>
          <a:chOff x="0" y="0"/>
          <a:chExt cx="0" cy="0"/>
        </a:xfrm>
      </p:grpSpPr>
      <p:pic>
        <p:nvPicPr>
          <p:cNvPr id="2" name="Image 0" descr="/mnt/data/Template (1)/slide-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759184" y="6510528"/>
            <a:ext cx="411480" cy="256032"/>
          </a:xfrm>
          <a:prstGeom prst="rect">
            <a:avLst/>
          </a:prstGeom>
          <a:solidFill>
            <a:srgbClr val="F3F3F3"/>
          </a:solidFill>
          <a:ln w="12700">
            <a:solidFill>
              <a:srgbClr val="F3F3F3">
                <a:alpha val="0"/>
              </a:srgbClr>
            </a:solidFill>
            <a:prstDash val="solid"/>
          </a:ln>
        </p:spPr>
      </p:sp>
      <p:sp>
        <p:nvSpPr>
          <p:cNvPr id="4" name="Text 1"/>
          <p:cNvSpPr/>
          <p:nvPr/>
        </p:nvSpPr>
        <p:spPr>
          <a:xfrm>
            <a:off x="11905488" y="6556248"/>
            <a:ext cx="164592" cy="137160"/>
          </a:xfrm>
          <a:prstGeom prst="rect">
            <a:avLst/>
          </a:prstGeom>
          <a:noFill/>
          <a:ln/>
        </p:spPr>
        <p:txBody>
          <a:bodyPr wrap="square" lIns="0" tIns="0" rIns="0" bIns="0" rtlCol="0" anchor="ctr"/>
          <a:lstStyle/>
          <a:p>
            <a:pPr algn="r" indent="0" marL="0">
              <a:buNone/>
            </a:pPr>
            <a:r>
              <a:rPr lang="en-US" sz="1200" dirty="0">
                <a:solidFill>
                  <a:srgbClr val="666666"/>
                </a:solidFill>
                <a:latin typeface="Arial" pitchFamily="34" charset="0"/>
                <a:ea typeface="Arial" pitchFamily="34" charset="-122"/>
                <a:cs typeface="Arial" pitchFamily="34" charset="-120"/>
              </a:rPr>
              <a:t>42</a:t>
            </a:r>
            <a:endParaRPr lang="en-US" sz="1200" dirty="0"/>
          </a:p>
        </p:txBody>
      </p:sp>
      <p:sp>
        <p:nvSpPr>
          <p:cNvPr id="5" name="Text 2"/>
          <p:cNvSpPr/>
          <p:nvPr/>
        </p:nvSpPr>
        <p:spPr>
          <a:xfrm>
            <a:off x="685800" y="256032"/>
            <a:ext cx="10241280" cy="411480"/>
          </a:xfrm>
          <a:prstGeom prst="rect">
            <a:avLst/>
          </a:prstGeom>
          <a:noFill/>
          <a:ln/>
        </p:spPr>
        <p:txBody>
          <a:bodyPr wrap="square" lIns="0" tIns="0" rIns="0" bIns="0" rtlCol="0" anchor="ctr"/>
          <a:lstStyle/>
          <a:p>
            <a:pPr indent="0" marL="0">
              <a:buNone/>
            </a:pPr>
            <a:r>
              <a:rPr lang="en-US" sz="2200" b="1" dirty="0">
                <a:solidFill>
                  <a:srgbClr val="0070C0"/>
                </a:solidFill>
                <a:latin typeface="Arial" pitchFamily="34" charset="0"/>
                <a:ea typeface="Arial" pitchFamily="34" charset="-122"/>
                <a:cs typeface="Arial" pitchFamily="34" charset="-120"/>
              </a:rPr>
              <a:t>制約：移動コストの最小化</a:t>
            </a:r>
            <a:endParaRPr lang="en-US" sz="2200" dirty="0"/>
          </a:p>
        </p:txBody>
      </p:sp>
      <p:sp>
        <p:nvSpPr>
          <p:cNvPr id="6" name="Text 3"/>
          <p:cNvSpPr/>
          <p:nvPr/>
        </p:nvSpPr>
        <p:spPr>
          <a:xfrm>
            <a:off x="749808" y="868680"/>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適用技術：SoftScore</a:t>
            </a:r>
            <a:endParaRPr lang="en-US" sz="1200" dirty="0"/>
          </a:p>
        </p:txBody>
      </p:sp>
      <p:sp>
        <p:nvSpPr>
          <p:cNvPr id="7" name="Text 4"/>
          <p:cNvSpPr/>
          <p:nvPr/>
        </p:nvSpPr>
        <p:spPr>
          <a:xfrm>
            <a:off x="749808" y="1124712"/>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同一地域に継続して滞在する配置を好む</a:t>
            </a:r>
            <a:endParaRPr lang="en-US" sz="1200" dirty="0"/>
          </a:p>
        </p:txBody>
      </p:sp>
      <p:sp>
        <p:nvSpPr>
          <p:cNvPr id="8" name="Text 5"/>
          <p:cNvSpPr/>
          <p:nvPr/>
        </p:nvSpPr>
        <p:spPr>
          <a:xfrm>
            <a:off x="749808" y="1380744"/>
            <a:ext cx="10561320" cy="210312"/>
          </a:xfrm>
          <a:prstGeom prst="rect">
            <a:avLst/>
          </a:prstGeom>
          <a:noFill/>
          <a:ln/>
        </p:spPr>
        <p:txBody>
          <a:bodyPr wrap="square" lIns="0" tIns="0" rIns="0" bIns="0" rtlCol="0" anchor="ctr"/>
          <a:lstStyle/>
          <a:p>
            <a:pPr indent="0" marL="0">
              <a:buNone/>
            </a:pPr>
            <a:r>
              <a:rPr lang="en-US" sz="1200" b="1" dirty="0">
                <a:solidFill>
                  <a:srgbClr val="0070C0"/>
                </a:solidFill>
                <a:latin typeface="Arial" pitchFamily="34" charset="0"/>
                <a:ea typeface="Arial" pitchFamily="34" charset="-122"/>
                <a:cs typeface="Arial" pitchFamily="34" charset="-120"/>
              </a:rPr>
              <a:t>• </a:t>
            </a:r>
            <a:pPr indent="0" marL="0">
              <a:buNone/>
            </a:pPr>
            <a:r>
              <a:rPr lang="en-US" sz="1200" dirty="0">
                <a:solidFill>
                  <a:srgbClr val="404040"/>
                </a:solidFill>
                <a:latin typeface="Arial" pitchFamily="34" charset="0"/>
                <a:ea typeface="Arial" pitchFamily="34" charset="-122"/>
                <a:cs typeface="Arial" pitchFamily="34" charset="-120"/>
              </a:rPr>
              <a:t>詳細：</a:t>
            </a:r>
            <a:endParaRPr lang="en-US" sz="120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6968" y="1636776"/>
            <a:ext cx="3511296" cy="640080"/>
          </a:xfrm>
          <a:prstGeom prst="rect">
            <a:avLst/>
          </a:prstGeom>
        </p:spPr>
      </p:pic>
      <p:sp>
        <p:nvSpPr>
          <p:cNvPr id="10" name="Text 6"/>
          <p:cNvSpPr/>
          <p:nvPr/>
        </p:nvSpPr>
        <p:spPr>
          <a:xfrm>
            <a:off x="749808" y="2350008"/>
            <a:ext cx="10561320" cy="210312"/>
          </a:xfrm>
          <a:prstGeom prst="rect">
            <a:avLst/>
          </a:prstGeom>
          <a:noFill/>
          <a:ln/>
        </p:spPr>
        <p:txBody>
          <a:bodyPr wrap="square" lIns="0" tIns="0" rIns="0" bIns="0" rtlCol="0" anchor="ctr"/>
          <a:lstStyle/>
          <a:p>
            <a:pPr indent="0" marL="0">
              <a:buNone/>
            </a:pPr>
            <a:r>
              <a:rPr lang="en-US" sz="1200" dirty="0">
                <a:solidFill>
                  <a:srgbClr val="404040"/>
                </a:solidFill>
                <a:latin typeface="Arial" pitchFamily="34" charset="0"/>
                <a:ea typeface="Arial" pitchFamily="34" charset="-122"/>
                <a:cs typeface="Arial" pitchFamily="34" charset="-120"/>
              </a:rPr>
              <a:t>※実装はあるが、現状は未有効。</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Scheduling Model Report</dc:title>
  <dc:subject>Scheduling model presentation</dc:subject>
  <dc:creator>OpenAI</dc:creator>
  <cp:lastModifiedBy>OpenAI</cp:lastModifiedBy>
  <cp:revision>1</cp:revision>
  <dcterms:created xsi:type="dcterms:W3CDTF">2026-03-25T19:10:02Z</dcterms:created>
  <dcterms:modified xsi:type="dcterms:W3CDTF">2026-03-25T19:10:02Z</dcterms:modified>
</cp:coreProperties>
</file>